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4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B2B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914400"/>
            <a:ext cx="182880" cy="182880"/>
          </a:xfrm>
          <a:prstGeom prst="ellipse">
            <a:avLst/>
          </a:prstGeom>
          <a:solidFill>
            <a:srgbClr val="508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155680" y="1554480"/>
            <a:ext cx="128016" cy="128016"/>
          </a:xfrm>
          <a:prstGeom prst="ellipse">
            <a:avLst/>
          </a:prstGeom>
          <a:solidFill>
            <a:srgbClr val="508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698480" y="2377440"/>
            <a:ext cx="164592" cy="164592"/>
          </a:xfrm>
          <a:prstGeom prst="ellipse">
            <a:avLst/>
          </a:prstGeom>
          <a:solidFill>
            <a:srgbClr val="508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0" y="731520"/>
            <a:ext cx="109728" cy="109728"/>
          </a:xfrm>
          <a:prstGeom prst="ellipse">
            <a:avLst/>
          </a:prstGeom>
          <a:solidFill>
            <a:srgbClr val="508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92640" y="1828800"/>
            <a:ext cx="109728" cy="109728"/>
          </a:xfrm>
          <a:prstGeom prst="ellipse">
            <a:avLst/>
          </a:prstGeom>
          <a:solidFill>
            <a:srgbClr val="508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0332720" y="1005840"/>
            <a:ext cx="868680" cy="594360"/>
          </a:xfrm>
          <a:prstGeom prst="bentConnector3">
            <a:avLst/>
          </a:prstGeom>
          <a:ln w="12700">
            <a:solidFill>
              <a:srgbClr val="508D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10771632" y="1627632"/>
            <a:ext cx="448056" cy="795528"/>
          </a:xfrm>
          <a:prstGeom prst="bentConnector3">
            <a:avLst/>
          </a:prstGeom>
          <a:ln w="12700">
            <a:solidFill>
              <a:srgbClr val="508D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9765792" y="1024128"/>
            <a:ext cx="566928" cy="850391"/>
          </a:xfrm>
          <a:prstGeom prst="bentConnector3">
            <a:avLst/>
          </a:prstGeom>
          <a:ln w="12700">
            <a:solidFill>
              <a:srgbClr val="508D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508D5E"/>
                </a:solidFill>
                <a:latin typeface="Trebuchet MS"/>
              </a:rPr>
              <a:t>PROPUESTA ECONÓMICA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1828800"/>
            <a:ext cx="103327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6600" b="1">
                <a:solidFill>
                  <a:srgbClr val="FFFFFF"/>
                </a:solidFill>
                <a:latin typeface="Trebuchet MS"/>
              </a:rPr>
              <a:t>EL TEJIDO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154680"/>
            <a:ext cx="9875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>
                <a:solidFill>
                  <a:srgbClr val="F6F4EF"/>
                </a:solidFill>
                <a:latin typeface="Calibri"/>
              </a:rPr>
              <a:t>Sistema conversacional para capturar, evaluar y compilar el conocimiento
institucional de GHT mediante WhatsApp, LLM y Markdown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4348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508D5E"/>
                </a:solidFill>
                <a:latin typeface="Calibri"/>
              </a:rPr>
              <a:t>Hito 1 · MVP de validación técnica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8064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F6F4EF"/>
                </a:solidFill>
                <a:latin typeface="Calibri"/>
              </a:rPr>
              <a:t>Preparada para GHT · Junio de 2026 · Validez 30 días</a:t>
            </a:r>
          </a:p>
        </p:txBody>
      </p:sp>
      <p:pic>
        <p:nvPicPr>
          <p:cNvPr id="17" name="Picture 16" descr="HeaderWeb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5715000"/>
            <a:ext cx="1143000" cy="52330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475488"/>
          </a:xfrm>
          <a:prstGeom prst="rect">
            <a:avLst/>
          </a:prstGeom>
          <a:solidFill>
            <a:srgbClr val="DB2B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114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20431D"/>
                </a:solidFill>
                <a:latin typeface="Trebuchet MS"/>
              </a:rPr>
              <a:t>CONTEXTO Y OBJETIVO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548640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5486400" cy="73152"/>
          </a:xfrm>
          <a:prstGeom prst="rect">
            <a:avLst/>
          </a:prstGeom>
          <a:solidFill>
            <a:srgbClr val="DB2B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>
                <a:solidFill>
                  <a:srgbClr val="DB2B09"/>
                </a:solidFill>
                <a:latin typeface="Trebuchet MS"/>
              </a:rPr>
              <a:t>El costo de no hacer nada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49834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450" b="1">
                <a:solidFill>
                  <a:srgbClr val="20431D"/>
                </a:solidFill>
                <a:latin typeface="Calibri"/>
              </a:rPr>
              <a:t>El conocimiento más valioso de GHT vive en la cabeza de sus líderes.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450" b="0">
                <a:solidFill>
                  <a:srgbClr val="4A4A46"/>
                </a:solidFill>
                <a:latin typeface="Calibri"/>
              </a:rPr>
              <a:t>Se pierde con la rotación, el retiro y la falta de un momento para escribirlo.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450" b="0">
                <a:solidFill>
                  <a:srgbClr val="4A4A46"/>
                </a:solidFill>
                <a:latin typeface="Calibri"/>
              </a:rPr>
              <a:t>Las wikis y bases de datos anteriores fueron abandonadas: cada equipo vuelve a descubrir lo que la red ya sabía.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325880"/>
            <a:ext cx="5422392" cy="4846320"/>
          </a:xfrm>
          <a:prstGeom prst="rect">
            <a:avLst/>
          </a:prstGeom>
          <a:solidFill>
            <a:srgbClr val="204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002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Trebuchet MS"/>
              </a:rPr>
              <a:t>El Tejido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03120"/>
            <a:ext cx="489204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450" b="1">
                <a:solidFill>
                  <a:srgbClr val="FFFFFF"/>
                </a:solidFill>
                <a:latin typeface="Calibri"/>
              </a:rPr>
              <a:t>Una memoria institucional viva: atribuida, calificada e interconectada.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450" b="0">
                <a:solidFill>
                  <a:srgbClr val="F6F4EF"/>
                </a:solidFill>
                <a:latin typeface="Calibri"/>
              </a:rPr>
              <a:t>El sistema conversa por WhatsApp, captura ideas y aprendizajes, los evalúa con un LLM usando rúbricas configurables y los compila en Markdown auditable y versionable.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450" b="1">
                <a:solidFill>
                  <a:srgbClr val="BFD8BF"/>
                </a:solidFill>
                <a:latin typeface="Calibri"/>
              </a:rPr>
              <a:t>Objetivo de esta fase: </a:t>
            </a:r>
            <a:r>
              <a:rPr sz="1450" b="0">
                <a:solidFill>
                  <a:srgbClr val="F6F4EF"/>
                </a:solidFill>
                <a:latin typeface="Calibri"/>
              </a:rPr>
              <a:t>validar el flujo completo con ~5 usuarios, como base para escalar a la convención (~120 contribuyentes).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850" b="0">
                <a:solidFill>
                  <a:srgbClr val="8A8A84"/>
                </a:solidFill>
                <a:latin typeface="Calibri"/>
              </a:rPr>
              <a:t>Propiedad GTA — Global Technology Ally · Información confidencial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8A8A84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475488"/>
          </a:xfrm>
          <a:prstGeom prst="rect">
            <a:avLst/>
          </a:prstGeom>
          <a:solidFill>
            <a:srgbClr val="DB2B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114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20431D"/>
                </a:solidFill>
                <a:latin typeface="Trebuchet MS"/>
              </a:rPr>
              <a:t>QUÉ ENTREGA EL MVP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11183112" cy="896112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591056"/>
            <a:ext cx="457200" cy="457200"/>
          </a:xfrm>
          <a:prstGeom prst="ellipse">
            <a:avLst/>
          </a:prstGeom>
          <a:solidFill>
            <a:srgbClr val="204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481328"/>
            <a:ext cx="3291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20431D"/>
                </a:solidFill>
                <a:latin typeface="Trebuchet MS"/>
              </a:rPr>
              <a:t>Captura por WhatsApp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481328"/>
            <a:ext cx="66294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4A4A46"/>
                </a:solidFill>
                <a:latin typeface="Calibri"/>
              </a:rPr>
              <a:t>Mensajes iniciales configurables a participantes matriculados, identificados por su número normalizado.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359152"/>
            <a:ext cx="11183112" cy="896112"/>
          </a:xfrm>
          <a:prstGeom prst="rect">
            <a:avLst/>
          </a:prstGeom>
          <a:solidFill>
            <a:srgbClr val="E4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2578608"/>
            <a:ext cx="457200" cy="457200"/>
          </a:xfrm>
          <a:prstGeom prst="ellipse">
            <a:avLst/>
          </a:prstGeom>
          <a:solidFill>
            <a:srgbClr val="204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468880"/>
            <a:ext cx="3291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20431D"/>
                </a:solidFill>
                <a:latin typeface="Trebuchet MS"/>
              </a:rPr>
              <a:t>Evaluación con 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468880"/>
            <a:ext cx="66294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4A4A46"/>
                </a:solidFill>
                <a:latin typeface="Calibri"/>
              </a:rPr>
              <a:t>Cada respuesta se califica contra una rúbrica Markdown con criterios, pesos y escala editables sin tocar código.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346704"/>
            <a:ext cx="11183112" cy="896112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1520" y="3566160"/>
            <a:ext cx="457200" cy="457200"/>
          </a:xfrm>
          <a:prstGeom prst="ellipse">
            <a:avLst/>
          </a:prstGeom>
          <a:solidFill>
            <a:srgbClr val="204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456432"/>
            <a:ext cx="3291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20431D"/>
                </a:solidFill>
                <a:latin typeface="Trebuchet MS"/>
              </a:rPr>
              <a:t>Retroalimentación conversacional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456432"/>
            <a:ext cx="66294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4A4A46"/>
                </a:solidFill>
                <a:latin typeface="Calibri"/>
              </a:rPr>
              <a:t>Respuesta breve, humana y útil para el participante, con máximo una repregunta.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334256"/>
            <a:ext cx="11183112" cy="896112"/>
          </a:xfrm>
          <a:prstGeom prst="rect">
            <a:avLst/>
          </a:prstGeom>
          <a:solidFill>
            <a:srgbClr val="E4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553712"/>
            <a:ext cx="457200" cy="457200"/>
          </a:xfrm>
          <a:prstGeom prst="ellipse">
            <a:avLst/>
          </a:prstGeom>
          <a:solidFill>
            <a:srgbClr val="204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Trebuchet M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443984"/>
            <a:ext cx="3291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20431D"/>
                </a:solidFill>
                <a:latin typeface="Trebuchet MS"/>
              </a:rPr>
              <a:t>Memoria institucional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4443984"/>
            <a:ext cx="66294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4A4A46"/>
                </a:solidFill>
                <a:latin typeface="Calibri"/>
              </a:rPr>
              <a:t>Cada aporte se compila en Markdown con autoría, calificación y trazabilidad completa, listo para indexación futura.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321808"/>
            <a:ext cx="11183112" cy="896112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1520" y="5541264"/>
            <a:ext cx="457200" cy="457200"/>
          </a:xfrm>
          <a:prstGeom prst="ellipse">
            <a:avLst/>
          </a:prstGeom>
          <a:solidFill>
            <a:srgbClr val="204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Trebuchet MS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5431536"/>
            <a:ext cx="3291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20431D"/>
                </a:solidFill>
                <a:latin typeface="Trebuchet MS"/>
              </a:rPr>
              <a:t>Portal administrativo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5431536"/>
            <a:ext cx="66294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4A4A46"/>
                </a:solidFill>
                <a:latin typeface="Calibri"/>
              </a:rPr>
              <a:t>Gestión de campañas, participantes, rúbricas, prompts y resultados, con marca GHT y acceso por código de WhatsApp.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850" b="0">
                <a:solidFill>
                  <a:srgbClr val="8A8A84"/>
                </a:solidFill>
                <a:latin typeface="Calibri"/>
              </a:rPr>
              <a:t>Propiedad GTA — Global Technology Ally · Información confidencial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8A8A84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475488"/>
          </a:xfrm>
          <a:prstGeom prst="rect">
            <a:avLst/>
          </a:prstGeom>
          <a:solidFill>
            <a:srgbClr val="DB2B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114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20431D"/>
                </a:solidFill>
                <a:latin typeface="Trebuchet MS"/>
              </a:rPr>
              <a:t>ALCANCE DEL MVP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6766560" cy="4892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6766560" cy="457200"/>
          </a:xfrm>
          <a:prstGeom prst="rect">
            <a:avLst/>
          </a:prstGeom>
          <a:solidFill>
            <a:srgbClr val="204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2"/>
            <a:ext cx="6217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INCLUIDO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65960"/>
            <a:ext cx="63093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250" b="1">
                <a:solidFill>
                  <a:srgbClr val="508D5E"/>
                </a:solidFill>
                <a:latin typeface="Calibri"/>
              </a:rPr>
              <a:t>›  </a:t>
            </a:r>
            <a:r>
              <a:rPr sz="1250" b="0">
                <a:solidFill>
                  <a:srgbClr val="4A4A46"/>
                </a:solidFill>
                <a:latin typeface="Calibri"/>
              </a:rPr>
              <a:t>Integración WhatsApp Cloud API: envío, recepción, reenvíos y plantillas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250" b="1">
                <a:solidFill>
                  <a:srgbClr val="508D5E"/>
                </a:solidFill>
                <a:latin typeface="Calibri"/>
              </a:rPr>
              <a:t>›  </a:t>
            </a:r>
            <a:r>
              <a:rPr sz="1250" b="0">
                <a:solidFill>
                  <a:srgbClr val="4A4A46"/>
                </a:solidFill>
                <a:latin typeface="Calibri"/>
              </a:rPr>
              <a:t>Login administrativo con código de un solo uso por WhatsApp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250" b="1">
                <a:solidFill>
                  <a:srgbClr val="508D5E"/>
                </a:solidFill>
                <a:latin typeface="Calibri"/>
              </a:rPr>
              <a:t>›  </a:t>
            </a:r>
            <a:r>
              <a:rPr sz="1250" b="0">
                <a:solidFill>
                  <a:srgbClr val="4A4A46"/>
                </a:solidFill>
                <a:latin typeface="Calibri"/>
              </a:rPr>
              <a:t>Usuarios, tags (área y empresa), campañas y participantes por campaña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250" b="1">
                <a:solidFill>
                  <a:srgbClr val="508D5E"/>
                </a:solidFill>
                <a:latin typeface="Calibri"/>
              </a:rPr>
              <a:t>›  </a:t>
            </a:r>
            <a:r>
              <a:rPr sz="1250" b="0">
                <a:solidFill>
                  <a:srgbClr val="4A4A46"/>
                </a:solidFill>
                <a:latin typeface="Calibri"/>
              </a:rPr>
              <a:t>Mensajes iniciales y preguntas configurables con variables dinámicas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250" b="1">
                <a:solidFill>
                  <a:srgbClr val="508D5E"/>
                </a:solidFill>
                <a:latin typeface="Calibri"/>
              </a:rPr>
              <a:t>›  </a:t>
            </a:r>
            <a:r>
              <a:rPr sz="1250" b="0">
                <a:solidFill>
                  <a:srgbClr val="4A4A46"/>
                </a:solidFill>
                <a:latin typeface="Calibri"/>
              </a:rPr>
              <a:t>Rúbricas y prompts versionados, editables desde el portal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250" b="1">
                <a:solidFill>
                  <a:srgbClr val="508D5E"/>
                </a:solidFill>
                <a:latin typeface="Calibri"/>
              </a:rPr>
              <a:t>›  </a:t>
            </a:r>
            <a:r>
              <a:rPr sz="1250" b="0">
                <a:solidFill>
                  <a:srgbClr val="4A4A46"/>
                </a:solidFill>
                <a:latin typeface="Calibri"/>
              </a:rPr>
              <a:t>LLM configurable con credenciales en bóveda segura (Key Vault)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250" b="1">
                <a:solidFill>
                  <a:srgbClr val="508D5E"/>
                </a:solidFill>
                <a:latin typeface="Calibri"/>
              </a:rPr>
              <a:t>›  </a:t>
            </a:r>
            <a:r>
              <a:rPr sz="1250" b="0">
                <a:solidFill>
                  <a:srgbClr val="4A4A46"/>
                </a:solidFill>
                <a:latin typeface="Calibri"/>
              </a:rPr>
              <a:t>Markdown regenerable con autoría y trazabilidad completa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250" b="1">
                <a:solidFill>
                  <a:srgbClr val="508D5E"/>
                </a:solidFill>
                <a:latin typeface="Calibri"/>
              </a:rPr>
              <a:t>›  </a:t>
            </a:r>
            <a:r>
              <a:rPr sz="1250" b="0">
                <a:solidFill>
                  <a:srgbClr val="4A4A46"/>
                </a:solidFill>
                <a:latin typeface="Calibri"/>
              </a:rPr>
              <a:t>Seguridad: límites de consumo, anti prompt-injection, auditoría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250" b="1">
                <a:solidFill>
                  <a:srgbClr val="508D5E"/>
                </a:solidFill>
                <a:latin typeface="Calibri"/>
              </a:rPr>
              <a:t>›  </a:t>
            </a:r>
            <a:r>
              <a:rPr sz="1250" b="0">
                <a:solidFill>
                  <a:srgbClr val="4A4A46"/>
                </a:solidFill>
                <a:latin typeface="Calibri"/>
              </a:rPr>
              <a:t>Cosmos DB serverless + CI/CD con GitHub Actions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250" b="1">
                <a:solidFill>
                  <a:srgbClr val="508D5E"/>
                </a:solidFill>
                <a:latin typeface="Calibri"/>
              </a:rPr>
              <a:t>›  </a:t>
            </a:r>
            <a:r>
              <a:rPr sz="1250" b="0">
                <a:solidFill>
                  <a:srgbClr val="4A4A46"/>
                </a:solidFill>
                <a:latin typeface="Calibri"/>
              </a:rPr>
              <a:t>Prueba de extremo a extremo con ~5 usuarios reales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7543800" y="1325880"/>
            <a:ext cx="4142232" cy="4892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43800" y="1325880"/>
            <a:ext cx="4142232" cy="457200"/>
          </a:xfrm>
          <a:prstGeom prst="rect">
            <a:avLst/>
          </a:prstGeom>
          <a:solidFill>
            <a:srgbClr val="4A4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1399032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Trebuchet MS"/>
              </a:rPr>
              <a:t>FASES FUTURAS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1965960"/>
            <a:ext cx="36576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250" b="1">
                <a:solidFill>
                  <a:srgbClr val="8A8A84"/>
                </a:solidFill>
                <a:latin typeface="Calibri"/>
              </a:rPr>
              <a:t>›  </a:t>
            </a:r>
            <a:r>
              <a:rPr sz="1250" b="0">
                <a:solidFill>
                  <a:srgbClr val="4A4A46"/>
                </a:solidFill>
                <a:latin typeface="Calibri"/>
              </a:rPr>
              <a:t>Dashboard avanzado y analítica histórica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250" b="1">
                <a:solidFill>
                  <a:srgbClr val="8A8A84"/>
                </a:solidFill>
                <a:latin typeface="Calibri"/>
              </a:rPr>
              <a:t>›  </a:t>
            </a:r>
            <a:r>
              <a:rPr sz="1250" b="0">
                <a:solidFill>
                  <a:srgbClr val="4A4A46"/>
                </a:solidFill>
                <a:latin typeface="Calibri"/>
              </a:rPr>
              <a:t>Gamificación, premios y rankings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250" b="1">
                <a:solidFill>
                  <a:srgbClr val="8A8A84"/>
                </a:solidFill>
                <a:latin typeface="Calibri"/>
              </a:rPr>
              <a:t>›  </a:t>
            </a:r>
            <a:r>
              <a:rPr sz="1250" b="0">
                <a:solidFill>
                  <a:srgbClr val="4A4A46"/>
                </a:solidFill>
                <a:latin typeface="Calibri"/>
              </a:rPr>
              <a:t>Exportación a Excel, PDF o PowerPoint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250" b="1">
                <a:solidFill>
                  <a:srgbClr val="8A8A84"/>
                </a:solidFill>
                <a:latin typeface="Calibri"/>
              </a:rPr>
              <a:t>›  </a:t>
            </a:r>
            <a:r>
              <a:rPr sz="1250" b="0">
                <a:solidFill>
                  <a:srgbClr val="4A4A46"/>
                </a:solidFill>
                <a:latin typeface="Calibri"/>
              </a:rPr>
              <a:t>Base vectorial y chat semántico sobre el corpus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250" b="1">
                <a:solidFill>
                  <a:srgbClr val="8A8A84"/>
                </a:solidFill>
                <a:latin typeface="Calibri"/>
              </a:rPr>
              <a:t>›  </a:t>
            </a:r>
            <a:r>
              <a:rPr sz="1250" b="0">
                <a:solidFill>
                  <a:srgbClr val="4A4A46"/>
                </a:solidFill>
                <a:latin typeface="Calibri"/>
              </a:rPr>
              <a:t>Integración con Entra ID y sistemas corporativos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250" b="1">
                <a:solidFill>
                  <a:srgbClr val="8A8A84"/>
                </a:solidFill>
                <a:latin typeface="Calibri"/>
              </a:rPr>
              <a:t>›  </a:t>
            </a:r>
            <a:r>
              <a:rPr sz="1250" b="0">
                <a:solidFill>
                  <a:srgbClr val="4A4A46"/>
                </a:solidFill>
                <a:latin typeface="Calibri"/>
              </a:rPr>
              <a:t>Envíos recurrentes programados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250" b="1">
                <a:solidFill>
                  <a:srgbClr val="8A8A84"/>
                </a:solidFill>
                <a:latin typeface="Calibri"/>
              </a:rPr>
              <a:t>›  </a:t>
            </a:r>
            <a:r>
              <a:rPr sz="1250" b="0">
                <a:solidFill>
                  <a:srgbClr val="4A4A46"/>
                </a:solidFill>
                <a:latin typeface="Calibri"/>
              </a:rPr>
              <a:t>Curaduría colaborativa avanzada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5623560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8A8A84"/>
                </a:solidFill>
                <a:latin typeface="Calibri"/>
              </a:rPr>
              <a:t>Pertenecen a los Hitos 2 y 3 del roadmap.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850" b="0">
                <a:solidFill>
                  <a:srgbClr val="8A8A84"/>
                </a:solidFill>
                <a:latin typeface="Calibri"/>
              </a:rPr>
              <a:t>Propiedad GTA — Global Technology Ally · Información confidencial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8A8A84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475488"/>
          </a:xfrm>
          <a:prstGeom prst="rect">
            <a:avLst/>
          </a:prstGeom>
          <a:solidFill>
            <a:srgbClr val="DB2B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114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20431D"/>
                </a:solidFill>
                <a:latin typeface="Trebuchet MS"/>
              </a:rPr>
              <a:t>MODELO DE TRABAJO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3154680" cy="713232"/>
          </a:xfrm>
          <a:prstGeom prst="rect">
            <a:avLst/>
          </a:prstGeom>
          <a:solidFill>
            <a:srgbClr val="6FA8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27889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Trebuchet MS"/>
              </a:rPr>
              <a:t>Reunión de entendimiento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0" y="1371600"/>
            <a:ext cx="8028431" cy="713232"/>
          </a:xfrm>
          <a:prstGeom prst="rect">
            <a:avLst/>
          </a:prstGeom>
          <a:solidFill>
            <a:srgbClr val="E4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31920" y="1371600"/>
            <a:ext cx="7498079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4A4A46"/>
                </a:solidFill>
                <a:latin typeface="Calibri"/>
              </a:rPr>
              <a:t>Los equipos GHT y GTA alinean objetivos y criterios de éxito del ciclo.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176272"/>
            <a:ext cx="3154680" cy="713232"/>
          </a:xfrm>
          <a:prstGeom prst="rect">
            <a:avLst/>
          </a:prstGeom>
          <a:solidFill>
            <a:srgbClr val="609B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176272"/>
            <a:ext cx="27889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Trebuchet MS"/>
              </a:rPr>
              <a:t>Documento de requerimiento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0" y="2176272"/>
            <a:ext cx="8028431" cy="713232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31920" y="2176272"/>
            <a:ext cx="7498079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4A4A46"/>
                </a:solidFill>
                <a:latin typeface="Calibri"/>
              </a:rPr>
              <a:t>GTA formaliza objetivo, supuestos, criterios de aceptación y esfuerzo. Aprobado, es la referencia del alcance.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980944"/>
            <a:ext cx="3154680" cy="713232"/>
          </a:xfrm>
          <a:prstGeom prst="rect">
            <a:avLst/>
          </a:prstGeom>
          <a:solidFill>
            <a:srgbClr val="508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980944"/>
            <a:ext cx="27889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Trebuchet MS"/>
              </a:rPr>
              <a:t>Desarrollo iterativo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0" y="2980944"/>
            <a:ext cx="8028431" cy="713232"/>
          </a:xfrm>
          <a:prstGeom prst="rect">
            <a:avLst/>
          </a:prstGeom>
          <a:solidFill>
            <a:srgbClr val="E4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31920" y="2980944"/>
            <a:ext cx="7498079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4A4A46"/>
                </a:solidFill>
                <a:latin typeface="Calibri"/>
              </a:rPr>
              <a:t>GTA implementa en ciclos “hacer – probar – ajustar”.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785615"/>
            <a:ext cx="3154680" cy="713232"/>
          </a:xfrm>
          <a:prstGeom prst="rect">
            <a:avLst/>
          </a:prstGeom>
          <a:solidFill>
            <a:srgbClr val="417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785615"/>
            <a:ext cx="27889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Trebuchet MS"/>
              </a:rPr>
              <a:t>Pruebas y validación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0" y="3785615"/>
            <a:ext cx="8028431" cy="713232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0" y="3785615"/>
            <a:ext cx="7498079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4A4A46"/>
                </a:solidFill>
                <a:latin typeface="Calibri"/>
              </a:rPr>
              <a:t>GHT valida contra los criterios de aceptación definidos.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590288"/>
            <a:ext cx="3154680" cy="713232"/>
          </a:xfrm>
          <a:prstGeom prst="rect">
            <a:avLst/>
          </a:prstGeom>
          <a:solidFill>
            <a:srgbClr val="31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590288"/>
            <a:ext cx="27889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Trebuchet MS"/>
              </a:rPr>
              <a:t>Despliegue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0" y="4590288"/>
            <a:ext cx="8028431" cy="713232"/>
          </a:xfrm>
          <a:prstGeom prst="rect">
            <a:avLst/>
          </a:prstGeom>
          <a:solidFill>
            <a:srgbClr val="E4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31920" y="4590288"/>
            <a:ext cx="7498079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4A4A46"/>
                </a:solidFill>
                <a:latin typeface="Calibri"/>
              </a:rPr>
              <a:t>Las funcionalidades validadas pasan al ambiente del MVP.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394959"/>
            <a:ext cx="3154680" cy="713232"/>
          </a:xfrm>
          <a:prstGeom prst="rect">
            <a:avLst/>
          </a:prstGeom>
          <a:solidFill>
            <a:srgbClr val="204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5394959"/>
            <a:ext cx="27889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Trebuchet MS"/>
              </a:rPr>
              <a:t>Informe de avances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0" y="5394959"/>
            <a:ext cx="8028431" cy="713232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31920" y="5394959"/>
            <a:ext cx="7498079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4A4A46"/>
                </a:solidFill>
                <a:latin typeface="Calibri"/>
              </a:rPr>
              <a:t>GTA presenta avance, decisiones y riesgos cada semana.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850" b="0">
                <a:solidFill>
                  <a:srgbClr val="8A8A84"/>
                </a:solidFill>
                <a:latin typeface="Calibri"/>
              </a:rPr>
              <a:t>Propiedad GTA — Global Technology Ally · Información confidencial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8A8A84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475488"/>
          </a:xfrm>
          <a:prstGeom prst="rect">
            <a:avLst/>
          </a:prstGeom>
          <a:solidFill>
            <a:srgbClr val="DB2B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114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20431D"/>
                </a:solidFill>
                <a:latin typeface="Trebuchet MS"/>
              </a:rPr>
              <a:t>CRONOGRAMA — 8 SEMANAS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39496" y="1463040"/>
            <a:ext cx="2126894" cy="566928"/>
          </a:xfrm>
          <a:prstGeom prst="rect">
            <a:avLst/>
          </a:prstGeom>
          <a:solidFill>
            <a:srgbClr val="204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" y="1463040"/>
            <a:ext cx="212689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Trebuchet MS"/>
              </a:rPr>
              <a:t>S1–S2</a:t>
            </a:r>
          </a:p>
        </p:txBody>
      </p:sp>
      <p:sp>
        <p:nvSpPr>
          <p:cNvPr id="7" name="Rectangle 6"/>
          <p:cNvSpPr/>
          <p:nvPr/>
        </p:nvSpPr>
        <p:spPr>
          <a:xfrm>
            <a:off x="539496" y="2121408"/>
            <a:ext cx="2126894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31720"/>
            <a:ext cx="185257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>
                <a:solidFill>
                  <a:srgbClr val="20431D"/>
                </a:solidFill>
                <a:latin typeface="Trebuchet MS"/>
              </a:rPr>
              <a:t>Fundaciones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34640"/>
            <a:ext cx="1852574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4A4A46"/>
                </a:solidFill>
                <a:latin typeface="Calibri"/>
              </a:rPr>
              <a:t>Arquitectura, Cosmos DB, integración WhatsApp y autenticación por código.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76118" y="1463040"/>
            <a:ext cx="2126894" cy="566928"/>
          </a:xfrm>
          <a:prstGeom prst="rect">
            <a:avLst/>
          </a:prstGeom>
          <a:solidFill>
            <a:srgbClr val="204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76118" y="1463040"/>
            <a:ext cx="212689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Trebuchet MS"/>
              </a:rPr>
              <a:t>S3–S4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76118" y="2121408"/>
            <a:ext cx="2126894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2422" y="2331720"/>
            <a:ext cx="185257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>
                <a:solidFill>
                  <a:srgbClr val="20431D"/>
                </a:solidFill>
                <a:latin typeface="Trebuchet MS"/>
              </a:rPr>
              <a:t>Configuración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2422" y="2834640"/>
            <a:ext cx="1852574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4A4A46"/>
                </a:solidFill>
                <a:latin typeface="Calibri"/>
              </a:rPr>
              <a:t>Campañas, participantes, tags, mensajes iniciales y preguntas configurables.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12740" y="1463040"/>
            <a:ext cx="2126894" cy="566928"/>
          </a:xfrm>
          <a:prstGeom prst="rect">
            <a:avLst/>
          </a:prstGeom>
          <a:solidFill>
            <a:srgbClr val="204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12740" y="1463040"/>
            <a:ext cx="212689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Trebuchet MS"/>
              </a:rPr>
              <a:t>S5–S6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12740" y="2121408"/>
            <a:ext cx="2126894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59044" y="2331720"/>
            <a:ext cx="185257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>
                <a:solidFill>
                  <a:srgbClr val="20431D"/>
                </a:solidFill>
                <a:latin typeface="Trebuchet MS"/>
              </a:rPr>
              <a:t>Inteligencia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59044" y="2834640"/>
            <a:ext cx="1852574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4A4A46"/>
                </a:solidFill>
                <a:latin typeface="Calibri"/>
              </a:rPr>
              <a:t>Evaluación LLM, rúbricas, prompts, retroalimentación y repregunta.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49363" y="1463040"/>
            <a:ext cx="2126894" cy="566928"/>
          </a:xfrm>
          <a:prstGeom prst="rect">
            <a:avLst/>
          </a:prstGeom>
          <a:solidFill>
            <a:srgbClr val="204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49363" y="1463040"/>
            <a:ext cx="212689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Trebuchet MS"/>
              </a:rPr>
              <a:t>S7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49363" y="2121408"/>
            <a:ext cx="2126894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95667" y="2331720"/>
            <a:ext cx="185257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>
                <a:solidFill>
                  <a:srgbClr val="20431D"/>
                </a:solidFill>
                <a:latin typeface="Trebuchet MS"/>
              </a:rPr>
              <a:t>Conocimiento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5667" y="2834640"/>
            <a:ext cx="1852574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4A4A46"/>
                </a:solidFill>
                <a:latin typeface="Calibri"/>
              </a:rPr>
              <a:t>Generación Markdown, consultas administrativas y seguridad.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85985" y="1463040"/>
            <a:ext cx="2126894" cy="566928"/>
          </a:xfrm>
          <a:prstGeom prst="rect">
            <a:avLst/>
          </a:prstGeom>
          <a:solidFill>
            <a:srgbClr val="DB2B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85985" y="1463040"/>
            <a:ext cx="212689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Trebuchet MS"/>
              </a:rPr>
              <a:t>S8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85985" y="2121408"/>
            <a:ext cx="2126894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32289" y="2331720"/>
            <a:ext cx="185257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>
                <a:solidFill>
                  <a:srgbClr val="20431D"/>
                </a:solidFill>
                <a:latin typeface="Trebuchet MS"/>
              </a:rPr>
              <a:t>Entrega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32289" y="2834640"/>
            <a:ext cx="1852574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4A4A46"/>
                </a:solidFill>
                <a:latin typeface="Calibri"/>
              </a:rPr>
              <a:t>Prueba de extremo a extremo con usuarios reales, ajustes y aceptación.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5486400"/>
            <a:ext cx="11183112" cy="685800"/>
          </a:xfrm>
          <a:prstGeom prst="rect">
            <a:avLst/>
          </a:prstGeom>
          <a:solidFill>
            <a:srgbClr val="E4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486400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20431D"/>
                </a:solidFill>
                <a:latin typeface="Calibri"/>
              </a:rPr>
              <a:t>Hito intermedio: </a:t>
            </a:r>
            <a:r>
              <a:rPr sz="1300" b="0">
                <a:solidFill>
                  <a:srgbClr val="4A4A46"/>
                </a:solidFill>
                <a:latin typeface="Calibri"/>
              </a:rPr>
              <a:t>demo funcional del flujo conversacional completo al cierre de la semana 5.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850" b="0">
                <a:solidFill>
                  <a:srgbClr val="8A8A84"/>
                </a:solidFill>
                <a:latin typeface="Calibri"/>
              </a:rPr>
              <a:t>Propiedad GTA — Global Technology Ally · Información confidencial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4712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8A8A84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475488"/>
          </a:xfrm>
          <a:prstGeom prst="rect">
            <a:avLst/>
          </a:prstGeom>
          <a:solidFill>
            <a:srgbClr val="DB2B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114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20431D"/>
                </a:solidFill>
                <a:latin typeface="Trebuchet MS"/>
              </a:rPr>
              <a:t>INVERSIÓN Y CONDICIONES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4206240" cy="2834640"/>
          </a:xfrm>
          <a:prstGeom prst="rect">
            <a:avLst/>
          </a:prstGeom>
          <a:solidFill>
            <a:srgbClr val="204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E4ECE4"/>
                </a:solidFill>
                <a:latin typeface="Trebuchet MS"/>
              </a:rPr>
              <a:t>PRECIO FIJO DEL MVP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11680"/>
            <a:ext cx="374903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>
                <a:solidFill>
                  <a:srgbClr val="FFFFFF"/>
                </a:solidFill>
                <a:latin typeface="Trebuchet MS"/>
              </a:rPr>
              <a:t>USD 32.500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3657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F6F4EF"/>
                </a:solidFill>
                <a:latin typeface="Calibri"/>
              </a:rPr>
              <a:t>Alcance cerrado del Hito 1.
No incluye impuestos aplicables.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83480" y="1371600"/>
            <a:ext cx="6400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20431D"/>
                </a:solidFill>
                <a:latin typeface="Trebuchet MS"/>
              </a:rPr>
              <a:t>Forma de pago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1783080"/>
            <a:ext cx="6702552" cy="566928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0" y="1783080"/>
            <a:ext cx="3931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4A4A46"/>
                </a:solidFill>
                <a:latin typeface="Calibri"/>
              </a:rPr>
              <a:t>Firma y kickoff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7830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20431D"/>
                </a:solidFill>
                <a:latin typeface="Calibri"/>
              </a:rPr>
              <a:t>30 %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178308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20431D"/>
                </a:solidFill>
                <a:latin typeface="Calibri"/>
              </a:rPr>
              <a:t>USD 9.750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83480" y="2423160"/>
            <a:ext cx="6702552" cy="566928"/>
          </a:xfrm>
          <a:prstGeom prst="rect">
            <a:avLst/>
          </a:prstGeom>
          <a:solidFill>
            <a:srgbClr val="E4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0" y="2423160"/>
            <a:ext cx="3931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4A4A46"/>
                </a:solidFill>
                <a:latin typeface="Calibri"/>
              </a:rPr>
              <a:t>Demo funcional (semana 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42316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20431D"/>
                </a:solidFill>
                <a:latin typeface="Calibri"/>
              </a:rPr>
              <a:t>40 %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242316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20431D"/>
                </a:solidFill>
                <a:latin typeface="Calibri"/>
              </a:rPr>
              <a:t>USD 13.000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83480" y="3063239"/>
            <a:ext cx="6702552" cy="566928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0" y="3063239"/>
            <a:ext cx="3931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4A4A46"/>
                </a:solidFill>
                <a:latin typeface="Calibri"/>
              </a:rPr>
              <a:t>Aceptación del MVP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3063239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20431D"/>
                </a:solidFill>
                <a:latin typeface="Calibri"/>
              </a:rPr>
              <a:t>30 %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3063239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20431D"/>
                </a:solidFill>
                <a:latin typeface="Calibri"/>
              </a:rPr>
              <a:t>USD 9.750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434840"/>
            <a:ext cx="11183112" cy="1691640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4434840"/>
            <a:ext cx="82296" cy="1691640"/>
          </a:xfrm>
          <a:prstGeom prst="rect">
            <a:avLst/>
          </a:prstGeom>
          <a:solidFill>
            <a:srgbClr val="DB2B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57200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20431D"/>
                </a:solidFill>
                <a:latin typeface="Trebuchet MS"/>
              </a:rPr>
              <a:t>Infraestructura y consumo (Azure · WhatsApp API · LLM)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983480"/>
            <a:ext cx="10698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DB2B09"/>
                </a:solidFill>
                <a:latin typeface="Calibri"/>
              </a:rPr>
              <a:t>›  </a:t>
            </a:r>
            <a:r>
              <a:rPr sz="1250" b="0">
                <a:solidFill>
                  <a:srgbClr val="4A4A46"/>
                </a:solidFill>
                <a:latin typeface="Calibri"/>
              </a:rPr>
              <a:t>Durante el MVP la solución opera en infraestructura de GTA. Los consumos se facturan a GHT con los soportes correspondientes, sin margen (estimado: USD 150–300/mes a escala de piloto).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DB2B09"/>
                </a:solidFill>
                <a:latin typeface="Calibri"/>
              </a:rPr>
              <a:t>›  </a:t>
            </a:r>
            <a:r>
              <a:rPr sz="1250" b="0">
                <a:solidFill>
                  <a:srgbClr val="4A4A46"/>
                </a:solidFill>
                <a:latin typeface="Calibri"/>
              </a:rPr>
              <a:t>Para producción, la solución se despliega en infraestructura de GHT, que asume su operación y costo directo.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217920"/>
            <a:ext cx="11155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8A8A84"/>
                </a:solidFill>
                <a:latin typeface="Calibri"/>
              </a:rPr>
              <a:t>Los cambios de alcance se estiman y aprueban como requerimientos independientes antes de ejecutarse.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850" b="0">
                <a:solidFill>
                  <a:srgbClr val="8A8A84"/>
                </a:solidFill>
                <a:latin typeface="Calibri"/>
              </a:rPr>
              <a:t>Propiedad GTA — Global Technology Ally · Información confidencial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8A8A84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475488"/>
          </a:xfrm>
          <a:prstGeom prst="rect">
            <a:avLst/>
          </a:prstGeom>
          <a:solidFill>
            <a:srgbClr val="DB2B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114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20431D"/>
                </a:solidFill>
                <a:latin typeface="Trebuchet MS"/>
              </a:rPr>
              <a:t>DESPUÉS DEL MVP — EVOLUCIÓN CONTINUA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5486400" cy="4846320"/>
          </a:xfrm>
          <a:prstGeom prst="rect">
            <a:avLst/>
          </a:prstGeom>
          <a:solidFill>
            <a:srgbClr val="204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Trebuchet MS"/>
              </a:rPr>
              <a:t>Capacidad dedicada mensual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Trebuchet MS"/>
              </a:rPr>
              <a:t>USD 19.500 / 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E4ECE4"/>
                </a:solidFill>
                <a:latin typeface="Calibri"/>
              </a:rPr>
              <a:t>Equipo dedicado · 160 horas/mes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48920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250" b="1">
                <a:solidFill>
                  <a:srgbClr val="BFD8BF"/>
                </a:solidFill>
                <a:latin typeface="Calibri"/>
              </a:rPr>
              <a:t>›  </a:t>
            </a:r>
            <a:r>
              <a:rPr sz="1250" b="0">
                <a:solidFill>
                  <a:srgbClr val="F6F4EF"/>
                </a:solidFill>
                <a:latin typeface="Calibri"/>
              </a:rPr>
              <a:t>Se factura solo el esfuerzo aprobado, trabajado y entregado; si es menor, la facturación es proporcional (ej.: 2 semanas = USD 9.750).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250" b="1">
                <a:solidFill>
                  <a:srgbClr val="BFD8BF"/>
                </a:solidFill>
                <a:latin typeface="Calibri"/>
              </a:rPr>
              <a:t>›  </a:t>
            </a:r>
            <a:r>
              <a:rPr sz="1250" b="0">
                <a:solidFill>
                  <a:srgbClr val="F6F4EF"/>
                </a:solidFill>
                <a:latin typeface="Calibri"/>
              </a:rPr>
              <a:t>Prioridades revisadas cada ciclo con GHT mediante trade-offs explícitos.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250" b="1">
                <a:solidFill>
                  <a:srgbClr val="BFD8BF"/>
                </a:solidFill>
                <a:latin typeface="Calibri"/>
              </a:rPr>
              <a:t>›  </a:t>
            </a:r>
            <a:r>
              <a:rPr sz="1250" b="0">
                <a:solidFill>
                  <a:srgbClr val="F6F4EF"/>
                </a:solidFill>
                <a:latin typeface="Calibri"/>
              </a:rPr>
              <a:t>Cubre la evolución hacia los Hitos 2 y 3, estimados al cierre del MVP.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41732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20431D"/>
                </a:solidFill>
                <a:latin typeface="Trebuchet MS"/>
              </a:rPr>
              <a:t>Roadmap (sin precio en esta propuesta)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920240"/>
            <a:ext cx="5330952" cy="2011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920240"/>
            <a:ext cx="5330952" cy="411480"/>
          </a:xfrm>
          <a:prstGeom prst="rect">
            <a:avLst/>
          </a:prstGeom>
          <a:solidFill>
            <a:srgbClr val="508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975104"/>
            <a:ext cx="484632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Trebuchet MS"/>
              </a:rPr>
              <a:t>HITO 2 · CONVENCIÓN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68880"/>
            <a:ext cx="4892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4A4A46"/>
                </a:solidFill>
                <a:latin typeface="Calibri"/>
              </a:rPr>
              <a:t>Escalar a ~120 contribuyentes: monitoreo de participación, reenvíos controlados, métricas de captura y mayor robustez operativa.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4160520"/>
            <a:ext cx="5330952" cy="2011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55080" y="4160520"/>
            <a:ext cx="5330952" cy="411480"/>
          </a:xfrm>
          <a:prstGeom prst="rect">
            <a:avLst/>
          </a:prstGeom>
          <a:solidFill>
            <a:srgbClr val="204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4215384"/>
            <a:ext cx="484632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Trebuchet MS"/>
              </a:rPr>
              <a:t>HITO 3 · CURADURÍA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709160"/>
            <a:ext cx="4892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4A4A46"/>
                </a:solidFill>
                <a:latin typeface="Calibri"/>
              </a:rPr>
              <a:t>Un consejo de líderes senior canoniza el mejor conocimiento: estados de curaduría, páginas de entidad, índices por capítulo y base vectorial para consulta semántica.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850" b="0">
                <a:solidFill>
                  <a:srgbClr val="8A8A84"/>
                </a:solidFill>
                <a:latin typeface="Calibri"/>
              </a:rPr>
              <a:t>Propiedad GTA — Global Technology Ally · Información confidencial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8A8A84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475488"/>
          </a:xfrm>
          <a:prstGeom prst="rect">
            <a:avLst/>
          </a:prstGeom>
          <a:solidFill>
            <a:srgbClr val="DB2B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114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20431D"/>
                </a:solidFill>
                <a:latin typeface="Trebuchet MS"/>
              </a:rPr>
              <a:t>COMPROMISOS Y PRÓXIMOS PASOS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5486400" cy="3291840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20431D"/>
                </a:solidFill>
                <a:latin typeface="Trebuchet MS"/>
              </a:rPr>
              <a:t>GTA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9377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300" b="1">
                <a:solidFill>
                  <a:srgbClr val="508D5E"/>
                </a:solidFill>
                <a:latin typeface="Calibri"/>
              </a:rPr>
              <a:t>›  </a:t>
            </a:r>
            <a:r>
              <a:rPr sz="1300" b="0">
                <a:solidFill>
                  <a:srgbClr val="4A4A46"/>
                </a:solidFill>
                <a:latin typeface="Calibri"/>
              </a:rPr>
              <a:t>Equipo técnico dedicado y conocimiento del negocio.</a:t>
            </a:r>
          </a:p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300" b="1">
                <a:solidFill>
                  <a:srgbClr val="508D5E"/>
                </a:solidFill>
                <a:latin typeface="Calibri"/>
              </a:rPr>
              <a:t>›  </a:t>
            </a:r>
            <a:r>
              <a:rPr sz="1300" b="0">
                <a:solidFill>
                  <a:srgbClr val="4A4A46"/>
                </a:solidFill>
                <a:latin typeface="Calibri"/>
              </a:rPr>
              <a:t>Gestión formal de requerimientos y reporte semanal.</a:t>
            </a:r>
          </a:p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300" b="1">
                <a:solidFill>
                  <a:srgbClr val="508D5E"/>
                </a:solidFill>
                <a:latin typeface="Calibri"/>
              </a:rPr>
              <a:t>›  </a:t>
            </a:r>
            <a:r>
              <a:rPr sz="1300" b="0">
                <a:solidFill>
                  <a:srgbClr val="4A4A46"/>
                </a:solidFill>
                <a:latin typeface="Calibri"/>
              </a:rPr>
              <a:t>Entrega conforme a los criterios de aceptación.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325880"/>
            <a:ext cx="5422392" cy="3291840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5087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20431D"/>
                </a:solidFill>
                <a:latin typeface="Trebuchet MS"/>
              </a:rPr>
              <a:t>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1965960"/>
            <a:ext cx="48920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508D5E"/>
                </a:solidFill>
                <a:latin typeface="Calibri"/>
              </a:rPr>
              <a:t>›  </a:t>
            </a:r>
            <a:r>
              <a:rPr sz="1300" b="0">
                <a:solidFill>
                  <a:srgbClr val="4A4A46"/>
                </a:solidFill>
                <a:latin typeface="Calibri"/>
              </a:rPr>
              <a:t>~5 usuarios de prueba y administradores designados.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508D5E"/>
                </a:solidFill>
                <a:latin typeface="Calibri"/>
              </a:rPr>
              <a:t>›  </a:t>
            </a:r>
            <a:r>
              <a:rPr sz="1300" b="0">
                <a:solidFill>
                  <a:srgbClr val="4A4A46"/>
                </a:solidFill>
                <a:latin typeface="Calibri"/>
              </a:rPr>
              <a:t>Rúbrica inicial en Markdown y aprobación de prompts.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508D5E"/>
                </a:solidFill>
                <a:latin typeface="Calibri"/>
              </a:rPr>
              <a:t>›  </a:t>
            </a:r>
            <a:r>
              <a:rPr sz="1300" b="0">
                <a:solidFill>
                  <a:srgbClr val="4A4A46"/>
                </a:solidFill>
                <a:latin typeface="Calibri"/>
              </a:rPr>
              <a:t>Credenciales de WhatsApp Business / Meta.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508D5E"/>
                </a:solidFill>
                <a:latin typeface="Calibri"/>
              </a:rPr>
              <a:t>›  </a:t>
            </a:r>
            <a:r>
              <a:rPr sz="1300" b="0">
                <a:solidFill>
                  <a:srgbClr val="4A4A46"/>
                </a:solidFill>
                <a:latin typeface="Calibri"/>
              </a:rPr>
              <a:t>Aprobación oportuna de entregables y pagos acordados.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892040"/>
            <a:ext cx="11183112" cy="1234440"/>
          </a:xfrm>
          <a:prstGeom prst="rect">
            <a:avLst/>
          </a:prstGeom>
          <a:solidFill>
            <a:srgbClr val="204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029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Trebuchet MS"/>
              </a:rPr>
              <a:t>Próximos pasos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48640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6F4EF"/>
                </a:solidFill>
                <a:latin typeface="Calibri"/>
              </a:rPr>
              <a:t>1. Aprobación de la propuesta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548640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6F4EF"/>
                </a:solidFill>
                <a:latin typeface="Calibri"/>
              </a:rPr>
              <a:t>2. Firma y anticipo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548640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6F4EF"/>
                </a:solidFill>
                <a:latin typeface="Calibri"/>
              </a:rPr>
              <a:t>3. Kickoff e insumos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6840" y="548640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6F4EF"/>
                </a:solidFill>
                <a:latin typeface="Calibri"/>
              </a:rPr>
              <a:t>4. Semana 1 del cronograma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850" b="0">
                <a:solidFill>
                  <a:srgbClr val="8A8A84"/>
                </a:solidFill>
                <a:latin typeface="Calibri"/>
              </a:rPr>
              <a:t>Propiedad GTA — Global Technology Ally · Información confidencial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8A8A84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4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B2B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6000" b="1">
                <a:solidFill>
                  <a:srgbClr val="FFFFFF"/>
                </a:solidFill>
                <a:latin typeface="Trebuchet MS"/>
              </a:rPr>
              <a:t>¡GRACIAS!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4903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>
                <a:solidFill>
                  <a:srgbClr val="E4ECE4"/>
                </a:solidFill>
                <a:latin typeface="Calibri"/>
              </a:rPr>
              <a:t>Tejamos juntos la memoria institucional de GHT.</a:t>
            </a:r>
          </a:p>
        </p:txBody>
      </p:sp>
      <p:pic>
        <p:nvPicPr>
          <p:cNvPr id="6" name="Picture 5" descr="HeaderWeb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5715000"/>
            <a:ext cx="1143000" cy="52330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