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A80C8-CD66-49E3-8F03-24274997A6D7}" v="1" dt="2026-06-12T19:41:19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 Perez Carvajal" userId="9ec89740-70a0-453d-be49-31e6d977cdcb" providerId="ADAL" clId="{06509086-0D01-4C73-89C3-5978AB3BDBAB}"/>
    <pc:docChg chg="undo custSel modSld">
      <pc:chgData name="Jason  Perez Carvajal" userId="9ec89740-70a0-453d-be49-31e6d977cdcb" providerId="ADAL" clId="{06509086-0D01-4C73-89C3-5978AB3BDBAB}" dt="2026-06-12T19:41:51.605" v="12" actId="478"/>
      <pc:docMkLst>
        <pc:docMk/>
      </pc:docMkLst>
      <pc:sldChg chg="addSp delSp modSp mod">
        <pc:chgData name="Jason  Perez Carvajal" userId="9ec89740-70a0-453d-be49-31e6d977cdcb" providerId="ADAL" clId="{06509086-0D01-4C73-89C3-5978AB3BDBAB}" dt="2026-06-12T19:41:51.605" v="12" actId="478"/>
        <pc:sldMkLst>
          <pc:docMk/>
          <pc:sldMk cId="0" sldId="256"/>
        </pc:sldMkLst>
        <pc:spChg chg="mod">
          <ac:chgData name="Jason  Perez Carvajal" userId="9ec89740-70a0-453d-be49-31e6d977cdcb" providerId="ADAL" clId="{06509086-0D01-4C73-89C3-5978AB3BDBAB}" dt="2026-06-12T19:41:41.341" v="10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25.145" v="4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32.530" v="8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27.883" v="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51.605" v="12" actId="478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Jason  Perez Carvajal" userId="9ec89740-70a0-453d-be49-31e6d977cdcb" providerId="ADAL" clId="{06509086-0D01-4C73-89C3-5978AB3BDBAB}" dt="2026-06-12T19:41:21.517" v="3" actId="478"/>
          <ac:spMkLst>
            <pc:docMk/>
            <pc:sldMk cId="0" sldId="256"/>
            <ac:spMk id="15" creationId="{14A348FB-6028-6C4B-99D9-5A1E5267AEBD}"/>
          </ac:spMkLst>
        </pc:spChg>
        <pc:spChg chg="add del mod">
          <ac:chgData name="Jason  Perez Carvajal" userId="9ec89740-70a0-453d-be49-31e6d977cdcb" providerId="ADAL" clId="{06509086-0D01-4C73-89C3-5978AB3BDBAB}" dt="2026-06-12T19:41:21.517" v="3" actId="478"/>
          <ac:spMkLst>
            <pc:docMk/>
            <pc:sldMk cId="0" sldId="256"/>
            <ac:spMk id="16" creationId="{CCD9AFD0-300F-8FC7-7FBA-030FB4DCF382}"/>
          </ac:spMkLst>
        </pc:spChg>
        <pc:picChg chg="mod">
          <ac:chgData name="Jason  Perez Carvajal" userId="9ec89740-70a0-453d-be49-31e6d977cdcb" providerId="ADAL" clId="{06509086-0D01-4C73-89C3-5978AB3BDBAB}" dt="2026-06-12T19:41:43.763" v="11" actId="1076"/>
          <ac:picMkLst>
            <pc:docMk/>
            <pc:sldMk cId="0" sldId="256"/>
            <ac:picMk id="3" creationId="{00000000-0000-0000-0000-000000000000}"/>
          </ac:picMkLst>
        </pc:picChg>
        <pc:picChg chg="add del mod">
          <ac:chgData name="Jason  Perez Carvajal" userId="9ec89740-70a0-453d-be49-31e6d977cdcb" providerId="ADAL" clId="{06509086-0D01-4C73-89C3-5978AB3BDBAB}" dt="2026-06-12T19:41:21.517" v="3" actId="478"/>
          <ac:picMkLst>
            <pc:docMk/>
            <pc:sldMk cId="0" sldId="256"/>
            <ac:picMk id="14" creationId="{98DAC50E-0984-4A46-715A-254896A39D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" y="205740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>
                <a:solidFill>
                  <a:srgbClr val="5C5E60"/>
                </a:solidFill>
                <a:latin typeface="Borel"/>
              </a:rPr>
              <a:t>Propuesta económica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063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>
                <a:solidFill>
                  <a:srgbClr val="2A2A2C"/>
                </a:solidFill>
                <a:latin typeface="Garet Heavy"/>
              </a:rPr>
              <a:t>El Tejido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343400"/>
            <a:ext cx="557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6E7072"/>
                </a:solidFill>
                <a:latin typeface="Poiret One"/>
              </a:rPr>
              <a:t>Capturar, evaluar y compilar el conocimiento de la red por WhatsApp, LLM y Markdown.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6235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55FAE"/>
                </a:solidFill>
                <a:latin typeface="Mulish"/>
              </a:rPr>
              <a:t>MVP básico · Primera versión el 22 de junio de 2026</a:t>
            </a:r>
          </a:p>
        </p:txBody>
      </p:sp>
      <p:pic>
        <p:nvPicPr>
          <p:cNvPr id="12" name="Picture 11" descr="bran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CONTEXTO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Lo que está en juego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55FAE"/>
                </a:solidFill>
                <a:latin typeface="Mulish"/>
              </a:rPr>
              <a:t>EL COSTO DE NO HACER 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743200"/>
            <a:ext cx="48006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El conocimiento más valioso de GHT vive en la cabeza de sus líderes.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Se pierde con la rotación, el retiro y la falta de un momento para escribirlo.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Las wikis y bases de datos anteriores fueron abandonadas: cada equipo vuelve a descubrir lo que la red ya sabía.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057400"/>
            <a:ext cx="5349240" cy="39776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9EC8EE"/>
                </a:solidFill>
                <a:latin typeface="Mulish"/>
              </a:rPr>
              <a:t>EL TEJIDO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43200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FBFAF6"/>
                </a:solidFill>
                <a:latin typeface="Mulish"/>
              </a:rPr>
              <a:t>Una memoria institucional viva: atribuida, calificada e interconectada.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>
                <a:solidFill>
                  <a:srgbClr val="EFEBE1"/>
                </a:solidFill>
                <a:latin typeface="Mulish"/>
              </a:rPr>
              <a:t>El sistema conversa con los participantes, evalúa cada aporte con un LLM usando la rúbrica que GHT ya entregó y lo compila en Markdown auditable.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9EC8EE"/>
                </a:solidFill>
                <a:latin typeface="Mulish"/>
              </a:rPr>
              <a:t>Entendemos la urgencia: </a:t>
            </a:r>
            <a:r>
              <a:rPr sz="1350" b="0">
                <a:solidFill>
                  <a:srgbClr val="EFEBE1"/>
                </a:solidFill>
                <a:latin typeface="Mulish"/>
              </a:rPr>
              <a:t>GHT quiere iniciar ya con un MVP básico. Proponemos un sprint con primera versión el 22 de junio.</a:t>
            </a:r>
          </a:p>
        </p:txBody>
      </p:sp>
      <p:pic>
        <p:nvPicPr>
          <p:cNvPr id="12" name="Picture 11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ALCANCE DEL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Lo que entrega 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MVP básico — 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2286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" y="26700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Flujo conversacional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" y="303580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Pregunta, respuesta, evaluación, retroalimentación breve, máximo una repregunta y cierre.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6376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4976" y="2286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4976" y="26700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Evaluación con la rúbrica de 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4976" y="303580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La rúbrica ya entregada se consume en Markdown: criterios, pesos y escala sin tocar código.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2848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1448" y="2286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448" y="26700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Canal garantizado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448" y="303580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Página web simple desde el primer día; WhatsApp se activa en cuanto GHT habilite la línea.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" y="408736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" y="4270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" y="4654296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Memoria institucional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" y="502005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Cada aporte se compila en Markdown con autoría, calificación y trazabilidad completa.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6376" y="408736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4976" y="4270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4976" y="4654296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Consulta de resultados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4976" y="502005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Respuestas, calificaciones, explicaciones y Markdown. Campaña inicial configurada con asistencia de GTA.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62848" y="4087368"/>
            <a:ext cx="3611880" cy="1783080"/>
          </a:xfrm>
          <a:prstGeom prst="rect">
            <a:avLst/>
          </a:prstGeom>
          <a:solidFill>
            <a:srgbClr val="EFEBE1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1448" y="4270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8E9093"/>
                </a:solidFill>
                <a:latin typeface="Garet Heavy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1448" y="4654296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Se difiere a evolución continua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448" y="502005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Portal de autoservicio, reenvíos automáticos, plantillas Meta masivas, dashboard y escala a ~120 usuarios.</a:t>
            </a:r>
          </a:p>
        </p:txBody>
      </p:sp>
      <p:pic>
        <p:nvPicPr>
          <p:cNvPr id="30" name="Picture 29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CANALES Y DEPENDENCIAS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WhatsApp y 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canal alterno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55FAE"/>
                </a:solidFill>
                <a:latin typeface="Mulish"/>
              </a:rPr>
              <a:t>QUÉ NECESITAMOS DE 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743200"/>
            <a:ext cx="48006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Nosotros realizamos la parametrización sobre la plataforma Meta de GHT </a:t>
            </a:r>
            <a:r>
              <a:rPr sz="1350" b="1">
                <a:solidFill>
                  <a:srgbClr val="2A2A2C"/>
                </a:solidFill>
                <a:latin typeface="Mulish"/>
              </a:rPr>
              <a:t>(credenciales ya entregadas).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Para activar WhatsApp falta: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155FAE"/>
                </a:solidFill>
                <a:latin typeface="Mulish"/>
              </a:rPr>
              <a:t>1.  </a:t>
            </a:r>
            <a:r>
              <a:rPr sz="1350" b="0">
                <a:solidFill>
                  <a:srgbClr val="3A3A3C"/>
                </a:solidFill>
                <a:latin typeface="Mulish"/>
              </a:rPr>
              <a:t>La línea celular a parametrizar.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155FAE"/>
                </a:solidFill>
                <a:latin typeface="Mulish"/>
              </a:rPr>
              <a:t>2.  </a:t>
            </a:r>
            <a:r>
              <a:rPr sz="1350" b="0">
                <a:solidFill>
                  <a:srgbClr val="3A3A3C"/>
                </a:solidFill>
                <a:latin typeface="Mulish"/>
              </a:rPr>
              <a:t>La tarjeta de crédito registrada en la plataforma Meta.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Sin estos dos insumos no es posible entregar sobre WhatsApp.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6208" y="2057400"/>
            <a:ext cx="5349240" cy="64008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55FAE"/>
                </a:solidFill>
                <a:latin typeface="Mulish"/>
              </a:rPr>
              <a:t>NUESTRO COMPROMISO: EL SPRINT NO SE DETIENE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743200"/>
            <a:ext cx="48006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Línea habilitada antes del 19 de junio: </a:t>
            </a:r>
            <a:r>
              <a:rPr sz="1350" b="0">
                <a:solidFill>
                  <a:srgbClr val="3A3A3C"/>
                </a:solidFill>
                <a:latin typeface="Mulish"/>
              </a:rPr>
              <a:t>la entrega del 22 sale por WhatsApp y web.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Si no: </a:t>
            </a:r>
            <a:r>
              <a:rPr sz="1350" b="0">
                <a:solidFill>
                  <a:srgbClr val="3A3A3C"/>
                </a:solidFill>
                <a:latin typeface="Mulish"/>
              </a:rPr>
              <a:t>la entrega del 22 sale por una página web simple con el flujo completo.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0">
                <a:solidFill>
                  <a:srgbClr val="6E7072"/>
                </a:solidFill>
                <a:latin typeface="Mulish"/>
              </a:rPr>
              <a:t>WhatsApp se activa dentro de los 2 días hábiles siguientes a la habilitación de la línea, sin costo adicional.</a:t>
            </a:r>
          </a:p>
        </p:txBody>
      </p:sp>
      <p:pic>
        <p:nvPicPr>
          <p:cNvPr id="13" name="Picture 12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Un sprint 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148840"/>
            <a:ext cx="2697480" cy="50292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904" y="2295144"/>
            <a:ext cx="118872" cy="118872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378C6"/>
                </a:solidFill>
                <a:latin typeface="Mulish"/>
              </a:rPr>
              <a:t>VIE 13 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Kickoff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Confirmación de insumos y arranque de arquitectura.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6256" y="2148840"/>
            <a:ext cx="2697480" cy="50292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6256" y="2295144"/>
            <a:ext cx="118872" cy="118872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27424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C8C86"/>
                </a:solidFill>
                <a:latin typeface="Mulish"/>
              </a:rPr>
              <a:t>LUN 16 – MIÉ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56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Primera aproximación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6256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Núcleo conversacional y evaluación LLM con la rúbrica de GHT. Versión navegable por web el 17.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2608" y="2148840"/>
            <a:ext cx="2697480" cy="50292"/>
          </a:xfrm>
          <a:prstGeom prst="rect">
            <a:avLst/>
          </a:prstGeom>
          <a:solidFill>
            <a:srgbClr val="5A5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2608" y="2295144"/>
            <a:ext cx="118872" cy="118872"/>
          </a:xfrm>
          <a:prstGeom prst="rect">
            <a:avLst/>
          </a:prstGeom>
          <a:solidFill>
            <a:srgbClr val="5A5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3776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5A55B0"/>
                </a:solidFill>
                <a:latin typeface="Mulish"/>
              </a:rPr>
              <a:t>JUE 18 – VIE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2608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Memoria y consulta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608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Generación Markdown, trazabilidad y consulta de resultados. Parametrización WhatsApp si la línea está lista.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8960" y="2148840"/>
            <a:ext cx="2697480" cy="5029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8960" y="2295144"/>
            <a:ext cx="118872" cy="1188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0128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2A2A2C"/>
                </a:solidFill>
                <a:latin typeface="Mulish"/>
              </a:rPr>
              <a:t>SÁB 20 – LUN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8960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Entrega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8960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Prueba con usuarios reales, ajustes y primera versión del MVP el lunes 22.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" y="5029200"/>
            <a:ext cx="10972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" y="517550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A2A2C"/>
                </a:solidFill>
                <a:latin typeface="Mulish"/>
              </a:rPr>
              <a:t>Dos fechas para el comité:  </a:t>
            </a:r>
            <a:r>
              <a:rPr sz="1400" b="0">
                <a:solidFill>
                  <a:srgbClr val="3A3A3C"/>
                </a:solidFill>
                <a:latin typeface="Mulish"/>
              </a:rPr>
              <a:t>primera aproximación navegable el </a:t>
            </a:r>
            <a:r>
              <a:rPr sz="1400" b="1">
                <a:solidFill>
                  <a:srgbClr val="155FAE"/>
                </a:solidFill>
                <a:latin typeface="Mulish"/>
              </a:rPr>
              <a:t>miércoles 17 de junio</a:t>
            </a:r>
            <a:r>
              <a:rPr sz="1400" b="0">
                <a:solidFill>
                  <a:srgbClr val="3A3A3C"/>
                </a:solidFill>
                <a:latin typeface="Mulish"/>
              </a:rPr>
              <a:t>  ·  primera versión del MVP el </a:t>
            </a:r>
            <a:r>
              <a:rPr sz="1400" b="1">
                <a:solidFill>
                  <a:srgbClr val="155FAE"/>
                </a:solidFill>
                <a:latin typeface="Mulish"/>
              </a:rPr>
              <a:t>lunes 22 de junio</a:t>
            </a:r>
            <a:r>
              <a:rPr sz="1400" b="0">
                <a:solidFill>
                  <a:srgbClr val="3A3A3C"/>
                </a:solidFill>
                <a:latin typeface="Mulish"/>
              </a:rPr>
              <a:t>.</a:t>
            </a:r>
          </a:p>
        </p:txBody>
      </p:sp>
      <p:pic>
        <p:nvPicPr>
          <p:cNvPr id="28" name="Picture 27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Una inversión ajustada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al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3977639" cy="2697480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860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9EC8EE"/>
                </a:solidFill>
                <a:latin typeface="Mulish"/>
              </a:rPr>
              <a:t>PRECIO FIJO DEL MVP BÁSICO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9748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BFAF6"/>
                </a:solidFill>
                <a:latin typeface="Garet Heavy"/>
              </a:rPr>
              <a:t>USD 9.750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" y="356616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EFEBE1"/>
                </a:solidFill>
                <a:latin typeface="Mulish"/>
              </a:rPr>
              <a:t>Equivale a dos semanas de la capacidad de referencia del equipo (USD 19.500 / 160 h al mes) en modalidad intensiva.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756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Forma de pago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560320"/>
            <a:ext cx="6675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Aprobación y kickoff — 13 de junio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56032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55FAE"/>
                </a:solidFill>
                <a:latin typeface="Mulish"/>
              </a:rPr>
              <a:t>50 %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5603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USD 4.875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3200400"/>
            <a:ext cx="6675120" cy="566928"/>
          </a:xfrm>
          <a:prstGeom prst="rect">
            <a:avLst/>
          </a:prstGeom>
          <a:solidFill>
            <a:srgbClr val="EFEBE1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320040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Entrega primera versión — 22 de junio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20040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55FAE"/>
                </a:solidFill>
                <a:latin typeface="Mulish"/>
              </a:rPr>
              <a:t>50 %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2004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USD 4.875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886200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E9093"/>
                </a:solidFill>
                <a:latin typeface="Mulish"/>
              </a:rPr>
              <a:t>Precio cerrado para el alcance definido. Los cambios de alcance se estiman y aprueban como requerimientos independientes. No incluye impuestos.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" y="4983480"/>
            <a:ext cx="10972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9904" y="4983480"/>
            <a:ext cx="64008" cy="1371600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2512" y="51297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INFRAESTRUCTURA Y CONSUMO (AZURE · WHATSAPP API · LLM)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" y="5458968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Durante el MVP la solución opera en infraestructura de GTA; los consumos se facturan a GHT con los soportes correspondientes, sin margen (estimado USD 150–300/mes a escala de piloto).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Para producción, la solución se despliega en infraestructura de GHT, que asume su operación y costo directo.</a:t>
            </a:r>
          </a:p>
        </p:txBody>
      </p:sp>
      <p:pic>
        <p:nvPicPr>
          <p:cNvPr id="24" name="Picture 23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DESPUÉS DEL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Evolución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continua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86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CAPACIDAD DEDICADA MENSUAL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5176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A2A2C"/>
                </a:solidFill>
                <a:latin typeface="Garet Heavy"/>
              </a:rPr>
              <a:t>USD 19.500 / 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" y="33832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6E7072"/>
                </a:solidFill>
                <a:latin typeface="Mulish"/>
              </a:rPr>
              <a:t>Equipo dedicado · 160 horas/mes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384048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E7072"/>
                </a:solidFill>
                <a:latin typeface="Mulish"/>
              </a:rPr>
              <a:t>Se factura solo el esfuerzo aprobado, trabajado y entregado; si es menor, la facturación es proporcional (ej.: 2 semanas = USD 9.750).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E7072"/>
                </a:solidFill>
                <a:latin typeface="Mulish"/>
              </a:rPr>
              <a:t>Prioridades revisadas cada ciclo con GHT mediante trade-offs explícitos.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057400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2057400"/>
            <a:ext cx="64008" cy="1207008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1854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378C6"/>
                </a:solidFill>
                <a:latin typeface="Mulish"/>
              </a:rPr>
              <a:t>HITO 1 · COMPLETAR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96312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Portal administrativo de autoservicio y robustez operativa.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447288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3447288"/>
            <a:ext cx="64008" cy="1207008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5753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C8C86"/>
                </a:solidFill>
                <a:latin typeface="Mulish"/>
              </a:rPr>
              <a:t>HITO 2 · CONVENCIÓN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88620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Escalar a ~120 contribuyentes: monitoreo, reenvíos controlados y métricas de captura.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4837176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4837176"/>
            <a:ext cx="64008" cy="1207008"/>
          </a:xfrm>
          <a:prstGeom prst="rect">
            <a:avLst/>
          </a:prstGeom>
          <a:solidFill>
            <a:srgbClr val="5A5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49651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A55B0"/>
                </a:solidFill>
                <a:latin typeface="Mulish"/>
              </a:rPr>
              <a:t>HITO 3 · CURADURÍA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5276088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Líderes senior canonizan el conocimiento: páginas de entidad, índices y base vectorial semántica.</a:t>
            </a:r>
          </a:p>
        </p:txBody>
      </p:sp>
      <p:pic>
        <p:nvPicPr>
          <p:cNvPr id="23" name="Picture 22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COMPROMISOS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Lo que pone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cada parte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585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A2A2C"/>
                </a:solidFill>
                <a:latin typeface="Garet Heavy"/>
              </a:rPr>
              <a:t>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24328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F7A40"/>
                </a:solidFill>
                <a:latin typeface="Mulish"/>
              </a:rPr>
              <a:t>✓  Rúbrica de evaluación en Markdown — entregada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F7A40"/>
                </a:solidFill>
                <a:latin typeface="Mulish"/>
              </a:rPr>
              <a:t>✓  Credenciales de la plataforma Meta — entregadas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" y="35204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9A6712"/>
                </a:solidFill>
                <a:latin typeface="Mulish"/>
              </a:rPr>
              <a:t>PENDIENTE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384048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Línea celular a parametrizar y tarjeta de crédito en la plataforma Meta.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Lista de ~5 usuarios de prueba con números de WhatsApp.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Aprobación de prompts (GTA propone la versión inicial).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Validación oportuna durante el sprint y pagos acordados.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22585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A2A2C"/>
                </a:solidFill>
                <a:latin typeface="Garet Heavy"/>
              </a:rPr>
              <a:t>GTA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24328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Equipo dedicado en modalidad sprint del 13 al 22 de junio.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Parametrización de WhatsApp sobre la plataforma Meta de GHT.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Canal web simple garantizado desde la primera aproximación (17 de junio).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Reporte diario corto de avance durante el sprint.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Entrega conforme al alcance y criterios definidos.</a:t>
            </a:r>
          </a:p>
        </p:txBody>
      </p:sp>
      <p:pic>
        <p:nvPicPr>
          <p:cNvPr id="14" name="Picture 13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Para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esta misma semana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HOY · 12 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Aprobación de esta propuesta.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6256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4856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4856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VIE 13 JUN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4856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Pago del 50 % y kickoff del sprint.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2608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1208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1208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EN PARALELO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1208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GHT gestiona la línea celular y la tarjeta en la plataforma Meta.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8960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7560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7560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17 Y 22 JUN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7560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Primera aproximación navegable y primera versión del MVP.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" y="5120640"/>
            <a:ext cx="10972800" cy="777240"/>
          </a:xfrm>
          <a:prstGeom prst="rect">
            <a:avLst/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224" y="512064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Cada día cuenta: </a:t>
            </a:r>
            <a:r>
              <a:rPr sz="1350" b="0">
                <a:solidFill>
                  <a:srgbClr val="3A3A3C"/>
                </a:solidFill>
                <a:latin typeface="Mulish"/>
              </a:rPr>
              <a:t>aprobar hoy permite cumplir el 22 de junio.</a:t>
            </a:r>
          </a:p>
        </p:txBody>
      </p:sp>
      <p:pic>
        <p:nvPicPr>
          <p:cNvPr id="24" name="Picture 23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1031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5C5E60"/>
                </a:solidFill>
                <a:latin typeface="Borel"/>
              </a:rPr>
              <a:t>Tejamos 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6324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2A2A2C"/>
                </a:solidFill>
                <a:latin typeface="Garet Heavy"/>
              </a:rPr>
              <a:t>la memoria de 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2062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E7072"/>
                </a:solidFill>
                <a:latin typeface="Poiret One"/>
              </a:rPr>
              <a:t>Gracias por su confianza.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0749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GTA — Global Technology Ally / Aliado TI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55FAE"/>
                </a:solidFill>
                <a:latin typeface="Mulish"/>
              </a:rPr>
              <a:t>jason.perez@aliadoti.com</a:t>
            </a:r>
          </a:p>
        </p:txBody>
      </p:sp>
      <p:pic>
        <p:nvPicPr>
          <p:cNvPr id="8" name="Picture 7" descr="bran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1047</Words>
  <Application>Microsoft Office PowerPoint</Application>
  <PresentationFormat>Widescreen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Borel</vt:lpstr>
      <vt:lpstr>Calibri</vt:lpstr>
      <vt:lpstr>Garet Heavy</vt:lpstr>
      <vt:lpstr>Mulish</vt:lpstr>
      <vt:lpstr>Poiret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 Perez Carvajal</cp:lastModifiedBy>
  <cp:revision>1</cp:revision>
  <dcterms:created xsi:type="dcterms:W3CDTF">2013-01-27T09:14:16Z</dcterms:created>
  <dcterms:modified xsi:type="dcterms:W3CDTF">2026-06-12T19:41:54Z</dcterms:modified>
  <cp:category/>
</cp:coreProperties>
</file>