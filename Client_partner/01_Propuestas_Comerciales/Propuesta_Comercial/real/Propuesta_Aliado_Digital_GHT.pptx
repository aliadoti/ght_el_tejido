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 Perez Carvajal" userId="9ec89740-70a0-453d-be49-31e6d977cdcb" providerId="ADAL" clId="{06509086-0D01-4C73-89C3-5978AB3BDBAB}"/>
    <pc:docChg chg="undo custSel modSld">
      <pc:chgData name="Jason  Perez Carvajal" userId="9ec89740-70a0-453d-be49-31e6d977cdcb" providerId="ADAL" clId="{06509086-0D01-4C73-89C3-5978AB3BDBAB}" dt="2026-06-12T19:59:25.132" v="112" actId="20577"/>
      <pc:docMkLst>
        <pc:docMk/>
      </pc:docMkLst>
      <pc:sldChg chg="addSp delSp modSp mod">
        <pc:chgData name="Jason  Perez Carvajal" userId="9ec89740-70a0-453d-be49-31e6d977cdcb" providerId="ADAL" clId="{06509086-0D01-4C73-89C3-5978AB3BDBAB}" dt="2026-06-12T19:55:05.624" v="22" actId="14100"/>
        <pc:sldMkLst>
          <pc:docMk/>
          <pc:sldMk cId="0" sldId="256"/>
        </pc:sldMkLst>
        <pc:spChg chg="add del mod">
          <ac:chgData name="Jason  Perez Carvajal" userId="9ec89740-70a0-453d-be49-31e6d977cdcb" providerId="ADAL" clId="{06509086-0D01-4C73-89C3-5978AB3BDBAB}" dt="2026-06-12T19:54:53.887" v="10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54:34.515" v="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54:51.427" v="9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54:47.434" v="6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Jason  Perez Carvajal" userId="9ec89740-70a0-453d-be49-31e6d977cdcb" providerId="ADAL" clId="{06509086-0D01-4C73-89C3-5978AB3BDBAB}" dt="2026-06-12T19:55:01.305" v="21" actId="20577"/>
          <ac:spMkLst>
            <pc:docMk/>
            <pc:sldMk cId="0" sldId="256"/>
            <ac:spMk id="11" creationId="{00000000-0000-0000-0000-000000000000}"/>
          </ac:spMkLst>
        </pc:spChg>
        <pc:picChg chg="del">
          <ac:chgData name="Jason  Perez Carvajal" userId="9ec89740-70a0-453d-be49-31e6d977cdcb" providerId="ADAL" clId="{06509086-0D01-4C73-89C3-5978AB3BDBAB}" dt="2026-06-12T19:54:38.118" v="3" actId="478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Jason  Perez Carvajal" userId="9ec89740-70a0-453d-be49-31e6d977cdcb" providerId="ADAL" clId="{06509086-0D01-4C73-89C3-5978AB3BDBAB}" dt="2026-06-12T19:55:05.624" v="22" actId="14100"/>
          <ac:picMkLst>
            <pc:docMk/>
            <pc:sldMk cId="0" sldId="256"/>
            <ac:picMk id="12" creationId="{00000000-0000-0000-0000-000000000000}"/>
          </ac:picMkLst>
        </pc:picChg>
      </pc:sldChg>
      <pc:sldChg chg="modSp mod">
        <pc:chgData name="Jason  Perez Carvajal" userId="9ec89740-70a0-453d-be49-31e6d977cdcb" providerId="ADAL" clId="{06509086-0D01-4C73-89C3-5978AB3BDBAB}" dt="2026-06-12T19:59:25.132" v="112" actId="20577"/>
        <pc:sldMkLst>
          <pc:docMk/>
          <pc:sldMk cId="0" sldId="257"/>
        </pc:sldMkLst>
        <pc:spChg chg="mod">
          <ac:chgData name="Jason  Perez Carvajal" userId="9ec89740-70a0-453d-be49-31e6d977cdcb" providerId="ADAL" clId="{06509086-0D01-4C73-89C3-5978AB3BDBAB}" dt="2026-06-12T19:58:23.334" v="70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Jason  Perez Carvajal" userId="9ec89740-70a0-453d-be49-31e6d977cdcb" providerId="ADAL" clId="{06509086-0D01-4C73-89C3-5978AB3BDBAB}" dt="2026-06-12T19:55:21.335" v="2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Jason  Perez Carvajal" userId="9ec89740-70a0-453d-be49-31e6d977cdcb" providerId="ADAL" clId="{06509086-0D01-4C73-89C3-5978AB3BDBAB}" dt="2026-06-12T19:59:08.528" v="110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Jason  Perez Carvajal" userId="9ec89740-70a0-453d-be49-31e6d977cdcb" providerId="ADAL" clId="{06509086-0D01-4C73-89C3-5978AB3BDBAB}" dt="2026-06-12T19:59:25.132" v="112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Jason  Perez Carvajal" userId="9ec89740-70a0-453d-be49-31e6d977cdcb" providerId="ADAL" clId="{06509086-0D01-4C73-89C3-5978AB3BDBAB}" dt="2026-06-12T19:54:28.705" v="1" actId="20577"/>
        <pc:sldMkLst>
          <pc:docMk/>
          <pc:sldMk cId="0" sldId="259"/>
        </pc:sldMkLst>
        <pc:spChg chg="mod">
          <ac:chgData name="Jason  Perez Carvajal" userId="9ec89740-70a0-453d-be49-31e6d977cdcb" providerId="ADAL" clId="{06509086-0D01-4C73-89C3-5978AB3BDBAB}" dt="2026-06-12T19:54:28.705" v="1" actId="20577"/>
          <ac:spMkLst>
            <pc:docMk/>
            <pc:sldMk cId="0" sldId="259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" y="16916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8E9093"/>
                </a:solidFill>
                <a:latin typeface="Mulish"/>
              </a:rPr>
              <a:t>PROGRAMA DE EJECUCIÓN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05740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>
                <a:solidFill>
                  <a:srgbClr val="5C5E60"/>
                </a:solidFill>
                <a:latin typeface="Borel"/>
              </a:rPr>
              <a:t>Aliado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63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dirty="0">
                <a:solidFill>
                  <a:srgbClr val="2A2A2C"/>
                </a:solidFill>
                <a:latin typeface="Garet Heavy"/>
              </a:rPr>
              <a:t>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43400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6E7072"/>
                </a:solidFill>
                <a:latin typeface="Poiret One"/>
              </a:rPr>
              <a:t>Un equipo senior de especialistas para el MVP de El Tejido y los nuevos requerimientos de la 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623560"/>
            <a:ext cx="6400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dirty="0">
                <a:solidFill>
                  <a:srgbClr val="155FAE"/>
                </a:solidFill>
                <a:latin typeface="Mulish"/>
              </a:rPr>
              <a:t>Junio de 2026</a:t>
            </a:r>
          </a:p>
        </p:txBody>
      </p:sp>
      <p:pic>
        <p:nvPicPr>
          <p:cNvPr id="12" name="Picture 11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3" y="6189375"/>
            <a:ext cx="504033" cy="504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8E9093"/>
                </a:solidFill>
                <a:latin typeface="Mulish"/>
              </a:rPr>
              <a:t>POR QUÉ </a:t>
            </a:r>
            <a:r>
              <a:rPr lang="en-US" sz="1100" b="1" dirty="0">
                <a:solidFill>
                  <a:srgbClr val="8E9093"/>
                </a:solidFill>
                <a:latin typeface="Mulish"/>
              </a:rPr>
              <a:t>GLOBAL TECHNOLOGY ALLY</a:t>
            </a:r>
            <a:endParaRPr sz="1100" b="1" dirty="0">
              <a:solidFill>
                <a:srgbClr val="8E9093"/>
              </a:solidFill>
              <a:latin typeface="Mulish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El valor de trabajar 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 dirty="0">
                <a:solidFill>
                  <a:srgbClr val="2A2A2C"/>
                </a:solidFill>
                <a:latin typeface="Garet Heavy"/>
              </a:rPr>
              <a:t>un </a:t>
            </a:r>
            <a:r>
              <a:rPr lang="en-US" sz="3300" b="1" dirty="0">
                <a:solidFill>
                  <a:srgbClr val="2A2A2C"/>
                </a:solidFill>
                <a:latin typeface="Garet Heavy"/>
              </a:rPr>
              <a:t>A</a:t>
            </a:r>
            <a:r>
              <a:rPr sz="3300" b="1" dirty="0">
                <a:solidFill>
                  <a:srgbClr val="2A2A2C"/>
                </a:solidFill>
                <a:latin typeface="Garet Heavy"/>
              </a:rPr>
              <a:t>liado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031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904" y="2103120"/>
            <a:ext cx="64008" cy="178308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2512" y="23042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A2A2C"/>
                </a:solidFill>
                <a:latin typeface="Garet Heavy"/>
              </a:rPr>
              <a:t>Equipo senior de especialistas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512" y="2761487"/>
            <a:ext cx="4919472" cy="42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dirty="0" err="1">
                <a:solidFill>
                  <a:srgbClr val="6E7072"/>
                </a:solidFill>
                <a:latin typeface="Mulish"/>
              </a:rPr>
              <a:t>Profesionales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 </a:t>
            </a:r>
            <a:r>
              <a:rPr lang="en-US" sz="1200" b="0" dirty="0">
                <a:solidFill>
                  <a:srgbClr val="6E7072"/>
                </a:solidFill>
                <a:latin typeface="Mulish"/>
              </a:rPr>
              <a:t>senior 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con </a:t>
            </a:r>
            <a:r>
              <a:rPr sz="1200" b="0" dirty="0" err="1">
                <a:solidFill>
                  <a:srgbClr val="6E7072"/>
                </a:solidFill>
                <a:latin typeface="Mulish"/>
              </a:rPr>
              <a:t>experiencia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 </a:t>
            </a:r>
            <a:r>
              <a:rPr sz="1200" b="0" dirty="0" err="1">
                <a:solidFill>
                  <a:srgbClr val="6E7072"/>
                </a:solidFill>
                <a:latin typeface="Mulish"/>
              </a:rPr>
              <a:t>en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 </a:t>
            </a:r>
            <a:r>
              <a:rPr sz="1200" b="0" dirty="0" err="1">
                <a:solidFill>
                  <a:srgbClr val="6E7072"/>
                </a:solidFill>
                <a:latin typeface="Mulish"/>
              </a:rPr>
              <a:t>integraciones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, </a:t>
            </a:r>
            <a:r>
              <a:rPr sz="1200" b="0" dirty="0" err="1">
                <a:solidFill>
                  <a:srgbClr val="6E7072"/>
                </a:solidFill>
                <a:latin typeface="Mulish"/>
              </a:rPr>
              <a:t>datos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, </a:t>
            </a:r>
            <a:r>
              <a:rPr lang="en-US" sz="1200" b="0" dirty="0">
                <a:solidFill>
                  <a:srgbClr val="6E7072"/>
                </a:solidFill>
                <a:latin typeface="Mulish"/>
              </a:rPr>
              <a:t>IA </a:t>
            </a:r>
            <a:r>
              <a:rPr lang="en-US" sz="1200" b="0" dirty="0" err="1">
                <a:solidFill>
                  <a:srgbClr val="6E7072"/>
                </a:solidFill>
                <a:latin typeface="Mulish"/>
              </a:rPr>
              <a:t>generativa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 y </a:t>
            </a:r>
            <a:r>
              <a:rPr lang="en-US" sz="1200" dirty="0">
                <a:solidFill>
                  <a:srgbClr val="6E7072"/>
                </a:solidFill>
                <a:latin typeface="Mulish"/>
              </a:rPr>
              <a:t>Cloud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6616" y="210312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6616" y="2103120"/>
            <a:ext cx="64008" cy="178308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9224" y="23042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A2A2C"/>
                </a:solidFill>
                <a:latin typeface="Garet Heavy"/>
              </a:rPr>
              <a:t>Conocimiento del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9224" y="2761487"/>
            <a:ext cx="4919472" cy="204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dirty="0" err="1">
                <a:solidFill>
                  <a:srgbClr val="6E7072"/>
                </a:solidFill>
                <a:latin typeface="Mulish"/>
              </a:rPr>
              <a:t>Entendemos</a:t>
            </a:r>
            <a:r>
              <a:rPr sz="1200" b="0" dirty="0">
                <a:solidFill>
                  <a:srgbClr val="6E7072"/>
                </a:solidFill>
                <a:latin typeface="Mulish"/>
              </a:rPr>
              <a:t> la red </a:t>
            </a:r>
            <a:r>
              <a:rPr sz="1200" b="0">
                <a:solidFill>
                  <a:srgbClr val="6E7072"/>
                </a:solidFill>
                <a:latin typeface="Mulish"/>
              </a:rPr>
              <a:t>GHT,</a:t>
            </a:r>
            <a:r>
              <a:rPr lang="en-US" sz="1200" b="0">
                <a:solidFill>
                  <a:srgbClr val="6E7072"/>
                </a:solidFill>
                <a:latin typeface="Mulish"/>
              </a:rPr>
              <a:t> </a:t>
            </a:r>
            <a:r>
              <a:rPr sz="1200" b="0">
                <a:solidFill>
                  <a:srgbClr val="6E7072"/>
                </a:solidFill>
                <a:latin typeface="Mulish"/>
              </a:rPr>
              <a:t>.</a:t>
            </a:r>
            <a:endParaRPr sz="1200" b="0" dirty="0">
              <a:solidFill>
                <a:srgbClr val="6E7072"/>
              </a:solidFill>
              <a:latin typeface="Mulish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9904" y="411480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904" y="4114800"/>
            <a:ext cx="64008" cy="178308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2512" y="4315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A2A2C"/>
                </a:solidFill>
                <a:latin typeface="Garet Heavy"/>
              </a:rPr>
              <a:t>Modelo claro y sin sorpresas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" y="4773168"/>
            <a:ext cx="49194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Todo se ejecuta por requerimientos aprobados: cada trabajo se estima, se aprueba y solo se factura lo entregado.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6616" y="4114800"/>
            <a:ext cx="54864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6616" y="4114800"/>
            <a:ext cx="64008" cy="178308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99224" y="43159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A2A2C"/>
                </a:solidFill>
                <a:latin typeface="Garet Heavy"/>
              </a:rPr>
              <a:t>Velocidad con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9224" y="4773168"/>
            <a:ext cx="49194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Sprints cortos, reporte permanente y trade-offs explícitos cuando cambian las prioridades.</a:t>
            </a:r>
          </a:p>
        </p:txBody>
      </p:sp>
      <p:pic>
        <p:nvPicPr>
          <p:cNvPr id="22" name="Picture 21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EL PROGRAMA EN UNA MIRADA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Dos componentes,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una sola inversión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4884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904" y="2148840"/>
            <a:ext cx="4206240" cy="64008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4224" y="2350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55FAE"/>
                </a:solidFill>
                <a:latin typeface="Mulish"/>
              </a:rPr>
              <a:t>COMPONENTE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2651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A2A2C"/>
                </a:solidFill>
                <a:latin typeface="Garet Heavy"/>
              </a:rPr>
              <a:t>MVP El Tejido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154680"/>
            <a:ext cx="3703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Sprint de 10 días con la primera versión del sistema de memoria institucional.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" y="40690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A2A2C"/>
                </a:solidFill>
                <a:latin typeface="Garet Heavy"/>
              </a:rPr>
              <a:t>USD 9.500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6456" y="214884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6456" y="2148840"/>
            <a:ext cx="4206240" cy="64008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0776" y="2350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C8C86"/>
                </a:solidFill>
                <a:latin typeface="Mulish"/>
              </a:rPr>
              <a:t>COMPONENTE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776" y="26517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A2A2C"/>
                </a:solidFill>
                <a:latin typeface="Garet Heavy"/>
              </a:rPr>
              <a:t>Bolsa de requerimientos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0776" y="3154680"/>
            <a:ext cx="3703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≈86 horas del equipo para nuevos requerimientos digitales, facturadas por entrega.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776" y="40690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2A2A2C"/>
                </a:solidFill>
                <a:latin typeface="Garet Heavy"/>
              </a:rPr>
              <a:t>USD 10.500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3008" y="2148840"/>
            <a:ext cx="2139696" cy="2743200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71608" y="23500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9EC8EE"/>
                </a:solidFill>
                <a:latin typeface="Mulish"/>
              </a:rPr>
              <a:t>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1608" y="288036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FEBE1"/>
                </a:solidFill>
                <a:latin typeface="Garet Heavy"/>
              </a:rPr>
              <a:t>USD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1608" y="324612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BFAF6"/>
                </a:solidFill>
                <a:latin typeface="Garet Heavy"/>
              </a:rPr>
              <a:t>20.000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1608" y="40233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EFEBE1"/>
                </a:solidFill>
                <a:latin typeface="Mulish"/>
              </a:rPr>
              <a:t>No incluye impuestos.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5166360"/>
            <a:ext cx="10972800" cy="731520"/>
          </a:xfrm>
          <a:prstGeom prst="rect">
            <a:avLst/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4224" y="516636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Un solo programa: </a:t>
            </a:r>
            <a:r>
              <a:rPr sz="1300" b="0">
                <a:solidFill>
                  <a:srgbClr val="3A3A3C"/>
                </a:solidFill>
                <a:latin typeface="Mulish"/>
              </a:rPr>
              <a:t>el MVP demuestra valor en 10 días y la bolsa da continuidad sin negociar cada vez desde cero.</a:t>
            </a:r>
          </a:p>
        </p:txBody>
      </p:sp>
      <p:pic>
        <p:nvPicPr>
          <p:cNvPr id="25" name="Picture 24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COMPONENTE 1 · USD 9.500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El Tejido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MVP en 10 días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60350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86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QUÉ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51760"/>
            <a:ext cx="553212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Flujo conversacional completo: pregunta, respuesta, evaluación con LLM, retroalimentación y cierre.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Evaluación con la rúbrica que GHT ya entregó; criterios y pesos sin tocar código.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Cada aporte compilado en Markdown con autoría y trazabilidad.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Consulta de respuestas, calificaciones y Markdown generado.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Página web simple garantizada; WhatsApp se activa al recibir la línea y la tarjeta en Meta (parametrización en 2 días hábiles, sin costo).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73544" y="2057400"/>
            <a:ext cx="4709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47864" y="22402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7864" y="2560320"/>
            <a:ext cx="4206240" cy="778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dirty="0">
                <a:solidFill>
                  <a:srgbClr val="2A2A2C"/>
                </a:solidFill>
                <a:latin typeface="Mulish"/>
              </a:rPr>
              <a:t>1</a:t>
            </a:r>
            <a:r>
              <a:rPr lang="en-US" sz="1250" b="1" dirty="0">
                <a:solidFill>
                  <a:srgbClr val="2A2A2C"/>
                </a:solidFill>
                <a:latin typeface="Mulish"/>
              </a:rPr>
              <a:t>2</a:t>
            </a:r>
            <a:r>
              <a:rPr sz="1250" b="1" dirty="0">
                <a:solidFill>
                  <a:srgbClr val="2A2A2C"/>
                </a:solidFill>
                <a:latin typeface="Mulish"/>
              </a:rPr>
              <a:t> </a:t>
            </a:r>
            <a:r>
              <a:rPr sz="1250" b="1" dirty="0" err="1">
                <a:solidFill>
                  <a:srgbClr val="2A2A2C"/>
                </a:solidFill>
                <a:latin typeface="Mulish"/>
              </a:rPr>
              <a:t>jun</a:t>
            </a:r>
            <a:r>
              <a:rPr sz="1250" b="1" dirty="0">
                <a:solidFill>
                  <a:srgbClr val="2A2A2C"/>
                </a:solidFill>
                <a:latin typeface="Mulish"/>
              </a:rPr>
              <a:t>  </a:t>
            </a:r>
            <a:r>
              <a:rPr sz="1250" b="0" dirty="0">
                <a:solidFill>
                  <a:srgbClr val="3A3A3C"/>
                </a:solidFill>
                <a:latin typeface="Mulish"/>
              </a:rPr>
              <a:t>Kickoff.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dirty="0">
                <a:solidFill>
                  <a:srgbClr val="2A2A2C"/>
                </a:solidFill>
                <a:latin typeface="Mulish"/>
              </a:rPr>
              <a:t>17 </a:t>
            </a:r>
            <a:r>
              <a:rPr sz="1250" b="1" dirty="0" err="1">
                <a:solidFill>
                  <a:srgbClr val="2A2A2C"/>
                </a:solidFill>
                <a:latin typeface="Mulish"/>
              </a:rPr>
              <a:t>jun</a:t>
            </a:r>
            <a:r>
              <a:rPr sz="1250" b="1" dirty="0">
                <a:solidFill>
                  <a:srgbClr val="2A2A2C"/>
                </a:solidFill>
                <a:latin typeface="Mulish"/>
              </a:rPr>
              <a:t>  </a:t>
            </a:r>
            <a:r>
              <a:rPr sz="1250" b="0" dirty="0">
                <a:solidFill>
                  <a:srgbClr val="3A3A3C"/>
                </a:solidFill>
                <a:latin typeface="Mulish"/>
              </a:rPr>
              <a:t>Primera </a:t>
            </a:r>
            <a:r>
              <a:rPr sz="1250" b="0" dirty="0" err="1">
                <a:solidFill>
                  <a:srgbClr val="3A3A3C"/>
                </a:solidFill>
                <a:latin typeface="Mulish"/>
              </a:rPr>
              <a:t>aproximación</a:t>
            </a:r>
            <a:r>
              <a:rPr sz="1250" b="0" dirty="0">
                <a:solidFill>
                  <a:srgbClr val="3A3A3C"/>
                </a:solidFill>
                <a:latin typeface="Mulish"/>
              </a:rPr>
              <a:t> </a:t>
            </a:r>
            <a:r>
              <a:rPr sz="1250" b="0" dirty="0" err="1">
                <a:solidFill>
                  <a:srgbClr val="3A3A3C"/>
                </a:solidFill>
                <a:latin typeface="Mulish"/>
              </a:rPr>
              <a:t>navegable</a:t>
            </a:r>
            <a:r>
              <a:rPr sz="1250" b="0" dirty="0">
                <a:solidFill>
                  <a:srgbClr val="3A3A3C"/>
                </a:solidFill>
                <a:latin typeface="Mulish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dirty="0">
                <a:solidFill>
                  <a:srgbClr val="155FAE"/>
                </a:solidFill>
                <a:latin typeface="Mulish"/>
              </a:rPr>
              <a:t>22 </a:t>
            </a:r>
            <a:r>
              <a:rPr sz="1250" b="1" dirty="0" err="1">
                <a:solidFill>
                  <a:srgbClr val="155FAE"/>
                </a:solidFill>
                <a:latin typeface="Mulish"/>
              </a:rPr>
              <a:t>jun</a:t>
            </a:r>
            <a:r>
              <a:rPr sz="1250" b="1" dirty="0">
                <a:solidFill>
                  <a:srgbClr val="155FAE"/>
                </a:solidFill>
                <a:latin typeface="Mulish"/>
              </a:rPr>
              <a:t>  Primera </a:t>
            </a:r>
            <a:r>
              <a:rPr sz="1250" b="1" dirty="0" err="1">
                <a:solidFill>
                  <a:srgbClr val="155FAE"/>
                </a:solidFill>
                <a:latin typeface="Mulish"/>
              </a:rPr>
              <a:t>versión</a:t>
            </a:r>
            <a:r>
              <a:rPr sz="1250" b="1" dirty="0">
                <a:solidFill>
                  <a:srgbClr val="155FAE"/>
                </a:solidFill>
                <a:latin typeface="Mulish"/>
              </a:rPr>
              <a:t> del MVP.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3544" y="4114800"/>
            <a:ext cx="4709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47864" y="429768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PAGOS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864" y="461772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50 % al kickoff — USD 4.750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50 % a la entrega — USD 4.750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050" b="0">
                <a:solidFill>
                  <a:srgbClr val="8E9093"/>
                </a:solidFill>
                <a:latin typeface="Mulish"/>
              </a:rPr>
              <a:t>Precio cerrado para el alcance definido.</a:t>
            </a:r>
          </a:p>
        </p:txBody>
      </p:sp>
      <p:pic>
        <p:nvPicPr>
          <p:cNvPr id="15" name="Picture 14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COMPONENTE 2 · USD 10.500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Una bolsa para 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nuevos requerimientos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03120"/>
            <a:ext cx="21396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784" y="22677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" y="2743200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Identificación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" y="3200400"/>
            <a:ext cx="177393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GHT identifica el requerimiento y su prioridad.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2752" y="2103120"/>
            <a:ext cx="21396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5632" y="22677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5632" y="2743200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Documento corto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5632" y="3200400"/>
            <a:ext cx="177393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GTA define objetivo, criterios de éxito y horas estimadas.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5600" y="2103120"/>
            <a:ext cx="21396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8480" y="22677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8480" y="2743200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Aprobación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480" y="3200400"/>
            <a:ext cx="177393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El encargado designado por GHT aprueba antes de iniciar.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8448" y="2103120"/>
            <a:ext cx="21396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1328" y="22677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1328" y="2743200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Desarrollo y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1328" y="3200400"/>
            <a:ext cx="177393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El equipo implementa y GHT valida el resultado.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1296" y="2103120"/>
            <a:ext cx="213969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4176" y="2267712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4176" y="2743200"/>
            <a:ext cx="17739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Facturación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4176" y="3200400"/>
            <a:ext cx="177393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Se descuenta de la bolsa solo lo aprobado y entregado.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" y="4663440"/>
            <a:ext cx="10972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904" y="4663440"/>
            <a:ext cx="64008" cy="1280160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2512" y="480974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C8C86"/>
                </a:solidFill>
                <a:latin typeface="Mulish"/>
              </a:rPr>
              <a:t>REGLAS DE LA BOLSA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" y="512064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≈86 horas del equipo a la tarifa de referencia (USD 19.500 / 160 h al mes)  ·  Nada se factura sin aprobación previa  ·  Vigencia: 31 de diciembre de 2026  ·  Si un requerimiento excede el saldo, se cotiza aparte antes de iniciar.</a:t>
            </a:r>
          </a:p>
        </p:txBody>
      </p:sp>
      <p:pic>
        <p:nvPicPr>
          <p:cNvPr id="30" name="Picture 29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CONDICIONES Y COMPROMISOS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Claridad desde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el primer día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CONDICIONES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0604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Durante el MVP la solución opera en infraestructura de GTA; los consumos (Azure, WhatsApp API, LLM) se facturan a GHT con soportes, sin margen.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Para producción, la solución se despliega en infraestructura de GHT.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Cifras en USD; no incluyen impuestos aplicables.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APORTES DE 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0604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1F7A40"/>
                </a:solidFill>
                <a:latin typeface="Mulish"/>
              </a:rPr>
              <a:t>✓  Rúbrica de evaluación — entregada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1F7A40"/>
                </a:solidFill>
                <a:latin typeface="Mulish"/>
              </a:rPr>
              <a:t>✓  Credenciales de la plataforma Meta — entregadas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429000"/>
            <a:ext cx="4800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Línea celular y tarjeta de crédito en la plataforma Meta.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Lista de ~5 usuarios de prueba.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Aprobación de prompts y validación oportuna.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Encargado designado para aprobar requerimientos de la bolsa.</a:t>
            </a:r>
          </a:p>
        </p:txBody>
      </p:sp>
      <p:pic>
        <p:nvPicPr>
          <p:cNvPr id="13" name="Picture 12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Para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esta misma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HOY · 12 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Aprobación del programa Aliado Digital 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6256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4856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856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VIE 13 JUN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4856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Pago del 50 % del MVP y kickoff del sprint.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2608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1208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1208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17 Y 22 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1208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Primera aproximación navegable y primera versión del MVP.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8960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7560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7560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SIGUIENTE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7560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Priorización conjunta del primer requerimiento de la bolsa.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5120640"/>
            <a:ext cx="10972800" cy="777240"/>
          </a:xfrm>
          <a:prstGeom prst="rect">
            <a:avLst/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" y="512064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USD 20.000 que empiezan a producir resultados en 10 días: </a:t>
            </a:r>
            <a:r>
              <a:rPr sz="1350" b="0">
                <a:solidFill>
                  <a:srgbClr val="3A3A3C"/>
                </a:solidFill>
                <a:latin typeface="Mulish"/>
              </a:rPr>
              <a:t>aprobar hoy permite cumplir el 22 de junio.</a:t>
            </a:r>
          </a:p>
        </p:txBody>
      </p:sp>
      <p:pic>
        <p:nvPicPr>
          <p:cNvPr id="24" name="Picture 2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1031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5C5E60"/>
                </a:solidFill>
                <a:latin typeface="Borel"/>
              </a:rPr>
              <a:t>Su aliado digital,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6324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2A2A2C"/>
                </a:solidFill>
                <a:latin typeface="Garet Heavy"/>
              </a:rPr>
              <a:t>desde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206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E7072"/>
                </a:solidFill>
                <a:latin typeface="Poiret One"/>
              </a:rPr>
              <a:t>Gracias por su confianza.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0749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GTA — Global Technology Ally / Aliado TI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55FAE"/>
                </a:solidFill>
                <a:latin typeface="Mulish"/>
              </a:rPr>
              <a:t>jason.perez@aliadoti.com</a:t>
            </a:r>
          </a:p>
        </p:txBody>
      </p:sp>
      <p:pic>
        <p:nvPicPr>
          <p:cNvPr id="8" name="Picture 7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688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Borel</vt:lpstr>
      <vt:lpstr>Calibri</vt:lpstr>
      <vt:lpstr>Garet Heavy</vt:lpstr>
      <vt:lpstr>Mulish</vt:lpstr>
      <vt:lpstr>Poiret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 Perez Carvajal</cp:lastModifiedBy>
  <cp:revision>1</cp:revision>
  <dcterms:created xsi:type="dcterms:W3CDTF">2013-01-27T09:14:16Z</dcterms:created>
  <dcterms:modified xsi:type="dcterms:W3CDTF">2026-06-12T19:59:28Z</dcterms:modified>
  <cp:category/>
</cp:coreProperties>
</file>