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3"/>
  </p:notesMasterIdLst>
  <p:sldIdLst>
    <p:sldId id="258" r:id="rId5"/>
    <p:sldId id="259" r:id="rId6"/>
    <p:sldId id="318" r:id="rId7"/>
    <p:sldId id="326" r:id="rId8"/>
    <p:sldId id="331" r:id="rId9"/>
    <p:sldId id="333" r:id="rId10"/>
    <p:sldId id="327" r:id="rId11"/>
    <p:sldId id="325" r:id="rId12"/>
  </p:sldIdLst>
  <p:sldSz cx="18288000" cy="10287000"/>
  <p:notesSz cx="6858000" cy="9144000"/>
  <p:embeddedFontLst>
    <p:embeddedFont>
      <p:font typeface="Montserrat" panose="00000500000000000000" pitchFamily="2" charset="0"/>
      <p:regular r:id="rId14"/>
      <p:bold r:id="rId15"/>
      <p:italic r:id="rId16"/>
      <p:boldItalic r:id="rId17"/>
    </p:embeddedFont>
    <p:embeddedFont>
      <p:font typeface="Montserrat Black" panose="00000A00000000000000" pitchFamily="2" charset="0"/>
      <p:bold r:id="rId18"/>
      <p:boldItalic r:id="rId19"/>
    </p:embeddedFont>
    <p:embeddedFont>
      <p:font typeface="Now" panose="020B0604020202020204" charset="0"/>
      <p:regular r:id="rId20"/>
    </p:embeddedFont>
    <p:embeddedFont>
      <p:font typeface="Roboto" panose="02000000000000000000" pitchFamily="2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CC"/>
    <a:srgbClr val="FFCC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D2D9B8-0455-4271-BC24-F8843BA9D899}" v="8" dt="2026-06-16T22:56:57.3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061" autoAdjust="0"/>
  </p:normalViewPr>
  <p:slideViewPr>
    <p:cSldViewPr snapToGrid="0">
      <p:cViewPr varScale="1">
        <p:scale>
          <a:sx n="67" d="100"/>
          <a:sy n="67" d="100"/>
        </p:scale>
        <p:origin x="1404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font" Target="fonts/font8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4.fntdata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1.fntdata"/><Relationship Id="rId5" Type="http://schemas.openxmlformats.org/officeDocument/2006/relationships/slide" Target="slides/slide1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son  Perez Carvajal" userId="9ec89740-70a0-453d-be49-31e6d977cdcb" providerId="ADAL" clId="{06509086-0D01-4C73-89C3-5978AB3BDBAB}"/>
    <pc:docChg chg="undo custSel modSld">
      <pc:chgData name="Jason  Perez Carvajal" userId="9ec89740-70a0-453d-be49-31e6d977cdcb" providerId="ADAL" clId="{06509086-0D01-4C73-89C3-5978AB3BDBAB}" dt="2026-06-16T23:01:18.723" v="378" actId="1076"/>
      <pc:docMkLst>
        <pc:docMk/>
      </pc:docMkLst>
      <pc:sldChg chg="modSp mod">
        <pc:chgData name="Jason  Perez Carvajal" userId="9ec89740-70a0-453d-be49-31e6d977cdcb" providerId="ADAL" clId="{06509086-0D01-4C73-89C3-5978AB3BDBAB}" dt="2026-06-16T22:37:39.531" v="29" actId="20577"/>
        <pc:sldMkLst>
          <pc:docMk/>
          <pc:sldMk cId="0" sldId="258"/>
        </pc:sldMkLst>
        <pc:spChg chg="mod">
          <ac:chgData name="Jason  Perez Carvajal" userId="9ec89740-70a0-453d-be49-31e6d977cdcb" providerId="ADAL" clId="{06509086-0D01-4C73-89C3-5978AB3BDBAB}" dt="2026-06-16T22:37:39.531" v="29" actId="20577"/>
          <ac:spMkLst>
            <pc:docMk/>
            <pc:sldMk cId="0" sldId="258"/>
            <ac:spMk id="3" creationId="{6076DED9-1BAD-8956-5F6B-BBFCCE89405F}"/>
          </ac:spMkLst>
        </pc:spChg>
        <pc:spChg chg="mod">
          <ac:chgData name="Jason  Perez Carvajal" userId="9ec89740-70a0-453d-be49-31e6d977cdcb" providerId="ADAL" clId="{06509086-0D01-4C73-89C3-5978AB3BDBAB}" dt="2026-06-12T20:20:32.647" v="5" actId="1076"/>
          <ac:spMkLst>
            <pc:docMk/>
            <pc:sldMk cId="0" sldId="258"/>
            <ac:spMk id="5" creationId="{1946EF8F-BC34-E500-A85A-B48F3C22501A}"/>
          </ac:spMkLst>
        </pc:spChg>
        <pc:picChg chg="mod">
          <ac:chgData name="Jason  Perez Carvajal" userId="9ec89740-70a0-453d-be49-31e6d977cdcb" providerId="ADAL" clId="{06509086-0D01-4C73-89C3-5978AB3BDBAB}" dt="2026-06-12T20:20:31.197" v="4" actId="1076"/>
          <ac:picMkLst>
            <pc:docMk/>
            <pc:sldMk cId="0" sldId="258"/>
            <ac:picMk id="2" creationId="{7DA02766-A33B-3CF4-07F8-25B7554143A5}"/>
          </ac:picMkLst>
        </pc:picChg>
        <pc:picChg chg="mod">
          <ac:chgData name="Jason  Perez Carvajal" userId="9ec89740-70a0-453d-be49-31e6d977cdcb" providerId="ADAL" clId="{06509086-0D01-4C73-89C3-5978AB3BDBAB}" dt="2026-06-12T20:20:44.249" v="6" actId="1076"/>
          <ac:picMkLst>
            <pc:docMk/>
            <pc:sldMk cId="0" sldId="258"/>
            <ac:picMk id="75" creationId="{00000000-0000-0000-0000-000000000000}"/>
          </ac:picMkLst>
        </pc:picChg>
      </pc:sldChg>
      <pc:sldChg chg="modSp mod">
        <pc:chgData name="Jason  Perez Carvajal" userId="9ec89740-70a0-453d-be49-31e6d977cdcb" providerId="ADAL" clId="{06509086-0D01-4C73-89C3-5978AB3BDBAB}" dt="2026-06-16T22:52:43.960" v="304" actId="20577"/>
        <pc:sldMkLst>
          <pc:docMk/>
          <pc:sldMk cId="0" sldId="259"/>
        </pc:sldMkLst>
        <pc:spChg chg="mod">
          <ac:chgData name="Jason  Perez Carvajal" userId="9ec89740-70a0-453d-be49-31e6d977cdcb" providerId="ADAL" clId="{06509086-0D01-4C73-89C3-5978AB3BDBAB}" dt="2026-06-16T22:52:43.960" v="304" actId="20577"/>
          <ac:spMkLst>
            <pc:docMk/>
            <pc:sldMk cId="0" sldId="259"/>
            <ac:spMk id="44" creationId="{1E43E99C-C80A-C82B-95DE-9C6260B4F7C2}"/>
          </ac:spMkLst>
        </pc:spChg>
      </pc:sldChg>
      <pc:sldChg chg="modSp mod">
        <pc:chgData name="Jason  Perez Carvajal" userId="9ec89740-70a0-453d-be49-31e6d977cdcb" providerId="ADAL" clId="{06509086-0D01-4C73-89C3-5978AB3BDBAB}" dt="2026-06-16T22:39:03.097" v="44" actId="6549"/>
        <pc:sldMkLst>
          <pc:docMk/>
          <pc:sldMk cId="325827514" sldId="326"/>
        </pc:sldMkLst>
        <pc:spChg chg="mod">
          <ac:chgData name="Jason  Perez Carvajal" userId="9ec89740-70a0-453d-be49-31e6d977cdcb" providerId="ADAL" clId="{06509086-0D01-4C73-89C3-5978AB3BDBAB}" dt="2026-06-16T22:38:49.309" v="43" actId="6549"/>
          <ac:spMkLst>
            <pc:docMk/>
            <pc:sldMk cId="325827514" sldId="326"/>
            <ac:spMk id="24" creationId="{E11FAB15-A501-4A48-8AF4-259CFA8BA89C}"/>
          </ac:spMkLst>
        </pc:spChg>
        <pc:spChg chg="mod">
          <ac:chgData name="Jason  Perez Carvajal" userId="9ec89740-70a0-453d-be49-31e6d977cdcb" providerId="ADAL" clId="{06509086-0D01-4C73-89C3-5978AB3BDBAB}" dt="2026-06-16T22:39:03.097" v="44" actId="6549"/>
          <ac:spMkLst>
            <pc:docMk/>
            <pc:sldMk cId="325827514" sldId="326"/>
            <ac:spMk id="30" creationId="{F560994C-1AFA-D4F0-1390-5D2B70512B07}"/>
          </ac:spMkLst>
        </pc:spChg>
      </pc:sldChg>
      <pc:sldChg chg="modSp mod">
        <pc:chgData name="Jason  Perez Carvajal" userId="9ec89740-70a0-453d-be49-31e6d977cdcb" providerId="ADAL" clId="{06509086-0D01-4C73-89C3-5978AB3BDBAB}" dt="2026-06-16T22:49:20.115" v="236" actId="20577"/>
        <pc:sldMkLst>
          <pc:docMk/>
          <pc:sldMk cId="3896910085" sldId="327"/>
        </pc:sldMkLst>
        <pc:spChg chg="mod">
          <ac:chgData name="Jason  Perez Carvajal" userId="9ec89740-70a0-453d-be49-31e6d977cdcb" providerId="ADAL" clId="{06509086-0D01-4C73-89C3-5978AB3BDBAB}" dt="2026-06-16T22:49:20.115" v="236" actId="20577"/>
          <ac:spMkLst>
            <pc:docMk/>
            <pc:sldMk cId="3896910085" sldId="327"/>
            <ac:spMk id="3" creationId="{66AFEBB7-45BA-8614-BE10-AC45F3833497}"/>
          </ac:spMkLst>
        </pc:spChg>
        <pc:spChg chg="mod">
          <ac:chgData name="Jason  Perez Carvajal" userId="9ec89740-70a0-453d-be49-31e6d977cdcb" providerId="ADAL" clId="{06509086-0D01-4C73-89C3-5978AB3BDBAB}" dt="2026-06-16T22:48:48.074" v="174" actId="20577"/>
          <ac:spMkLst>
            <pc:docMk/>
            <pc:sldMk cId="3896910085" sldId="327"/>
            <ac:spMk id="17" creationId="{2C8375F9-036C-58A1-7D6B-13CC8568FE1C}"/>
          </ac:spMkLst>
        </pc:spChg>
      </pc:sldChg>
      <pc:sldChg chg="modSp mod">
        <pc:chgData name="Jason  Perez Carvajal" userId="9ec89740-70a0-453d-be49-31e6d977cdcb" providerId="ADAL" clId="{06509086-0D01-4C73-89C3-5978AB3BDBAB}" dt="2026-06-16T22:41:30.900" v="167" actId="20577"/>
        <pc:sldMkLst>
          <pc:docMk/>
          <pc:sldMk cId="1927008196" sldId="331"/>
        </pc:sldMkLst>
        <pc:spChg chg="mod">
          <ac:chgData name="Jason  Perez Carvajal" userId="9ec89740-70a0-453d-be49-31e6d977cdcb" providerId="ADAL" clId="{06509086-0D01-4C73-89C3-5978AB3BDBAB}" dt="2026-06-16T22:41:30.900" v="167" actId="20577"/>
          <ac:spMkLst>
            <pc:docMk/>
            <pc:sldMk cId="1927008196" sldId="331"/>
            <ac:spMk id="2" creationId="{90F70F5B-A6D2-347F-DA08-2E99D23A6C0E}"/>
          </ac:spMkLst>
        </pc:spChg>
      </pc:sldChg>
      <pc:sldChg chg="delSp modSp mod">
        <pc:chgData name="Jason  Perez Carvajal" userId="9ec89740-70a0-453d-be49-31e6d977cdcb" providerId="ADAL" clId="{06509086-0D01-4C73-89C3-5978AB3BDBAB}" dt="2026-06-16T23:01:18.723" v="378" actId="1076"/>
        <pc:sldMkLst>
          <pc:docMk/>
          <pc:sldMk cId="4033552105" sldId="333"/>
        </pc:sldMkLst>
        <pc:spChg chg="mod">
          <ac:chgData name="Jason  Perez Carvajal" userId="9ec89740-70a0-453d-be49-31e6d977cdcb" providerId="ADAL" clId="{06509086-0D01-4C73-89C3-5978AB3BDBAB}" dt="2026-06-16T23:01:18.723" v="378" actId="1076"/>
          <ac:spMkLst>
            <pc:docMk/>
            <pc:sldMk cId="4033552105" sldId="333"/>
            <ac:spMk id="4" creationId="{B8048DD6-CD96-F36C-DF04-1387FA9D1A8F}"/>
          </ac:spMkLst>
        </pc:spChg>
        <pc:spChg chg="del">
          <ac:chgData name="Jason  Perez Carvajal" userId="9ec89740-70a0-453d-be49-31e6d977cdcb" providerId="ADAL" clId="{06509086-0D01-4C73-89C3-5978AB3BDBAB}" dt="2026-06-16T22:55:23.488" v="350" actId="478"/>
          <ac:spMkLst>
            <pc:docMk/>
            <pc:sldMk cId="4033552105" sldId="333"/>
            <ac:spMk id="10" creationId="{F0753763-1915-756D-AF1F-EE5054CBBD62}"/>
          </ac:spMkLst>
        </pc:spChg>
        <pc:spChg chg="del">
          <ac:chgData name="Jason  Perez Carvajal" userId="9ec89740-70a0-453d-be49-31e6d977cdcb" providerId="ADAL" clId="{06509086-0D01-4C73-89C3-5978AB3BDBAB}" dt="2026-06-16T22:55:26.010" v="351" actId="478"/>
          <ac:spMkLst>
            <pc:docMk/>
            <pc:sldMk cId="4033552105" sldId="333"/>
            <ac:spMk id="11" creationId="{E784F8BC-2876-1079-1B09-C9D8C9020DE1}"/>
          </ac:spMkLst>
        </pc:spChg>
        <pc:spChg chg="mod">
          <ac:chgData name="Jason  Perez Carvajal" userId="9ec89740-70a0-453d-be49-31e6d977cdcb" providerId="ADAL" clId="{06509086-0D01-4C73-89C3-5978AB3BDBAB}" dt="2026-06-16T23:01:18.723" v="378" actId="1076"/>
          <ac:spMkLst>
            <pc:docMk/>
            <pc:sldMk cId="4033552105" sldId="333"/>
            <ac:spMk id="16" creationId="{C2DAA09A-CFCB-534C-8B57-C78CF9F95ED3}"/>
          </ac:spMkLst>
        </pc:spChg>
        <pc:grpChg chg="del">
          <ac:chgData name="Jason  Perez Carvajal" userId="9ec89740-70a0-453d-be49-31e6d977cdcb" providerId="ADAL" clId="{06509086-0D01-4C73-89C3-5978AB3BDBAB}" dt="2026-06-16T22:55:50.575" v="352" actId="478"/>
          <ac:grpSpMkLst>
            <pc:docMk/>
            <pc:sldMk cId="4033552105" sldId="333"/>
            <ac:grpSpMk id="17" creationId="{6B80B71C-78C3-C181-3C2E-5027FEFBB985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421D40-0682-4313-A882-0E6176BD8631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2E3D20-D0C3-486F-A347-9CB96DC3F661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40157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E3D20-D0C3-486F-A347-9CB96DC3F661}" type="slidenum">
              <a:rPr lang="es-CO" smtClean="0"/>
              <a:t>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90305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Antes de cerrar, hay un punto de equilibrio que me gustaría dejar planteado, no para resolverlo todo hoy, sino para que partamos bien alineados.</a:t>
            </a:r>
          </a:p>
          <a:p>
            <a:endParaRPr lang="es-ES" dirty="0"/>
          </a:p>
          <a:p>
            <a:r>
              <a:rPr lang="es-ES" dirty="0"/>
              <a:t>l sistema que existe hoy es más grande de lo que se contrató originalmente, y eso implicó un esfuerzo adicional de nuestro lado.</a:t>
            </a:r>
          </a:p>
          <a:p>
            <a:r>
              <a:rPr lang="es-ES" dirty="0"/>
              <a:t>No estamos pidiendo reabrir eso ni cobrarlo como pasado.</a:t>
            </a:r>
            <a:br>
              <a:rPr lang="es-ES" dirty="0"/>
            </a:br>
            <a:r>
              <a:rPr lang="es-ES" dirty="0"/>
              <a:t>Lo que sí queremos es definir cómo arrancamos la siguiente etapa sin volver a quedar desalineados.</a:t>
            </a:r>
          </a:p>
          <a:p>
            <a:r>
              <a:rPr lang="es-ES" dirty="0"/>
              <a:t>Una opción es arrancar con un margen operativo un poco mayor al inicio —por ejemplo vía un NTE más alto por un período corto— y luego normalizarlo.</a:t>
            </a:r>
          </a:p>
          <a:p>
            <a:r>
              <a:rPr lang="es-ES" dirty="0"/>
              <a:t>Si eso no es viable, entonces lo crítico es que el modelo nuevo tenga límites claros y control real de alcance.</a:t>
            </a:r>
          </a:p>
          <a:p>
            <a:endParaRPr lang="es-ES"/>
          </a:p>
          <a:p>
            <a:endParaRPr lang="es-ES" dirty="0"/>
          </a:p>
          <a:p>
            <a:r>
              <a:rPr lang="es-ES" dirty="0"/>
              <a:t>el sistema que Falcon tiene hoy </a:t>
            </a:r>
            <a:r>
              <a:rPr lang="es-ES" b="1" dirty="0"/>
              <a:t>no es el sistema que se contrató originalmente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/>
              <a:t>Es más amplio, más estratégico y más valioso.</a:t>
            </a:r>
          </a:p>
          <a:p>
            <a:r>
              <a:rPr lang="es-ES" dirty="0"/>
              <a:t>Para que Falcon pudiera llegar a este punto sin frenar el proyecto, nosotros absorbimos un esfuerzo adicional significativo que no estaba en el alcance inicial. </a:t>
            </a:r>
          </a:p>
          <a:p>
            <a:r>
              <a:rPr lang="es-ES" dirty="0"/>
              <a:t>Por eso, más que mirar hacia atrás, lo que proponemos es que ese esfuerzo </a:t>
            </a:r>
            <a:r>
              <a:rPr lang="es-ES" b="1" dirty="0"/>
              <a:t>no quede invisible</a:t>
            </a:r>
            <a:r>
              <a:rPr lang="es-ES" dirty="0"/>
              <a:t> y que el nuevo modelo arranque con un margen operativo mayor durante los primeros meses.</a:t>
            </a:r>
          </a:p>
          <a:p>
            <a:endParaRPr lang="es-ES" dirty="0"/>
          </a:p>
          <a:p>
            <a:r>
              <a:rPr lang="es-ES" dirty="0"/>
              <a:t>Dicho esto, ¿estamos alineados para avanzar con este modelo y cerrar la propuesta?</a:t>
            </a:r>
          </a:p>
          <a:p>
            <a:endParaRPr lang="es-ES" dirty="0"/>
          </a:p>
          <a:p>
            <a:r>
              <a:rPr lang="es-ES" dirty="0"/>
              <a:t>Entiendo.</a:t>
            </a:r>
          </a:p>
          <a:p>
            <a:r>
              <a:rPr lang="es-ES" dirty="0"/>
              <a:t>Entonces asegurémonos de que el modelo nuevo realmente evite que volvamos a quedar desalineados.</a:t>
            </a:r>
          </a:p>
          <a:p>
            <a:r>
              <a:rPr lang="es-ES" dirty="0"/>
              <a:t>Si estamos alineados ahí, avancemos.</a:t>
            </a:r>
            <a:endParaRPr lang="es-C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E3D20-D0C3-486F-A347-9CB96DC3F661}" type="slidenum">
              <a:rPr lang="es-CO" smtClean="0"/>
              <a:t>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708232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Este modelo busca asegurar valor oportuno al negocio, sin perder control ni repetir los riesgos del pasado.</a:t>
            </a:r>
            <a:endParaRPr lang="es-C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2E3D20-D0C3-486F-A347-9CB96DC3F661}" type="slidenum">
              <a:rPr lang="es-CO" smtClean="0"/>
              <a:t>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97966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Google Shape;96;p19">
            <a:extLst>
              <a:ext uri="{FF2B5EF4-FFF2-40B4-BE49-F238E27FC236}">
                <a16:creationId xmlns:a16="http://schemas.microsoft.com/office/drawing/2014/main" id="{E5276FE6-B2DF-3598-920F-32BD08AD1E31}"/>
              </a:ext>
            </a:extLst>
          </p:cNvPr>
          <p:cNvSpPr txBox="1"/>
          <p:nvPr userDrawn="1"/>
        </p:nvSpPr>
        <p:spPr>
          <a:xfrm>
            <a:off x="11887200" y="9919780"/>
            <a:ext cx="4953000" cy="404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300" tIns="92300" rIns="92300" bIns="92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900" b="0" i="0" u="none" strike="noStrike" cap="none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Propiedad </a:t>
            </a:r>
            <a:r>
              <a:rPr lang="es-CO" sz="900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Global </a:t>
            </a:r>
            <a:r>
              <a:rPr lang="es-CO" sz="900" err="1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Technology</a:t>
            </a:r>
            <a:r>
              <a:rPr lang="es-CO" sz="900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 Ally I</a:t>
            </a:r>
            <a:r>
              <a:rPr lang="en" sz="900" b="0" i="0" u="none" strike="noStrike" cap="none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 Información Confidencial</a:t>
            </a:r>
            <a:endParaRPr sz="900" b="0" i="0" u="none" strike="noStrike" cap="none">
              <a:solidFill>
                <a:srgbClr val="9090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" name="Google Shape;93;p19">
            <a:extLst>
              <a:ext uri="{FF2B5EF4-FFF2-40B4-BE49-F238E27FC236}">
                <a16:creationId xmlns:a16="http://schemas.microsoft.com/office/drawing/2014/main" id="{7070AD44-518D-2B84-093D-A1BA5F1F3387}"/>
              </a:ext>
            </a:extLst>
          </p:cNvPr>
          <p:cNvCxnSpPr>
            <a:cxnSpLocks/>
          </p:cNvCxnSpPr>
          <p:nvPr userDrawn="1"/>
        </p:nvCxnSpPr>
        <p:spPr>
          <a:xfrm>
            <a:off x="17311027" y="9530599"/>
            <a:ext cx="0" cy="626534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65000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9" name="Picture 6" descr="June 28th, 2024. – Falcon Farms">
            <a:extLst>
              <a:ext uri="{FF2B5EF4-FFF2-40B4-BE49-F238E27FC236}">
                <a16:creationId xmlns:a16="http://schemas.microsoft.com/office/drawing/2014/main" id="{620C4036-5346-AC07-01F8-82B30CE17F1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0500"/>
          <a:stretch/>
        </p:blipFill>
        <p:spPr bwMode="auto">
          <a:xfrm>
            <a:off x="16549027" y="9565751"/>
            <a:ext cx="582346" cy="556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n 9" descr="Icono&#10;&#10;El contenido generado por IA puede ser incorrecto.">
            <a:extLst>
              <a:ext uri="{FF2B5EF4-FFF2-40B4-BE49-F238E27FC236}">
                <a16:creationId xmlns:a16="http://schemas.microsoft.com/office/drawing/2014/main" id="{B50B3271-B0E9-1EE7-9EF9-30A48B610C7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463427" y="9530599"/>
            <a:ext cx="626534" cy="62653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Google Shape;96;p19">
            <a:extLst>
              <a:ext uri="{FF2B5EF4-FFF2-40B4-BE49-F238E27FC236}">
                <a16:creationId xmlns:a16="http://schemas.microsoft.com/office/drawing/2014/main" id="{43E8A497-5A87-CB52-1FBE-C43BF14027ED}"/>
              </a:ext>
            </a:extLst>
          </p:cNvPr>
          <p:cNvSpPr txBox="1"/>
          <p:nvPr userDrawn="1"/>
        </p:nvSpPr>
        <p:spPr>
          <a:xfrm>
            <a:off x="11887200" y="9919780"/>
            <a:ext cx="4953000" cy="404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300" tIns="92300" rIns="92300" bIns="92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900" b="0" i="0" u="none" strike="noStrike" cap="none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Propiedad </a:t>
            </a:r>
            <a:r>
              <a:rPr lang="es-CO" sz="900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Global </a:t>
            </a:r>
            <a:r>
              <a:rPr lang="es-CO" sz="900" err="1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Technology</a:t>
            </a:r>
            <a:r>
              <a:rPr lang="es-CO" sz="900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 Ally I</a:t>
            </a:r>
            <a:r>
              <a:rPr lang="en" sz="900" b="0" i="0" u="none" strike="noStrike" cap="none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 Información Confidencial</a:t>
            </a:r>
            <a:endParaRPr sz="900" b="0" i="0" u="none" strike="noStrike" cap="none">
              <a:solidFill>
                <a:srgbClr val="9090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" name="Google Shape;93;p19">
            <a:extLst>
              <a:ext uri="{FF2B5EF4-FFF2-40B4-BE49-F238E27FC236}">
                <a16:creationId xmlns:a16="http://schemas.microsoft.com/office/drawing/2014/main" id="{C5B24A32-836F-1EC3-F9C4-92A7967B35D5}"/>
              </a:ext>
            </a:extLst>
          </p:cNvPr>
          <p:cNvCxnSpPr>
            <a:cxnSpLocks/>
          </p:cNvCxnSpPr>
          <p:nvPr userDrawn="1"/>
        </p:nvCxnSpPr>
        <p:spPr>
          <a:xfrm>
            <a:off x="17311027" y="9530599"/>
            <a:ext cx="0" cy="626534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65000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9" name="Picture 6" descr="June 28th, 2024. – Falcon Farms">
            <a:extLst>
              <a:ext uri="{FF2B5EF4-FFF2-40B4-BE49-F238E27FC236}">
                <a16:creationId xmlns:a16="http://schemas.microsoft.com/office/drawing/2014/main" id="{13B4BD46-A4CD-2522-F39D-0794BFA601A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16256630" y="9721496"/>
            <a:ext cx="874743" cy="400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n 9" descr="Icono&#10;&#10;El contenido generado por IA puede ser incorrecto.">
            <a:extLst>
              <a:ext uri="{FF2B5EF4-FFF2-40B4-BE49-F238E27FC236}">
                <a16:creationId xmlns:a16="http://schemas.microsoft.com/office/drawing/2014/main" id="{D8906E50-C6F0-3B48-FCC3-AA4B0EE3636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463427" y="9530599"/>
            <a:ext cx="626534" cy="62653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Google Shape;96;p19">
            <a:extLst>
              <a:ext uri="{FF2B5EF4-FFF2-40B4-BE49-F238E27FC236}">
                <a16:creationId xmlns:a16="http://schemas.microsoft.com/office/drawing/2014/main" id="{21B2739B-8020-0ACC-48D7-A2E21AE810D3}"/>
              </a:ext>
            </a:extLst>
          </p:cNvPr>
          <p:cNvSpPr txBox="1"/>
          <p:nvPr userDrawn="1"/>
        </p:nvSpPr>
        <p:spPr>
          <a:xfrm>
            <a:off x="11887200" y="9919780"/>
            <a:ext cx="4953000" cy="404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300" tIns="92300" rIns="92300" bIns="92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900" b="0" i="0" u="none" strike="noStrike" cap="none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Propiedad </a:t>
            </a:r>
            <a:r>
              <a:rPr lang="es-CO" sz="900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Global </a:t>
            </a:r>
            <a:r>
              <a:rPr lang="es-CO" sz="900" err="1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Technology</a:t>
            </a:r>
            <a:r>
              <a:rPr lang="es-CO" sz="900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 Ally I</a:t>
            </a:r>
            <a:r>
              <a:rPr lang="en" sz="900" b="0" i="0" u="none" strike="noStrike" cap="none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 Información Confidencial</a:t>
            </a:r>
            <a:endParaRPr sz="900" b="0" i="0" u="none" strike="noStrike" cap="none">
              <a:solidFill>
                <a:srgbClr val="9090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" name="Google Shape;93;p19">
            <a:extLst>
              <a:ext uri="{FF2B5EF4-FFF2-40B4-BE49-F238E27FC236}">
                <a16:creationId xmlns:a16="http://schemas.microsoft.com/office/drawing/2014/main" id="{0B8E2720-400B-ADF7-F9FE-B3D741ED21FF}"/>
              </a:ext>
            </a:extLst>
          </p:cNvPr>
          <p:cNvCxnSpPr>
            <a:cxnSpLocks/>
          </p:cNvCxnSpPr>
          <p:nvPr userDrawn="1"/>
        </p:nvCxnSpPr>
        <p:spPr>
          <a:xfrm>
            <a:off x="17311027" y="9530599"/>
            <a:ext cx="0" cy="626534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65000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9" name="Picture 6" descr="June 28th, 2024. – Falcon Farms">
            <a:extLst>
              <a:ext uri="{FF2B5EF4-FFF2-40B4-BE49-F238E27FC236}">
                <a16:creationId xmlns:a16="http://schemas.microsoft.com/office/drawing/2014/main" id="{5D90F3F4-1612-3E89-F08E-CF3BDD9B8C31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0500"/>
          <a:stretch/>
        </p:blipFill>
        <p:spPr bwMode="auto">
          <a:xfrm>
            <a:off x="16549027" y="9565751"/>
            <a:ext cx="582346" cy="556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n 9" descr="Icono&#10;&#10;El contenido generado por IA puede ser incorrecto.">
            <a:extLst>
              <a:ext uri="{FF2B5EF4-FFF2-40B4-BE49-F238E27FC236}">
                <a16:creationId xmlns:a16="http://schemas.microsoft.com/office/drawing/2014/main" id="{ED2718C4-6C08-071F-8F07-1681318B847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463427" y="9530599"/>
            <a:ext cx="626534" cy="62653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Google Shape;96;p19">
            <a:extLst>
              <a:ext uri="{FF2B5EF4-FFF2-40B4-BE49-F238E27FC236}">
                <a16:creationId xmlns:a16="http://schemas.microsoft.com/office/drawing/2014/main" id="{A5FE9B24-6A7E-B612-476E-BDB3D8347413}"/>
              </a:ext>
            </a:extLst>
          </p:cNvPr>
          <p:cNvSpPr txBox="1"/>
          <p:nvPr userDrawn="1"/>
        </p:nvSpPr>
        <p:spPr>
          <a:xfrm>
            <a:off x="11887200" y="9919780"/>
            <a:ext cx="4953000" cy="404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300" tIns="92300" rIns="92300" bIns="92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900" b="0" i="0" u="none" strike="noStrike" cap="none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Propiedad </a:t>
            </a:r>
            <a:r>
              <a:rPr lang="es-CO" sz="900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Global </a:t>
            </a:r>
            <a:r>
              <a:rPr lang="es-CO" sz="900" err="1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Technology</a:t>
            </a:r>
            <a:r>
              <a:rPr lang="es-CO" sz="900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 Ally I</a:t>
            </a:r>
            <a:r>
              <a:rPr lang="en" sz="900" b="0" i="0" u="none" strike="noStrike" cap="none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 Información Confidencial</a:t>
            </a:r>
            <a:endParaRPr sz="900" b="0" i="0" u="none" strike="noStrike" cap="none">
              <a:solidFill>
                <a:srgbClr val="9090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" name="Google Shape;93;p19">
            <a:extLst>
              <a:ext uri="{FF2B5EF4-FFF2-40B4-BE49-F238E27FC236}">
                <a16:creationId xmlns:a16="http://schemas.microsoft.com/office/drawing/2014/main" id="{345EC541-358A-EE88-6BAE-53024AE10ADB}"/>
              </a:ext>
            </a:extLst>
          </p:cNvPr>
          <p:cNvCxnSpPr>
            <a:cxnSpLocks/>
          </p:cNvCxnSpPr>
          <p:nvPr userDrawn="1"/>
        </p:nvCxnSpPr>
        <p:spPr>
          <a:xfrm>
            <a:off x="17311027" y="9530599"/>
            <a:ext cx="0" cy="626534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65000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0" name="Picture 6" descr="June 28th, 2024. – Falcon Farms">
            <a:extLst>
              <a:ext uri="{FF2B5EF4-FFF2-40B4-BE49-F238E27FC236}">
                <a16:creationId xmlns:a16="http://schemas.microsoft.com/office/drawing/2014/main" id="{719EC740-9E7F-03F8-06D7-CC36D9A8247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0500"/>
          <a:stretch/>
        </p:blipFill>
        <p:spPr bwMode="auto">
          <a:xfrm>
            <a:off x="16549027" y="9565751"/>
            <a:ext cx="582346" cy="556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n 10" descr="Icono&#10;&#10;El contenido generado por IA puede ser incorrecto.">
            <a:extLst>
              <a:ext uri="{FF2B5EF4-FFF2-40B4-BE49-F238E27FC236}">
                <a16:creationId xmlns:a16="http://schemas.microsoft.com/office/drawing/2014/main" id="{04CF4EED-AA99-67C6-7E33-9670FC80601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463427" y="9530599"/>
            <a:ext cx="626534" cy="62653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Google Shape;96;p19">
            <a:extLst>
              <a:ext uri="{FF2B5EF4-FFF2-40B4-BE49-F238E27FC236}">
                <a16:creationId xmlns:a16="http://schemas.microsoft.com/office/drawing/2014/main" id="{F1D257D3-CFA1-D761-50C8-F93BF3C7E77B}"/>
              </a:ext>
            </a:extLst>
          </p:cNvPr>
          <p:cNvSpPr txBox="1"/>
          <p:nvPr userDrawn="1"/>
        </p:nvSpPr>
        <p:spPr>
          <a:xfrm>
            <a:off x="11887200" y="9919780"/>
            <a:ext cx="4953000" cy="404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300" tIns="92300" rIns="92300" bIns="92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900" b="0" i="0" u="none" strike="noStrike" cap="none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Propiedad </a:t>
            </a:r>
            <a:r>
              <a:rPr lang="es-CO" sz="900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Global </a:t>
            </a:r>
            <a:r>
              <a:rPr lang="es-CO" sz="900" err="1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Technology</a:t>
            </a:r>
            <a:r>
              <a:rPr lang="es-CO" sz="900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 Ally I</a:t>
            </a:r>
            <a:r>
              <a:rPr lang="en" sz="900" b="0" i="0" u="none" strike="noStrike" cap="none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 Información Confidencial</a:t>
            </a:r>
            <a:endParaRPr sz="900" b="0" i="0" u="none" strike="noStrike" cap="none">
              <a:solidFill>
                <a:srgbClr val="9090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" name="Google Shape;93;p19">
            <a:extLst>
              <a:ext uri="{FF2B5EF4-FFF2-40B4-BE49-F238E27FC236}">
                <a16:creationId xmlns:a16="http://schemas.microsoft.com/office/drawing/2014/main" id="{29FD5CD3-0496-FC1F-6C43-D74CFDB36980}"/>
              </a:ext>
            </a:extLst>
          </p:cNvPr>
          <p:cNvCxnSpPr>
            <a:cxnSpLocks/>
          </p:cNvCxnSpPr>
          <p:nvPr userDrawn="1"/>
        </p:nvCxnSpPr>
        <p:spPr>
          <a:xfrm>
            <a:off x="17311027" y="9530599"/>
            <a:ext cx="0" cy="626534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65000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2" name="Picture 6" descr="June 28th, 2024. – Falcon Farms">
            <a:extLst>
              <a:ext uri="{FF2B5EF4-FFF2-40B4-BE49-F238E27FC236}">
                <a16:creationId xmlns:a16="http://schemas.microsoft.com/office/drawing/2014/main" id="{D1A13722-9282-5D9E-9D82-95D391CEBA69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0500"/>
          <a:stretch/>
        </p:blipFill>
        <p:spPr bwMode="auto">
          <a:xfrm>
            <a:off x="16549027" y="9565751"/>
            <a:ext cx="582346" cy="556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n 12" descr="Icono&#10;&#10;El contenido generado por IA puede ser incorrecto.">
            <a:extLst>
              <a:ext uri="{FF2B5EF4-FFF2-40B4-BE49-F238E27FC236}">
                <a16:creationId xmlns:a16="http://schemas.microsoft.com/office/drawing/2014/main" id="{8852BE15-5F24-E389-4E57-07CEF182156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463427" y="9530599"/>
            <a:ext cx="626534" cy="62653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Google Shape;96;p19">
            <a:extLst>
              <a:ext uri="{FF2B5EF4-FFF2-40B4-BE49-F238E27FC236}">
                <a16:creationId xmlns:a16="http://schemas.microsoft.com/office/drawing/2014/main" id="{8A5063D0-D2BE-7ECD-3780-A557312D8035}"/>
              </a:ext>
            </a:extLst>
          </p:cNvPr>
          <p:cNvSpPr txBox="1"/>
          <p:nvPr userDrawn="1"/>
        </p:nvSpPr>
        <p:spPr>
          <a:xfrm>
            <a:off x="11887200" y="9919780"/>
            <a:ext cx="4953000" cy="404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300" tIns="92300" rIns="92300" bIns="92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900" b="0" i="0" u="none" strike="noStrike" cap="none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Propiedad </a:t>
            </a:r>
            <a:r>
              <a:rPr lang="es-CO" sz="900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Global </a:t>
            </a:r>
            <a:r>
              <a:rPr lang="es-CO" sz="900" err="1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Technology</a:t>
            </a:r>
            <a:r>
              <a:rPr lang="es-CO" sz="900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 Ally I</a:t>
            </a:r>
            <a:r>
              <a:rPr lang="en" sz="900" b="0" i="0" u="none" strike="noStrike" cap="none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 Información Confidencial</a:t>
            </a:r>
            <a:endParaRPr sz="900" b="0" i="0" u="none" strike="noStrike" cap="none">
              <a:solidFill>
                <a:srgbClr val="9090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" name="Google Shape;93;p19">
            <a:extLst>
              <a:ext uri="{FF2B5EF4-FFF2-40B4-BE49-F238E27FC236}">
                <a16:creationId xmlns:a16="http://schemas.microsoft.com/office/drawing/2014/main" id="{FA541486-35EB-F23D-46D2-1367BA5AC88D}"/>
              </a:ext>
            </a:extLst>
          </p:cNvPr>
          <p:cNvCxnSpPr>
            <a:cxnSpLocks/>
          </p:cNvCxnSpPr>
          <p:nvPr userDrawn="1"/>
        </p:nvCxnSpPr>
        <p:spPr>
          <a:xfrm>
            <a:off x="17311027" y="9530599"/>
            <a:ext cx="0" cy="626534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65000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8" name="Picture 6" descr="June 28th, 2024. – Falcon Farms">
            <a:extLst>
              <a:ext uri="{FF2B5EF4-FFF2-40B4-BE49-F238E27FC236}">
                <a16:creationId xmlns:a16="http://schemas.microsoft.com/office/drawing/2014/main" id="{73309116-5DD9-A4A3-3382-EC9F24DABEC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0500"/>
          <a:stretch/>
        </p:blipFill>
        <p:spPr bwMode="auto">
          <a:xfrm>
            <a:off x="16549027" y="9565751"/>
            <a:ext cx="582346" cy="556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n 8" descr="Icono&#10;&#10;El contenido generado por IA puede ser incorrecto.">
            <a:extLst>
              <a:ext uri="{FF2B5EF4-FFF2-40B4-BE49-F238E27FC236}">
                <a16:creationId xmlns:a16="http://schemas.microsoft.com/office/drawing/2014/main" id="{59CB29A2-972F-48A8-5D9C-9E998D1DE5B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463427" y="9530599"/>
            <a:ext cx="626534" cy="62653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Google Shape;96;p19">
            <a:extLst>
              <a:ext uri="{FF2B5EF4-FFF2-40B4-BE49-F238E27FC236}">
                <a16:creationId xmlns:a16="http://schemas.microsoft.com/office/drawing/2014/main" id="{530FC4D9-3D33-3DF6-40B3-A77C38E15D8A}"/>
              </a:ext>
            </a:extLst>
          </p:cNvPr>
          <p:cNvSpPr txBox="1"/>
          <p:nvPr userDrawn="1"/>
        </p:nvSpPr>
        <p:spPr>
          <a:xfrm>
            <a:off x="11887200" y="9919780"/>
            <a:ext cx="4953000" cy="404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300" tIns="92300" rIns="92300" bIns="92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900" b="0" i="0" u="none" strike="noStrike" cap="none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Propiedad </a:t>
            </a:r>
            <a:r>
              <a:rPr lang="es-CO" sz="900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Global </a:t>
            </a:r>
            <a:r>
              <a:rPr lang="es-CO" sz="900" err="1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Technology</a:t>
            </a:r>
            <a:r>
              <a:rPr lang="es-CO" sz="900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 Ally I</a:t>
            </a:r>
            <a:r>
              <a:rPr lang="en" sz="900" b="0" i="0" u="none" strike="noStrike" cap="none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 Información Confidencial</a:t>
            </a:r>
            <a:endParaRPr sz="900" b="0" i="0" u="none" strike="noStrike" cap="none">
              <a:solidFill>
                <a:srgbClr val="9090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6" name="Google Shape;93;p19">
            <a:extLst>
              <a:ext uri="{FF2B5EF4-FFF2-40B4-BE49-F238E27FC236}">
                <a16:creationId xmlns:a16="http://schemas.microsoft.com/office/drawing/2014/main" id="{6290690C-0DA2-4587-DEDE-EBE1A9153436}"/>
              </a:ext>
            </a:extLst>
          </p:cNvPr>
          <p:cNvCxnSpPr>
            <a:cxnSpLocks/>
          </p:cNvCxnSpPr>
          <p:nvPr userDrawn="1"/>
        </p:nvCxnSpPr>
        <p:spPr>
          <a:xfrm>
            <a:off x="17311027" y="9530599"/>
            <a:ext cx="0" cy="626534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65000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7" name="Picture 6" descr="June 28th, 2024. – Falcon Farms">
            <a:extLst>
              <a:ext uri="{FF2B5EF4-FFF2-40B4-BE49-F238E27FC236}">
                <a16:creationId xmlns:a16="http://schemas.microsoft.com/office/drawing/2014/main" id="{21C4CB34-772F-DD0B-73FC-4CA399A7F1D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16256630" y="9721496"/>
            <a:ext cx="874743" cy="400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 descr="Icono&#10;&#10;El contenido generado por IA puede ser incorrecto.">
            <a:extLst>
              <a:ext uri="{FF2B5EF4-FFF2-40B4-BE49-F238E27FC236}">
                <a16:creationId xmlns:a16="http://schemas.microsoft.com/office/drawing/2014/main" id="{EA9DF23A-A0CA-4DD7-F680-C4D9573CE9A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463427" y="9530599"/>
            <a:ext cx="626534" cy="62653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Google Shape;96;p19">
            <a:extLst>
              <a:ext uri="{FF2B5EF4-FFF2-40B4-BE49-F238E27FC236}">
                <a16:creationId xmlns:a16="http://schemas.microsoft.com/office/drawing/2014/main" id="{E5D43771-E935-3775-95AE-558DD310B691}"/>
              </a:ext>
            </a:extLst>
          </p:cNvPr>
          <p:cNvSpPr txBox="1"/>
          <p:nvPr userDrawn="1"/>
        </p:nvSpPr>
        <p:spPr>
          <a:xfrm>
            <a:off x="11887200" y="9919780"/>
            <a:ext cx="4953000" cy="404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300" tIns="92300" rIns="92300" bIns="92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900" b="0" i="0" u="none" strike="noStrike" cap="none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Propiedad </a:t>
            </a:r>
            <a:r>
              <a:rPr lang="es-CO" sz="900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Global </a:t>
            </a:r>
            <a:r>
              <a:rPr lang="es-CO" sz="900" err="1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Technology</a:t>
            </a:r>
            <a:r>
              <a:rPr lang="es-CO" sz="900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 Ally I</a:t>
            </a:r>
            <a:r>
              <a:rPr lang="en" sz="900" b="0" i="0" u="none" strike="noStrike" cap="none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 Información Confidencial</a:t>
            </a:r>
            <a:endParaRPr sz="900" b="0" i="0" u="none" strike="noStrike" cap="none">
              <a:solidFill>
                <a:srgbClr val="9090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" name="Google Shape;93;p19">
            <a:extLst>
              <a:ext uri="{FF2B5EF4-FFF2-40B4-BE49-F238E27FC236}">
                <a16:creationId xmlns:a16="http://schemas.microsoft.com/office/drawing/2014/main" id="{03EE4B9C-C201-CDB9-A31A-3EFDCD96A3A6}"/>
              </a:ext>
            </a:extLst>
          </p:cNvPr>
          <p:cNvCxnSpPr>
            <a:cxnSpLocks/>
          </p:cNvCxnSpPr>
          <p:nvPr userDrawn="1"/>
        </p:nvCxnSpPr>
        <p:spPr>
          <a:xfrm>
            <a:off x="17311027" y="9530599"/>
            <a:ext cx="0" cy="626534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65000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0" name="Picture 6" descr="June 28th, 2024. – Falcon Farms">
            <a:extLst>
              <a:ext uri="{FF2B5EF4-FFF2-40B4-BE49-F238E27FC236}">
                <a16:creationId xmlns:a16="http://schemas.microsoft.com/office/drawing/2014/main" id="{B17DB4F1-6219-884C-334D-E00516E0913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0500"/>
          <a:stretch/>
        </p:blipFill>
        <p:spPr bwMode="auto">
          <a:xfrm>
            <a:off x="16549027" y="9565751"/>
            <a:ext cx="582346" cy="556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n 10" descr="Icono&#10;&#10;El contenido generado por IA puede ser incorrecto.">
            <a:extLst>
              <a:ext uri="{FF2B5EF4-FFF2-40B4-BE49-F238E27FC236}">
                <a16:creationId xmlns:a16="http://schemas.microsoft.com/office/drawing/2014/main" id="{509DA4B2-02E4-2988-4C77-259309CF57E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463427" y="9530599"/>
            <a:ext cx="626534" cy="62653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Google Shape;96;p19">
            <a:extLst>
              <a:ext uri="{FF2B5EF4-FFF2-40B4-BE49-F238E27FC236}">
                <a16:creationId xmlns:a16="http://schemas.microsoft.com/office/drawing/2014/main" id="{AAA4547B-23B8-8EA2-6D0C-B39E4025D8EC}"/>
              </a:ext>
            </a:extLst>
          </p:cNvPr>
          <p:cNvSpPr txBox="1"/>
          <p:nvPr userDrawn="1"/>
        </p:nvSpPr>
        <p:spPr>
          <a:xfrm>
            <a:off x="11887200" y="9919780"/>
            <a:ext cx="4953000" cy="404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300" tIns="92300" rIns="92300" bIns="92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900" b="0" i="0" u="none" strike="noStrike" cap="none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Propiedad </a:t>
            </a:r>
            <a:r>
              <a:rPr lang="es-CO" sz="900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Global </a:t>
            </a:r>
            <a:r>
              <a:rPr lang="es-CO" sz="900" err="1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Technology</a:t>
            </a:r>
            <a:r>
              <a:rPr lang="es-CO" sz="900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 Ally I</a:t>
            </a:r>
            <a:r>
              <a:rPr lang="en" sz="900" b="0" i="0" u="none" strike="noStrike" cap="none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 Información Confidencial</a:t>
            </a:r>
            <a:endParaRPr sz="900" b="0" i="0" u="none" strike="noStrike" cap="none">
              <a:solidFill>
                <a:srgbClr val="9090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" name="Google Shape;93;p19">
            <a:extLst>
              <a:ext uri="{FF2B5EF4-FFF2-40B4-BE49-F238E27FC236}">
                <a16:creationId xmlns:a16="http://schemas.microsoft.com/office/drawing/2014/main" id="{B47A6AE5-EF9B-C3B9-E63A-74470394303B}"/>
              </a:ext>
            </a:extLst>
          </p:cNvPr>
          <p:cNvCxnSpPr>
            <a:cxnSpLocks/>
          </p:cNvCxnSpPr>
          <p:nvPr userDrawn="1"/>
        </p:nvCxnSpPr>
        <p:spPr>
          <a:xfrm>
            <a:off x="17311027" y="9530599"/>
            <a:ext cx="0" cy="626534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65000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0" name="Picture 6" descr="June 28th, 2024. – Falcon Farms">
            <a:extLst>
              <a:ext uri="{FF2B5EF4-FFF2-40B4-BE49-F238E27FC236}">
                <a16:creationId xmlns:a16="http://schemas.microsoft.com/office/drawing/2014/main" id="{EEE5D1E9-37E0-FA36-0870-93AF2D9C163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0500"/>
          <a:stretch/>
        </p:blipFill>
        <p:spPr bwMode="auto">
          <a:xfrm>
            <a:off x="16549027" y="9565751"/>
            <a:ext cx="582346" cy="556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n 10" descr="Icono&#10;&#10;El contenido generado por IA puede ser incorrecto.">
            <a:extLst>
              <a:ext uri="{FF2B5EF4-FFF2-40B4-BE49-F238E27FC236}">
                <a16:creationId xmlns:a16="http://schemas.microsoft.com/office/drawing/2014/main" id="{593F0AEC-A84F-FC98-9922-09325F6BD21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463427" y="9530599"/>
            <a:ext cx="626534" cy="62653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Google Shape;96;p19">
            <a:extLst>
              <a:ext uri="{FF2B5EF4-FFF2-40B4-BE49-F238E27FC236}">
                <a16:creationId xmlns:a16="http://schemas.microsoft.com/office/drawing/2014/main" id="{C17DBAE8-10D3-1232-4902-E4751B7ADE4C}"/>
              </a:ext>
            </a:extLst>
          </p:cNvPr>
          <p:cNvSpPr txBox="1"/>
          <p:nvPr userDrawn="1"/>
        </p:nvSpPr>
        <p:spPr>
          <a:xfrm>
            <a:off x="11887200" y="9919780"/>
            <a:ext cx="4953000" cy="404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300" tIns="92300" rIns="92300" bIns="92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900" b="0" i="0" u="none" strike="noStrike" cap="none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Propiedad </a:t>
            </a:r>
            <a:r>
              <a:rPr lang="es-CO" sz="900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Global </a:t>
            </a:r>
            <a:r>
              <a:rPr lang="es-CO" sz="900" err="1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Technology</a:t>
            </a:r>
            <a:r>
              <a:rPr lang="es-CO" sz="900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 Ally I</a:t>
            </a:r>
            <a:r>
              <a:rPr lang="en" sz="900" b="0" i="0" u="none" strike="noStrike" cap="none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 Información Confidencial</a:t>
            </a:r>
            <a:endParaRPr sz="900" b="0" i="0" u="none" strike="noStrike" cap="none">
              <a:solidFill>
                <a:srgbClr val="9090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" name="Google Shape;93;p19">
            <a:extLst>
              <a:ext uri="{FF2B5EF4-FFF2-40B4-BE49-F238E27FC236}">
                <a16:creationId xmlns:a16="http://schemas.microsoft.com/office/drawing/2014/main" id="{525F47A7-0D68-F4C9-B2DA-92180980ED58}"/>
              </a:ext>
            </a:extLst>
          </p:cNvPr>
          <p:cNvCxnSpPr>
            <a:cxnSpLocks/>
          </p:cNvCxnSpPr>
          <p:nvPr userDrawn="1"/>
        </p:nvCxnSpPr>
        <p:spPr>
          <a:xfrm>
            <a:off x="17311027" y="9530599"/>
            <a:ext cx="0" cy="626534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65000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9" name="Picture 6" descr="June 28th, 2024. – Falcon Farms">
            <a:extLst>
              <a:ext uri="{FF2B5EF4-FFF2-40B4-BE49-F238E27FC236}">
                <a16:creationId xmlns:a16="http://schemas.microsoft.com/office/drawing/2014/main" id="{A5F3E987-ED87-196A-CA47-D0FE4BD307F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0500"/>
          <a:stretch/>
        </p:blipFill>
        <p:spPr bwMode="auto">
          <a:xfrm>
            <a:off x="16549027" y="9565751"/>
            <a:ext cx="582346" cy="556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n 9" descr="Icono&#10;&#10;El contenido generado por IA puede ser incorrecto.">
            <a:extLst>
              <a:ext uri="{FF2B5EF4-FFF2-40B4-BE49-F238E27FC236}">
                <a16:creationId xmlns:a16="http://schemas.microsoft.com/office/drawing/2014/main" id="{5CCD25AB-77F1-6CDC-8CE1-6452827136B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463427" y="9530599"/>
            <a:ext cx="626534" cy="62653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Google Shape;96;p19">
            <a:extLst>
              <a:ext uri="{FF2B5EF4-FFF2-40B4-BE49-F238E27FC236}">
                <a16:creationId xmlns:a16="http://schemas.microsoft.com/office/drawing/2014/main" id="{D238DE0C-E6AF-2859-CEE7-DDB0C67D30F5}"/>
              </a:ext>
            </a:extLst>
          </p:cNvPr>
          <p:cNvSpPr txBox="1"/>
          <p:nvPr userDrawn="1"/>
        </p:nvSpPr>
        <p:spPr>
          <a:xfrm>
            <a:off x="11887200" y="9919780"/>
            <a:ext cx="4953000" cy="404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300" tIns="92300" rIns="92300" bIns="923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900" b="0" i="0" u="none" strike="noStrike" cap="none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Propiedad </a:t>
            </a:r>
            <a:r>
              <a:rPr lang="es-CO" sz="900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Global </a:t>
            </a:r>
            <a:r>
              <a:rPr lang="es-CO" sz="900" err="1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Technology</a:t>
            </a:r>
            <a:r>
              <a:rPr lang="es-CO" sz="900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 Ally I</a:t>
            </a:r>
            <a:r>
              <a:rPr lang="en" sz="900" b="0" i="0" u="none" strike="noStrike" cap="none">
                <a:solidFill>
                  <a:srgbClr val="909090"/>
                </a:solidFill>
                <a:latin typeface="Montserrat"/>
                <a:ea typeface="Montserrat"/>
                <a:cs typeface="Montserrat"/>
                <a:sym typeface="Montserrat"/>
              </a:rPr>
              <a:t> Información Confidencial</a:t>
            </a:r>
            <a:endParaRPr sz="900" b="0" i="0" u="none" strike="noStrike" cap="none">
              <a:solidFill>
                <a:srgbClr val="90909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" name="Google Shape;93;p19">
            <a:extLst>
              <a:ext uri="{FF2B5EF4-FFF2-40B4-BE49-F238E27FC236}">
                <a16:creationId xmlns:a16="http://schemas.microsoft.com/office/drawing/2014/main" id="{5A6836CF-B548-F85D-42EB-68AA687F0A55}"/>
              </a:ext>
            </a:extLst>
          </p:cNvPr>
          <p:cNvCxnSpPr>
            <a:cxnSpLocks/>
          </p:cNvCxnSpPr>
          <p:nvPr userDrawn="1"/>
        </p:nvCxnSpPr>
        <p:spPr>
          <a:xfrm>
            <a:off x="17311027" y="9530599"/>
            <a:ext cx="0" cy="626534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65000"/>
              </a:schemeClr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9" name="Picture 6" descr="June 28th, 2024. – Falcon Farms">
            <a:extLst>
              <a:ext uri="{FF2B5EF4-FFF2-40B4-BE49-F238E27FC236}">
                <a16:creationId xmlns:a16="http://schemas.microsoft.com/office/drawing/2014/main" id="{54CAA4AF-B025-75DB-951C-F455DEB5865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70500"/>
          <a:stretch/>
        </p:blipFill>
        <p:spPr bwMode="auto">
          <a:xfrm>
            <a:off x="16549027" y="9565751"/>
            <a:ext cx="582346" cy="556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n 9" descr="Icono&#10;&#10;El contenido generado por IA puede ser incorrecto.">
            <a:extLst>
              <a:ext uri="{FF2B5EF4-FFF2-40B4-BE49-F238E27FC236}">
                <a16:creationId xmlns:a16="http://schemas.microsoft.com/office/drawing/2014/main" id="{ED2894D8-747A-1FD5-7A98-98505CA00FD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463427" y="9530599"/>
            <a:ext cx="626534" cy="62653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3">
  <p:cSld name="TITLE_3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623416" y="1489150"/>
            <a:ext cx="17041200" cy="41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10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10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10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10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10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10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10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10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104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56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CO" smtClean="0"/>
              <a:pPr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16637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2">
            <a:extLst>
              <a:ext uri="{FF2B5EF4-FFF2-40B4-BE49-F238E27FC236}">
                <a16:creationId xmlns:a16="http://schemas.microsoft.com/office/drawing/2014/main" id="{1946EF8F-BC34-E500-A85A-B48F3C22501A}"/>
              </a:ext>
            </a:extLst>
          </p:cNvPr>
          <p:cNvSpPr/>
          <p:nvPr/>
        </p:nvSpPr>
        <p:spPr>
          <a:xfrm>
            <a:off x="-902364" y="-1436914"/>
            <a:ext cx="12528307" cy="11914414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5D2ADC8A-BFA0-E2CC-9071-B4AC272F025B}"/>
              </a:ext>
            </a:extLst>
          </p:cNvPr>
          <p:cNvSpPr txBox="1"/>
          <p:nvPr/>
        </p:nvSpPr>
        <p:spPr>
          <a:xfrm>
            <a:off x="2357256" y="9133987"/>
            <a:ext cx="184730" cy="9787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endParaRPr lang="en-US" sz="576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3" name="Google Shape;73;p17"/>
          <p:cNvSpPr txBox="1"/>
          <p:nvPr/>
        </p:nvSpPr>
        <p:spPr>
          <a:xfrm>
            <a:off x="6929175" y="2022394"/>
            <a:ext cx="10657604" cy="5911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algn="ctr">
              <a:lnSpc>
                <a:spcPct val="115000"/>
              </a:lnSpc>
              <a:buClr>
                <a:srgbClr val="000000"/>
              </a:buClr>
              <a:buSzPts val="4800"/>
            </a:pPr>
            <a:r>
              <a:rPr lang="es-ES" sz="7200" b="1" dirty="0">
                <a:latin typeface="Montserrat Black"/>
              </a:rPr>
              <a:t>PROGRAMA ALIADO DIGITAL GHT</a:t>
            </a:r>
            <a:endParaRPr lang="en" sz="2400" b="1" dirty="0">
              <a:solidFill>
                <a:srgbClr val="0099FF"/>
              </a:solidFill>
              <a:latin typeface="Montserrat"/>
              <a:sym typeface="Roboto Medium"/>
            </a:endParaRPr>
          </a:p>
        </p:txBody>
      </p:sp>
      <p:pic>
        <p:nvPicPr>
          <p:cNvPr id="2" name="Google Shape;72;p17">
            <a:extLst>
              <a:ext uri="{FF2B5EF4-FFF2-40B4-BE49-F238E27FC236}">
                <a16:creationId xmlns:a16="http://schemas.microsoft.com/office/drawing/2014/main" id="{7DA02766-A33B-3CF4-07F8-25B7554143A5}"/>
              </a:ext>
            </a:extLst>
          </p:cNvPr>
          <p:cNvPicPr preferRelativeResize="0"/>
          <p:nvPr/>
        </p:nvPicPr>
        <p:blipFill rotWithShape="1">
          <a:blip r:embed="rId4" cstate="email">
            <a:alphaModFix amt="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 flipH="1">
            <a:off x="8267112" y="293181"/>
            <a:ext cx="10287000" cy="9754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7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9424" y="9212901"/>
            <a:ext cx="1793018" cy="82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n 6" descr="Icono&#10;&#10;El contenido generado por IA puede ser incorrecto.">
            <a:extLst>
              <a:ext uri="{FF2B5EF4-FFF2-40B4-BE49-F238E27FC236}">
                <a16:creationId xmlns:a16="http://schemas.microsoft.com/office/drawing/2014/main" id="{83452582-A088-4178-CABC-DD3566E9FD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770438" y="9133987"/>
            <a:ext cx="988908" cy="988908"/>
          </a:xfrm>
          <a:prstGeom prst="rect">
            <a:avLst/>
          </a:prstGeom>
        </p:spPr>
      </p:pic>
      <p:sp>
        <p:nvSpPr>
          <p:cNvPr id="3" name="Google Shape;73;p17">
            <a:extLst>
              <a:ext uri="{FF2B5EF4-FFF2-40B4-BE49-F238E27FC236}">
                <a16:creationId xmlns:a16="http://schemas.microsoft.com/office/drawing/2014/main" id="{6076DED9-1BAD-8956-5F6B-BBFCCE89405F}"/>
              </a:ext>
            </a:extLst>
          </p:cNvPr>
          <p:cNvSpPr txBox="1"/>
          <p:nvPr/>
        </p:nvSpPr>
        <p:spPr>
          <a:xfrm>
            <a:off x="6041572" y="7586984"/>
            <a:ext cx="12141817" cy="1024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algn="ctr">
              <a:lnSpc>
                <a:spcPct val="115000"/>
              </a:lnSpc>
              <a:buSzPts val="1400"/>
            </a:pPr>
            <a:r>
              <a:rPr lang="es-CO" sz="2400" b="1" dirty="0">
                <a:solidFill>
                  <a:srgbClr val="0099FF"/>
                </a:solidFill>
                <a:latin typeface="Montserrat"/>
                <a:sym typeface="Roboto Medium"/>
              </a:rPr>
              <a:t>MVP sistema El Tejido de 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n 29" descr="Una flor rosa&#10;&#10;El contenido generado por IA puede ser incorrecto.">
            <a:extLst>
              <a:ext uri="{FF2B5EF4-FFF2-40B4-BE49-F238E27FC236}">
                <a16:creationId xmlns:a16="http://schemas.microsoft.com/office/drawing/2014/main" id="{469B5861-A87E-3AD9-1B91-7C1112D408A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000500" y="-4000497"/>
            <a:ext cx="10287000" cy="18287998"/>
          </a:xfrm>
          <a:prstGeom prst="rect">
            <a:avLst/>
          </a:prstGeom>
        </p:spPr>
      </p:pic>
      <p:sp>
        <p:nvSpPr>
          <p:cNvPr id="33" name="Rectángulo 32">
            <a:extLst>
              <a:ext uri="{FF2B5EF4-FFF2-40B4-BE49-F238E27FC236}">
                <a16:creationId xmlns:a16="http://schemas.microsoft.com/office/drawing/2014/main" id="{60ECC0E9-2031-D8AB-0680-CC01E4DC0DB2}"/>
              </a:ext>
            </a:extLst>
          </p:cNvPr>
          <p:cNvSpPr/>
          <p:nvPr/>
        </p:nvSpPr>
        <p:spPr>
          <a:xfrm>
            <a:off x="0" y="-37176"/>
            <a:ext cx="18288000" cy="10308772"/>
          </a:xfrm>
          <a:prstGeom prst="rect">
            <a:avLst/>
          </a:prstGeom>
          <a:solidFill>
            <a:srgbClr val="D5DBE5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3600"/>
          </a:p>
        </p:txBody>
      </p:sp>
      <p:sp>
        <p:nvSpPr>
          <p:cNvPr id="31" name="Google Shape;92;p19">
            <a:extLst>
              <a:ext uri="{FF2B5EF4-FFF2-40B4-BE49-F238E27FC236}">
                <a16:creationId xmlns:a16="http://schemas.microsoft.com/office/drawing/2014/main" id="{DB1898B2-9161-B721-DD1C-FA193284126D}"/>
              </a:ext>
            </a:extLst>
          </p:cNvPr>
          <p:cNvSpPr/>
          <p:nvPr/>
        </p:nvSpPr>
        <p:spPr>
          <a:xfrm>
            <a:off x="1289815" y="571500"/>
            <a:ext cx="11964630" cy="1135512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35000" tIns="70200" rIns="135000" bIns="70200" anchor="t" anchorCtr="0">
            <a:noAutofit/>
          </a:bodyPr>
          <a:lstStyle/>
          <a:p>
            <a:pPr>
              <a:lnSpc>
                <a:spcPct val="90000"/>
              </a:lnSpc>
              <a:buClr>
                <a:srgbClr val="000000"/>
              </a:buClr>
              <a:buSzPts val="2200"/>
            </a:pPr>
            <a:r>
              <a:rPr lang="es-CO" sz="4400" b="1" dirty="0">
                <a:latin typeface="Montserrat Black"/>
                <a:ea typeface="Montserrat Black"/>
                <a:cs typeface="Montserrat Black"/>
                <a:sym typeface="Montserrat Black"/>
              </a:rPr>
              <a:t>CONTEXTO Y OBJETIVO</a:t>
            </a:r>
          </a:p>
        </p:txBody>
      </p:sp>
      <p:cxnSp>
        <p:nvCxnSpPr>
          <p:cNvPr id="32" name="Google Shape;93;p19">
            <a:extLst>
              <a:ext uri="{FF2B5EF4-FFF2-40B4-BE49-F238E27FC236}">
                <a16:creationId xmlns:a16="http://schemas.microsoft.com/office/drawing/2014/main" id="{FFAAFC0F-09FD-1CF8-7921-6CDE065834DC}"/>
              </a:ext>
            </a:extLst>
          </p:cNvPr>
          <p:cNvCxnSpPr/>
          <p:nvPr/>
        </p:nvCxnSpPr>
        <p:spPr>
          <a:xfrm>
            <a:off x="1006430" y="601056"/>
            <a:ext cx="1800" cy="538200"/>
          </a:xfrm>
          <a:prstGeom prst="straightConnector1">
            <a:avLst/>
          </a:prstGeom>
          <a:noFill/>
          <a:ln w="41400" cap="flat" cmpd="sng">
            <a:solidFill>
              <a:srgbClr val="0089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41" name="Diagrama de flujo: terminador 39">
            <a:extLst>
              <a:ext uri="{FF2B5EF4-FFF2-40B4-BE49-F238E27FC236}">
                <a16:creationId xmlns:a16="http://schemas.microsoft.com/office/drawing/2014/main" id="{6A38B8A8-3DA2-9ADD-4403-4DBDEF510A2F}"/>
              </a:ext>
            </a:extLst>
          </p:cNvPr>
          <p:cNvSpPr/>
          <p:nvPr/>
        </p:nvSpPr>
        <p:spPr>
          <a:xfrm>
            <a:off x="8567224" y="6524390"/>
            <a:ext cx="11597387" cy="2883465"/>
          </a:xfrm>
          <a:custGeom>
            <a:avLst/>
            <a:gdLst>
              <a:gd name="connsiteX0" fmla="*/ 3475 w 21600"/>
              <a:gd name="connsiteY0" fmla="*/ 0 h 21600"/>
              <a:gd name="connsiteX1" fmla="*/ 18125 w 21600"/>
              <a:gd name="connsiteY1" fmla="*/ 0 h 21600"/>
              <a:gd name="connsiteX2" fmla="*/ 21600 w 21600"/>
              <a:gd name="connsiteY2" fmla="*/ 10800 h 21600"/>
              <a:gd name="connsiteX3" fmla="*/ 18125 w 21600"/>
              <a:gd name="connsiteY3" fmla="*/ 21600 h 21600"/>
              <a:gd name="connsiteX4" fmla="*/ 3475 w 21600"/>
              <a:gd name="connsiteY4" fmla="*/ 21600 h 21600"/>
              <a:gd name="connsiteX5" fmla="*/ 0 w 21600"/>
              <a:gd name="connsiteY5" fmla="*/ 10800 h 21600"/>
              <a:gd name="connsiteX6" fmla="*/ 3475 w 21600"/>
              <a:gd name="connsiteY6" fmla="*/ 0 h 21600"/>
              <a:gd name="connsiteX0" fmla="*/ 3475 w 20884"/>
              <a:gd name="connsiteY0" fmla="*/ 0 h 21600"/>
              <a:gd name="connsiteX1" fmla="*/ 18125 w 20884"/>
              <a:gd name="connsiteY1" fmla="*/ 0 h 21600"/>
              <a:gd name="connsiteX2" fmla="*/ 20884 w 20884"/>
              <a:gd name="connsiteY2" fmla="*/ 11002 h 21600"/>
              <a:gd name="connsiteX3" fmla="*/ 18125 w 20884"/>
              <a:gd name="connsiteY3" fmla="*/ 21600 h 21600"/>
              <a:gd name="connsiteX4" fmla="*/ 3475 w 20884"/>
              <a:gd name="connsiteY4" fmla="*/ 21600 h 21600"/>
              <a:gd name="connsiteX5" fmla="*/ 0 w 20884"/>
              <a:gd name="connsiteY5" fmla="*/ 10800 h 21600"/>
              <a:gd name="connsiteX6" fmla="*/ 3475 w 20884"/>
              <a:gd name="connsiteY6" fmla="*/ 0 h 21600"/>
              <a:gd name="connsiteX0" fmla="*/ 2704 w 20113"/>
              <a:gd name="connsiteY0" fmla="*/ 0 h 21600"/>
              <a:gd name="connsiteX1" fmla="*/ 17354 w 20113"/>
              <a:gd name="connsiteY1" fmla="*/ 0 h 21600"/>
              <a:gd name="connsiteX2" fmla="*/ 20113 w 20113"/>
              <a:gd name="connsiteY2" fmla="*/ 11002 h 21600"/>
              <a:gd name="connsiteX3" fmla="*/ 17354 w 20113"/>
              <a:gd name="connsiteY3" fmla="*/ 21600 h 21600"/>
              <a:gd name="connsiteX4" fmla="*/ 2704 w 20113"/>
              <a:gd name="connsiteY4" fmla="*/ 21600 h 21600"/>
              <a:gd name="connsiteX5" fmla="*/ 0 w 20113"/>
              <a:gd name="connsiteY5" fmla="*/ 10699 h 21600"/>
              <a:gd name="connsiteX6" fmla="*/ 2704 w 20113"/>
              <a:gd name="connsiteY6" fmla="*/ 0 h 2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113" h="21600">
                <a:moveTo>
                  <a:pt x="2704" y="0"/>
                </a:moveTo>
                <a:lnTo>
                  <a:pt x="17354" y="0"/>
                </a:lnTo>
                <a:cubicBezTo>
                  <a:pt x="19273" y="0"/>
                  <a:pt x="20113" y="5037"/>
                  <a:pt x="20113" y="11002"/>
                </a:cubicBezTo>
                <a:cubicBezTo>
                  <a:pt x="20113" y="16967"/>
                  <a:pt x="19273" y="21600"/>
                  <a:pt x="17354" y="21600"/>
                </a:cubicBezTo>
                <a:lnTo>
                  <a:pt x="2704" y="21600"/>
                </a:lnTo>
                <a:cubicBezTo>
                  <a:pt x="785" y="21600"/>
                  <a:pt x="0" y="16664"/>
                  <a:pt x="0" y="10699"/>
                </a:cubicBezTo>
                <a:cubicBezTo>
                  <a:pt x="0" y="4734"/>
                  <a:pt x="785" y="0"/>
                  <a:pt x="2704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3" name="Diagrama de flujo: terminador 39">
            <a:extLst>
              <a:ext uri="{FF2B5EF4-FFF2-40B4-BE49-F238E27FC236}">
                <a16:creationId xmlns:a16="http://schemas.microsoft.com/office/drawing/2014/main" id="{090324FF-920A-D9C9-E617-B21CE12C69D4}"/>
              </a:ext>
            </a:extLst>
          </p:cNvPr>
          <p:cNvSpPr/>
          <p:nvPr/>
        </p:nvSpPr>
        <p:spPr>
          <a:xfrm rot="10800000">
            <a:off x="-2157664" y="1470195"/>
            <a:ext cx="18093400" cy="4796417"/>
          </a:xfrm>
          <a:custGeom>
            <a:avLst/>
            <a:gdLst>
              <a:gd name="connsiteX0" fmla="*/ 3475 w 21600"/>
              <a:gd name="connsiteY0" fmla="*/ 0 h 21600"/>
              <a:gd name="connsiteX1" fmla="*/ 18125 w 21600"/>
              <a:gd name="connsiteY1" fmla="*/ 0 h 21600"/>
              <a:gd name="connsiteX2" fmla="*/ 21600 w 21600"/>
              <a:gd name="connsiteY2" fmla="*/ 10800 h 21600"/>
              <a:gd name="connsiteX3" fmla="*/ 18125 w 21600"/>
              <a:gd name="connsiteY3" fmla="*/ 21600 h 21600"/>
              <a:gd name="connsiteX4" fmla="*/ 3475 w 21600"/>
              <a:gd name="connsiteY4" fmla="*/ 21600 h 21600"/>
              <a:gd name="connsiteX5" fmla="*/ 0 w 21600"/>
              <a:gd name="connsiteY5" fmla="*/ 10800 h 21600"/>
              <a:gd name="connsiteX6" fmla="*/ 3475 w 21600"/>
              <a:gd name="connsiteY6" fmla="*/ 0 h 21600"/>
              <a:gd name="connsiteX0" fmla="*/ 3475 w 20884"/>
              <a:gd name="connsiteY0" fmla="*/ 0 h 21600"/>
              <a:gd name="connsiteX1" fmla="*/ 18125 w 20884"/>
              <a:gd name="connsiteY1" fmla="*/ 0 h 21600"/>
              <a:gd name="connsiteX2" fmla="*/ 20884 w 20884"/>
              <a:gd name="connsiteY2" fmla="*/ 11002 h 21600"/>
              <a:gd name="connsiteX3" fmla="*/ 18125 w 20884"/>
              <a:gd name="connsiteY3" fmla="*/ 21600 h 21600"/>
              <a:gd name="connsiteX4" fmla="*/ 3475 w 20884"/>
              <a:gd name="connsiteY4" fmla="*/ 21600 h 21600"/>
              <a:gd name="connsiteX5" fmla="*/ 0 w 20884"/>
              <a:gd name="connsiteY5" fmla="*/ 10800 h 21600"/>
              <a:gd name="connsiteX6" fmla="*/ 3475 w 20884"/>
              <a:gd name="connsiteY6" fmla="*/ 0 h 21600"/>
              <a:gd name="connsiteX0" fmla="*/ 2704 w 20113"/>
              <a:gd name="connsiteY0" fmla="*/ 0 h 21600"/>
              <a:gd name="connsiteX1" fmla="*/ 17354 w 20113"/>
              <a:gd name="connsiteY1" fmla="*/ 0 h 21600"/>
              <a:gd name="connsiteX2" fmla="*/ 20113 w 20113"/>
              <a:gd name="connsiteY2" fmla="*/ 11002 h 21600"/>
              <a:gd name="connsiteX3" fmla="*/ 17354 w 20113"/>
              <a:gd name="connsiteY3" fmla="*/ 21600 h 21600"/>
              <a:gd name="connsiteX4" fmla="*/ 2704 w 20113"/>
              <a:gd name="connsiteY4" fmla="*/ 21600 h 21600"/>
              <a:gd name="connsiteX5" fmla="*/ 0 w 20113"/>
              <a:gd name="connsiteY5" fmla="*/ 10699 h 21600"/>
              <a:gd name="connsiteX6" fmla="*/ 2704 w 20113"/>
              <a:gd name="connsiteY6" fmla="*/ 0 h 2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113" h="21600">
                <a:moveTo>
                  <a:pt x="2704" y="0"/>
                </a:moveTo>
                <a:lnTo>
                  <a:pt x="17354" y="0"/>
                </a:lnTo>
                <a:cubicBezTo>
                  <a:pt x="19273" y="0"/>
                  <a:pt x="20113" y="5037"/>
                  <a:pt x="20113" y="11002"/>
                </a:cubicBezTo>
                <a:cubicBezTo>
                  <a:pt x="20113" y="16967"/>
                  <a:pt x="19273" y="21600"/>
                  <a:pt x="17354" y="21600"/>
                </a:cubicBezTo>
                <a:lnTo>
                  <a:pt x="2704" y="21600"/>
                </a:lnTo>
                <a:cubicBezTo>
                  <a:pt x="785" y="21600"/>
                  <a:pt x="0" y="16664"/>
                  <a:pt x="0" y="10699"/>
                </a:cubicBezTo>
                <a:cubicBezTo>
                  <a:pt x="0" y="4734"/>
                  <a:pt x="785" y="0"/>
                  <a:pt x="2704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TextBox 24">
            <a:extLst>
              <a:ext uri="{FF2B5EF4-FFF2-40B4-BE49-F238E27FC236}">
                <a16:creationId xmlns:a16="http://schemas.microsoft.com/office/drawing/2014/main" id="{B5B814F8-D8FC-C5D1-0FCA-CD7D03D29F98}"/>
              </a:ext>
            </a:extLst>
          </p:cNvPr>
          <p:cNvSpPr txBox="1"/>
          <p:nvPr/>
        </p:nvSpPr>
        <p:spPr>
          <a:xfrm>
            <a:off x="1126587" y="1687667"/>
            <a:ext cx="13166188" cy="45789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70"/>
              </a:lnSpc>
            </a:pPr>
            <a:r>
              <a:rPr lang="es-CO" sz="18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w"/>
                <a:ea typeface="Now"/>
                <a:cs typeface="Now"/>
                <a:sym typeface="Now"/>
              </a:rPr>
              <a:t>Contexto (El Tejido)</a:t>
            </a:r>
          </a:p>
          <a:p>
            <a:pPr algn="ctr">
              <a:lnSpc>
                <a:spcPts val="2070"/>
              </a:lnSpc>
            </a:pPr>
            <a:endParaRPr lang="es-CO" sz="18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ow"/>
              <a:ea typeface="Now"/>
              <a:cs typeface="Now"/>
              <a:sym typeface="Now"/>
            </a:endParaRPr>
          </a:p>
          <a:p>
            <a:pPr algn="just">
              <a:lnSpc>
                <a:spcPts val="2070"/>
              </a:lnSpc>
            </a:pPr>
            <a:r>
              <a:rPr lang="es-CO" sz="1800" dirty="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Base lista para arrancar: </a:t>
            </a:r>
          </a:p>
          <a:p>
            <a:pPr marL="285750" indent="-285750" algn="just">
              <a:lnSpc>
                <a:spcPts val="2070"/>
              </a:lnSpc>
              <a:buFont typeface="Arial" panose="020B0604020202020204" pitchFamily="34" charset="0"/>
              <a:buChar char="•"/>
            </a:pPr>
            <a:r>
              <a:rPr lang="es-CO" dirty="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la rúbrica de evaluación y las credenciales de la plataforma Meta ya fueron entregadas por GHT.</a:t>
            </a:r>
          </a:p>
          <a:p>
            <a:pPr algn="ctr">
              <a:lnSpc>
                <a:spcPts val="2070"/>
              </a:lnSpc>
            </a:pPr>
            <a:endParaRPr lang="es-CO" sz="1800" dirty="0">
              <a:solidFill>
                <a:srgbClr val="000000"/>
              </a:solidFill>
              <a:latin typeface="Now"/>
              <a:ea typeface="Now"/>
              <a:cs typeface="Now"/>
              <a:sym typeface="Now"/>
            </a:endParaRPr>
          </a:p>
          <a:p>
            <a:pPr>
              <a:lnSpc>
                <a:spcPts val="2070"/>
              </a:lnSpc>
            </a:pPr>
            <a:r>
              <a:rPr lang="es-CO" sz="1800" dirty="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El MVP entregará el flujo completo:</a:t>
            </a:r>
          </a:p>
          <a:p>
            <a:pPr marL="285750" indent="-285750">
              <a:lnSpc>
                <a:spcPts val="207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Now"/>
              </a:rPr>
              <a:t>Captura conversacional</a:t>
            </a:r>
          </a:p>
          <a:p>
            <a:pPr marL="742950" lvl="1" indent="-285750">
              <a:lnSpc>
                <a:spcPts val="2070"/>
              </a:lnSpc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El sistema conversa con los participantes y captura ideas y aprendizajes.</a:t>
            </a:r>
          </a:p>
          <a:p>
            <a:pPr marL="742950" lvl="1" indent="-285750">
              <a:lnSpc>
                <a:spcPts val="2070"/>
              </a:lnSpc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Retroalimentación breve y máximo una repregunta por respuesta.</a:t>
            </a:r>
            <a:endParaRPr lang="en-US" dirty="0">
              <a:solidFill>
                <a:srgbClr val="000000"/>
              </a:solidFill>
              <a:latin typeface="Now"/>
            </a:endParaRPr>
          </a:p>
          <a:p>
            <a:pPr marL="285750" indent="-285750">
              <a:lnSpc>
                <a:spcPts val="207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Now"/>
              </a:rPr>
              <a:t>Evaluación con LLM</a:t>
            </a:r>
          </a:p>
          <a:p>
            <a:pPr marL="742950" lvl="1" indent="-285750">
              <a:lnSpc>
                <a:spcPts val="2070"/>
              </a:lnSpc>
              <a:buFont typeface="Arial" panose="020B0604020202020204" pitchFamily="34" charset="0"/>
              <a:buChar char="•"/>
            </a:pPr>
            <a:r>
              <a:rPr lang="es-ES" dirty="0" err="1">
                <a:solidFill>
                  <a:srgbClr val="000000"/>
                </a:solidFill>
                <a:latin typeface="Now"/>
              </a:rPr>
              <a:t>Usa la rúbrica entregada por GHT: criterios y pesos sin tocar código.</a:t>
            </a:r>
          </a:p>
          <a:p>
            <a:pPr marL="742950" lvl="1" indent="-285750">
              <a:lnSpc>
                <a:spcPts val="2070"/>
              </a:lnSpc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000000"/>
                </a:solidFill>
                <a:latin typeface="Now"/>
              </a:rPr>
              <a:t>Calificación y explicación guardadas con trazabilidad completa.</a:t>
            </a:r>
          </a:p>
          <a:p>
            <a:pPr marL="742950" lvl="1" indent="-285750">
              <a:lnSpc>
                <a:spcPts val="2070"/>
              </a:lnSpc>
              <a:buFont typeface="Arial" panose="020B0604020202020204" pitchFamily="34" charset="0"/>
              <a:buChar char="•"/>
            </a:pPr>
            <a:r>
              <a:rPr lang="es-ES" dirty="0" err="1">
                <a:solidFill>
                  <a:srgbClr val="000000"/>
                </a:solidFill>
                <a:latin typeface="Now"/>
              </a:rPr>
              <a:t>Prompts ajustables con aprobación de GHT.</a:t>
            </a:r>
            <a:endParaRPr lang="en-US" dirty="0">
              <a:solidFill>
                <a:srgbClr val="000000"/>
              </a:solidFill>
              <a:latin typeface="Now"/>
            </a:endParaRPr>
          </a:p>
          <a:p>
            <a:pPr marL="285750" indent="-285750">
              <a:lnSpc>
                <a:spcPts val="207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Now"/>
              </a:rPr>
              <a:t>Memoria y consulta</a:t>
            </a:r>
          </a:p>
          <a:p>
            <a:pPr marL="742950" lvl="1" indent="-285750">
              <a:lnSpc>
                <a:spcPts val="2070"/>
              </a:lnSpc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000000"/>
                </a:solidFill>
                <a:latin typeface="Now"/>
              </a:rPr>
              <a:t>Cada aporte se compila en Markdown con autoría y atribución.</a:t>
            </a:r>
          </a:p>
          <a:p>
            <a:pPr marL="742950" lvl="1" indent="-285750">
              <a:lnSpc>
                <a:spcPts val="207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Now"/>
              </a:rPr>
              <a:t>Consulta de respuestas, calificaciones y Markdown generado.</a:t>
            </a:r>
          </a:p>
          <a:p>
            <a:pPr marL="742950" lvl="1" indent="-285750">
              <a:lnSpc>
                <a:spcPts val="207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  <a:latin typeface="Now"/>
            </a:endParaRPr>
          </a:p>
        </p:txBody>
      </p:sp>
      <p:sp>
        <p:nvSpPr>
          <p:cNvPr id="44" name="TextBox 24">
            <a:extLst>
              <a:ext uri="{FF2B5EF4-FFF2-40B4-BE49-F238E27FC236}">
                <a16:creationId xmlns:a16="http://schemas.microsoft.com/office/drawing/2014/main" id="{1E43E99C-C80A-C82B-95DE-9C6260B4F7C2}"/>
              </a:ext>
            </a:extLst>
          </p:cNvPr>
          <p:cNvSpPr txBox="1"/>
          <p:nvPr/>
        </p:nvSpPr>
        <p:spPr>
          <a:xfrm>
            <a:off x="10086541" y="6789651"/>
            <a:ext cx="7828926" cy="1885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70"/>
              </a:lnSpc>
            </a:pPr>
            <a:r>
              <a:rPr lang="es-CO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w"/>
                <a:cs typeface="Now"/>
                <a:sym typeface="Now"/>
              </a:rPr>
              <a:t>Objetivo del programa</a:t>
            </a:r>
          </a:p>
          <a:p>
            <a:pPr algn="ctr">
              <a:lnSpc>
                <a:spcPts val="2070"/>
              </a:lnSpc>
            </a:pPr>
            <a:endParaRPr lang="es-CO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ow"/>
              <a:cs typeface="Now"/>
              <a:sym typeface="Now"/>
            </a:endParaRPr>
          </a:p>
          <a:p>
            <a:pPr algn="r">
              <a:lnSpc>
                <a:spcPts val="2070"/>
              </a:lnSpc>
            </a:pPr>
            <a:r>
              <a:rPr lang="es-CO" sz="1800" dirty="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Un solo programa de USD 10.000 que permita:</a:t>
            </a:r>
          </a:p>
          <a:p>
            <a:pPr algn="r">
              <a:lnSpc>
                <a:spcPts val="2070"/>
              </a:lnSpc>
            </a:pPr>
            <a:r>
              <a:rPr lang="es-CO" sz="1800" dirty="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• primera versión del MVP de El Tejido: 22 de junio.</a:t>
            </a:r>
          </a:p>
          <a:p>
            <a:pPr algn="r">
              <a:lnSpc>
                <a:spcPts val="2070"/>
              </a:lnSpc>
            </a:pPr>
            <a:r>
              <a:rPr lang="es-CO" dirty="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• Requerimientos adicionales bajo bolsa de horas por aprobar.</a:t>
            </a:r>
            <a:endParaRPr lang="es-CO" sz="1800" dirty="0">
              <a:solidFill>
                <a:srgbClr val="000000"/>
              </a:solidFill>
              <a:latin typeface="Now"/>
              <a:ea typeface="Now"/>
              <a:cs typeface="Now"/>
              <a:sym typeface="Now"/>
            </a:endParaRPr>
          </a:p>
          <a:p>
            <a:pPr algn="r">
              <a:lnSpc>
                <a:spcPts val="2070"/>
              </a:lnSpc>
            </a:pPr>
            <a:r>
              <a:rPr lang="es-CO" sz="1800" dirty="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• un Aliado senior que ya conoce el ecosistema GHT</a:t>
            </a:r>
          </a:p>
          <a:p>
            <a:pPr algn="ctr">
              <a:lnSpc>
                <a:spcPts val="2070"/>
              </a:lnSpc>
            </a:pPr>
            <a:endParaRPr lang="es-CO" sz="1800" dirty="0">
              <a:solidFill>
                <a:srgbClr val="000000"/>
              </a:solidFill>
              <a:latin typeface="Now"/>
              <a:ea typeface="Now"/>
              <a:cs typeface="Now"/>
              <a:sym typeface="Now"/>
            </a:endParaRPr>
          </a:p>
        </p:txBody>
      </p:sp>
      <p:grpSp>
        <p:nvGrpSpPr>
          <p:cNvPr id="39" name="Grupo 38">
            <a:extLst>
              <a:ext uri="{FF2B5EF4-FFF2-40B4-BE49-F238E27FC236}">
                <a16:creationId xmlns:a16="http://schemas.microsoft.com/office/drawing/2014/main" id="{74C3D634-F797-1FD5-0AD2-D43C136A534A}"/>
              </a:ext>
            </a:extLst>
          </p:cNvPr>
          <p:cNvGrpSpPr/>
          <p:nvPr/>
        </p:nvGrpSpPr>
        <p:grpSpPr>
          <a:xfrm>
            <a:off x="12025973" y="9530599"/>
            <a:ext cx="6202761" cy="793582"/>
            <a:chOff x="12025973" y="9530599"/>
            <a:chExt cx="6202761" cy="793582"/>
          </a:xfrm>
        </p:grpSpPr>
        <p:sp>
          <p:nvSpPr>
            <p:cNvPr id="34" name="Google Shape;96;p19">
              <a:extLst>
                <a:ext uri="{FF2B5EF4-FFF2-40B4-BE49-F238E27FC236}">
                  <a16:creationId xmlns:a16="http://schemas.microsoft.com/office/drawing/2014/main" id="{8EF26526-56F5-5119-88BC-71536AFAD3F1}"/>
                </a:ext>
              </a:extLst>
            </p:cNvPr>
            <p:cNvSpPr txBox="1"/>
            <p:nvPr/>
          </p:nvSpPr>
          <p:spPr>
            <a:xfrm>
              <a:off x="12025973" y="9919780"/>
              <a:ext cx="4953000" cy="4044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300" tIns="92300" rIns="92300" bIns="923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900" b="0" i="0" u="none" strike="noStrike" cap="none">
                  <a:solidFill>
                    <a:schemeClr val="bg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Propiedad </a:t>
              </a:r>
              <a:r>
                <a:rPr lang="es-CO" sz="900">
                  <a:solidFill>
                    <a:schemeClr val="bg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Global </a:t>
              </a:r>
              <a:r>
                <a:rPr lang="es-CO" sz="900" err="1">
                  <a:solidFill>
                    <a:schemeClr val="bg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Technology</a:t>
              </a:r>
              <a:r>
                <a:rPr lang="es-CO" sz="900">
                  <a:solidFill>
                    <a:schemeClr val="bg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Ally I</a:t>
              </a:r>
              <a:r>
                <a:rPr lang="en" sz="900" b="0" i="0" u="none" strike="noStrike" cap="none">
                  <a:solidFill>
                    <a:schemeClr val="bg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Información Confidencial</a:t>
              </a:r>
              <a:endParaRPr sz="900" b="0" i="0" u="none" strike="noStrike" cap="none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cxnSp>
          <p:nvCxnSpPr>
            <p:cNvPr id="35" name="Google Shape;93;p19">
              <a:extLst>
                <a:ext uri="{FF2B5EF4-FFF2-40B4-BE49-F238E27FC236}">
                  <a16:creationId xmlns:a16="http://schemas.microsoft.com/office/drawing/2014/main" id="{14E8BE02-5979-8863-0FE1-729D786A623B}"/>
                </a:ext>
              </a:extLst>
            </p:cNvPr>
            <p:cNvCxnSpPr>
              <a:cxnSpLocks/>
            </p:cNvCxnSpPr>
            <p:nvPr/>
          </p:nvCxnSpPr>
          <p:spPr>
            <a:xfrm>
              <a:off x="17449800" y="9530599"/>
              <a:ext cx="0" cy="626534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lumMod val="65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pic>
          <p:nvPicPr>
            <p:cNvPr id="36" name="Picture 6" descr="June 28th, 2024. – Falcon Farms">
              <a:extLst>
                <a:ext uri="{FF2B5EF4-FFF2-40B4-BE49-F238E27FC236}">
                  <a16:creationId xmlns:a16="http://schemas.microsoft.com/office/drawing/2014/main" id="{C877F9FE-29F5-D9B1-077E-3FF4CCFD3C5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/>
          </p:blipFill>
          <p:spPr bwMode="auto">
            <a:xfrm>
              <a:off x="16371511" y="9565751"/>
              <a:ext cx="1214923" cy="5562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" name="Imagen 37" descr="Icono&#10;&#10;El contenido generado por IA puede ser incorrecto.">
              <a:extLst>
                <a:ext uri="{FF2B5EF4-FFF2-40B4-BE49-F238E27FC236}">
                  <a16:creationId xmlns:a16="http://schemas.microsoft.com/office/drawing/2014/main" id="{25CA0F7B-9A21-F192-E330-4F3A6519DBF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7602200" y="9530599"/>
              <a:ext cx="626534" cy="62653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31761-4B2B-1E8E-4860-2D3ADDF70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Reversed Instagram Images: Why? (Everything to Know)">
            <a:extLst>
              <a:ext uri="{FF2B5EF4-FFF2-40B4-BE49-F238E27FC236}">
                <a16:creationId xmlns:a16="http://schemas.microsoft.com/office/drawing/2014/main" id="{FE237CFB-5C22-F56F-D538-D26FD9A6E1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820400" y="0"/>
            <a:ext cx="8248650" cy="10435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upo 4">
            <a:extLst>
              <a:ext uri="{FF2B5EF4-FFF2-40B4-BE49-F238E27FC236}">
                <a16:creationId xmlns:a16="http://schemas.microsoft.com/office/drawing/2014/main" id="{16CF4B81-69D0-8BCB-CBC4-F5CB29F7A3E3}"/>
              </a:ext>
            </a:extLst>
          </p:cNvPr>
          <p:cNvGrpSpPr/>
          <p:nvPr/>
        </p:nvGrpSpPr>
        <p:grpSpPr>
          <a:xfrm>
            <a:off x="11983110" y="9530599"/>
            <a:ext cx="6245624" cy="793582"/>
            <a:chOff x="11983110" y="9530599"/>
            <a:chExt cx="6245624" cy="793582"/>
          </a:xfrm>
        </p:grpSpPr>
        <p:sp>
          <p:nvSpPr>
            <p:cNvPr id="6" name="Google Shape;96;p19">
              <a:extLst>
                <a:ext uri="{FF2B5EF4-FFF2-40B4-BE49-F238E27FC236}">
                  <a16:creationId xmlns:a16="http://schemas.microsoft.com/office/drawing/2014/main" id="{1A9737CE-5AC7-EAAF-C3E7-BDB160BFC75A}"/>
                </a:ext>
              </a:extLst>
            </p:cNvPr>
            <p:cNvSpPr txBox="1"/>
            <p:nvPr/>
          </p:nvSpPr>
          <p:spPr>
            <a:xfrm>
              <a:off x="11983110" y="9919780"/>
              <a:ext cx="4953000" cy="4044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300" tIns="92300" rIns="92300" bIns="923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900" b="0" i="0" u="none" strike="noStrike" cap="none" dirty="0">
                  <a:solidFill>
                    <a:schemeClr val="bg1">
                      <a:lumMod val="50000"/>
                    </a:schemeClr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Propiedad </a:t>
              </a:r>
              <a:r>
                <a:rPr lang="es-CO" sz="900" dirty="0">
                  <a:solidFill>
                    <a:schemeClr val="bg1">
                      <a:lumMod val="50000"/>
                    </a:schemeClr>
                  </a:solidFill>
                  <a:latin typeface="Montserrat"/>
                  <a:ea typeface="Montserrat"/>
                  <a:cs typeface="Montserrat"/>
                  <a:sym typeface="Montserrat"/>
                </a:rPr>
                <a:t>Global </a:t>
              </a:r>
              <a:r>
                <a:rPr lang="es-CO" sz="900" dirty="0" err="1">
                  <a:solidFill>
                    <a:schemeClr val="bg1">
                      <a:lumMod val="50000"/>
                    </a:schemeClr>
                  </a:solidFill>
                  <a:latin typeface="Montserrat"/>
                  <a:ea typeface="Montserrat"/>
                  <a:cs typeface="Montserrat"/>
                  <a:sym typeface="Montserrat"/>
                </a:rPr>
                <a:t>Technology</a:t>
              </a:r>
              <a:r>
                <a:rPr lang="es-CO" sz="900" dirty="0">
                  <a:solidFill>
                    <a:schemeClr val="bg1">
                      <a:lumMod val="50000"/>
                    </a:schemeClr>
                  </a:solidFill>
                  <a:latin typeface="Montserrat"/>
                  <a:ea typeface="Montserrat"/>
                  <a:cs typeface="Montserrat"/>
                  <a:sym typeface="Montserrat"/>
                </a:rPr>
                <a:t> Ally I</a:t>
              </a:r>
              <a:r>
                <a:rPr lang="en" sz="900" b="0" i="0" u="none" strike="noStrike" cap="none" dirty="0">
                  <a:solidFill>
                    <a:schemeClr val="bg1">
                      <a:lumMod val="50000"/>
                    </a:schemeClr>
                  </a:solidFill>
                  <a:latin typeface="Montserrat"/>
                  <a:ea typeface="Montserrat"/>
                  <a:cs typeface="Montserrat"/>
                  <a:sym typeface="Montserrat"/>
                </a:rPr>
                <a:t> Información Confidencial</a:t>
              </a:r>
              <a:endParaRPr sz="900" b="0" i="0" u="none" strike="noStrike" cap="none" dirty="0">
                <a:solidFill>
                  <a:schemeClr val="bg1">
                    <a:lumMod val="50000"/>
                  </a:schemeClr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cxnSp>
          <p:nvCxnSpPr>
            <p:cNvPr id="7" name="Google Shape;93;p19">
              <a:extLst>
                <a:ext uri="{FF2B5EF4-FFF2-40B4-BE49-F238E27FC236}">
                  <a16:creationId xmlns:a16="http://schemas.microsoft.com/office/drawing/2014/main" id="{FA5E2A0D-73AB-CD1D-E954-78523EDBB1BF}"/>
                </a:ext>
              </a:extLst>
            </p:cNvPr>
            <p:cNvCxnSpPr>
              <a:cxnSpLocks/>
            </p:cNvCxnSpPr>
            <p:nvPr/>
          </p:nvCxnSpPr>
          <p:spPr>
            <a:xfrm>
              <a:off x="17449800" y="9530599"/>
              <a:ext cx="0" cy="626534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lumMod val="65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pic>
          <p:nvPicPr>
            <p:cNvPr id="8" name="Picture 6" descr="June 28th, 2024. – Falcon Farms">
              <a:extLst>
                <a:ext uri="{FF2B5EF4-FFF2-40B4-BE49-F238E27FC236}">
                  <a16:creationId xmlns:a16="http://schemas.microsoft.com/office/drawing/2014/main" id="{1FF176FC-B88D-62EF-9940-8C2A3FE83DC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/>
          </p:blipFill>
          <p:spPr bwMode="auto">
            <a:xfrm>
              <a:off x="16687800" y="9565751"/>
              <a:ext cx="1214923" cy="5562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Imagen 8" descr="Icono&#10;&#10;El contenido generado por IA puede ser incorrecto.">
              <a:extLst>
                <a:ext uri="{FF2B5EF4-FFF2-40B4-BE49-F238E27FC236}">
                  <a16:creationId xmlns:a16="http://schemas.microsoft.com/office/drawing/2014/main" id="{53F7BCC1-77E8-EA76-4365-19BCC31A00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7602200" y="9530599"/>
              <a:ext cx="626534" cy="626534"/>
            </a:xfrm>
            <a:prstGeom prst="rect">
              <a:avLst/>
            </a:prstGeom>
          </p:spPr>
        </p:pic>
      </p:grpSp>
      <p:sp>
        <p:nvSpPr>
          <p:cNvPr id="2" name="Google Shape;83;p18">
            <a:extLst>
              <a:ext uri="{FF2B5EF4-FFF2-40B4-BE49-F238E27FC236}">
                <a16:creationId xmlns:a16="http://schemas.microsoft.com/office/drawing/2014/main" id="{CA647710-524E-AB6D-A448-289C604A31C3}"/>
              </a:ext>
            </a:extLst>
          </p:cNvPr>
          <p:cNvSpPr/>
          <p:nvPr/>
        </p:nvSpPr>
        <p:spPr>
          <a:xfrm>
            <a:off x="10122897" y="-1"/>
            <a:ext cx="4038600" cy="10435813"/>
          </a:xfrm>
          <a:prstGeom prst="rect">
            <a:avLst/>
          </a:prstGeom>
          <a:gradFill>
            <a:gsLst>
              <a:gs pos="0">
                <a:schemeClr val="lt1"/>
              </a:gs>
              <a:gs pos="20000">
                <a:schemeClr val="lt1"/>
              </a:gs>
              <a:gs pos="43000">
                <a:srgbClr val="F6F6F6">
                  <a:alpha val="78039"/>
                </a:srgbClr>
              </a:gs>
              <a:gs pos="66000">
                <a:srgbClr val="F6F6F6">
                  <a:alpha val="45490"/>
                </a:srgbClr>
              </a:gs>
              <a:gs pos="84000">
                <a:srgbClr val="F6F6F6">
                  <a:alpha val="21568"/>
                </a:srgbClr>
              </a:gs>
              <a:gs pos="100000">
                <a:srgbClr val="F3F3F3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TextBox 24">
            <a:extLst>
              <a:ext uri="{FF2B5EF4-FFF2-40B4-BE49-F238E27FC236}">
                <a16:creationId xmlns:a16="http://schemas.microsoft.com/office/drawing/2014/main" id="{024A6DCC-2E40-3523-01CC-0EE0EB5C1B13}"/>
              </a:ext>
            </a:extLst>
          </p:cNvPr>
          <p:cNvSpPr txBox="1"/>
          <p:nvPr/>
        </p:nvSpPr>
        <p:spPr>
          <a:xfrm>
            <a:off x="1006430" y="2424877"/>
            <a:ext cx="10081740" cy="6155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rgbClr val="000000"/>
                </a:solidFill>
                <a:latin typeface="Now"/>
              </a:rPr>
              <a:t>Visión integral con seniority real</a:t>
            </a:r>
            <a:endParaRPr lang="es-CO" sz="2000" b="1" dirty="0">
              <a:solidFill>
                <a:srgbClr val="000000"/>
              </a:solidFill>
              <a:latin typeface="Now"/>
              <a:sym typeface="Now"/>
            </a:endParaRPr>
          </a:p>
          <a:p>
            <a:pPr algn="just"/>
            <a:r>
              <a:rPr lang="es-CO" sz="2000" dirty="0">
                <a:solidFill>
                  <a:srgbClr val="000000"/>
                </a:solidFill>
                <a:latin typeface="Now"/>
              </a:rPr>
              <a:t>Profesionales con más de 12 años de experiencia entienden cada requerimiento desde negocio, operación y tecnología: quien diseña es quien ejecuta.</a:t>
            </a:r>
          </a:p>
          <a:p>
            <a:pPr algn="just"/>
            <a:endParaRPr lang="es-CO" sz="2000" b="1" dirty="0">
              <a:solidFill>
                <a:srgbClr val="000000"/>
              </a:solidFill>
              <a:latin typeface="Now"/>
              <a:sym typeface="Now"/>
            </a:endParaRPr>
          </a:p>
          <a:p>
            <a:pPr algn="just"/>
            <a:endParaRPr lang="es-CO" sz="2000" b="1" dirty="0">
              <a:solidFill>
                <a:srgbClr val="000000"/>
              </a:solidFill>
              <a:latin typeface="Now"/>
              <a:sym typeface="Now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s-CO" sz="2000" b="1" dirty="0">
                <a:solidFill>
                  <a:srgbClr val="000000"/>
                </a:solidFill>
                <a:latin typeface="Now"/>
              </a:rPr>
              <a:t>Soluciones sostenibles, no parches temporales</a:t>
            </a:r>
          </a:p>
          <a:p>
            <a:pPr algn="just"/>
            <a:r>
              <a:rPr lang="es-CO" sz="2000" dirty="0">
                <a:solidFill>
                  <a:srgbClr val="000000"/>
                </a:solidFill>
                <a:latin typeface="Now"/>
              </a:rPr>
              <a:t>Cada solución ordena y fortalece el proceso, priorizando:</a:t>
            </a:r>
          </a:p>
          <a:p>
            <a:pPr algn="just"/>
            <a:r>
              <a:rPr lang="es-CO" sz="2000" dirty="0">
                <a:solidFill>
                  <a:srgbClr val="000000"/>
                </a:solidFill>
                <a:latin typeface="Now"/>
              </a:rPr>
              <a:t>-Reducción de riesgo</a:t>
            </a:r>
          </a:p>
          <a:p>
            <a:pPr algn="just"/>
            <a:r>
              <a:rPr lang="es-CO" sz="2000" dirty="0">
                <a:solidFill>
                  <a:srgbClr val="000000"/>
                </a:solidFill>
                <a:latin typeface="Now"/>
              </a:rPr>
              <a:t>-Escalabilidad</a:t>
            </a:r>
          </a:p>
          <a:p>
            <a:pPr algn="just"/>
            <a:r>
              <a:rPr lang="es-CO" sz="2000" dirty="0">
                <a:solidFill>
                  <a:srgbClr val="000000"/>
                </a:solidFill>
                <a:latin typeface="Now"/>
              </a:rPr>
              <a:t>-Facilidad de evolución</a:t>
            </a:r>
          </a:p>
          <a:p>
            <a:pPr algn="just"/>
            <a:endParaRPr lang="es-CO" sz="2000" dirty="0">
              <a:solidFill>
                <a:srgbClr val="000000"/>
              </a:solidFill>
              <a:latin typeface="Now"/>
            </a:endParaRPr>
          </a:p>
          <a:p>
            <a:pPr algn="just"/>
            <a:endParaRPr lang="es-CO" sz="2000" b="1" dirty="0">
              <a:solidFill>
                <a:srgbClr val="000000"/>
              </a:solidFill>
              <a:highlight>
                <a:srgbClr val="FFFF00"/>
              </a:highlight>
              <a:latin typeface="Now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s-CO" sz="2000" b="1" dirty="0">
                <a:solidFill>
                  <a:srgbClr val="000000"/>
                </a:solidFill>
                <a:latin typeface="Now"/>
              </a:rPr>
              <a:t>Conocimiento del ecosistema GHT</a:t>
            </a:r>
          </a:p>
          <a:p>
            <a:pPr algn="just"/>
            <a:r>
              <a:rPr lang="es-CO" sz="2000" b="0" dirty="0">
                <a:solidFill>
                  <a:srgbClr val="000000"/>
                </a:solidFill>
                <a:latin typeface="Now"/>
              </a:rPr>
              <a:t>Ya trabajamos dentro de la red: arrancamos sin curva de aprendizaje y con la urgencia de mostrar resultados desde la primera semana.</a:t>
            </a:r>
          </a:p>
          <a:p>
            <a:pPr algn="just"/>
            <a:endParaRPr lang="es-CO" sz="2000" b="1" dirty="0">
              <a:solidFill>
                <a:srgbClr val="000000"/>
              </a:solidFill>
              <a:latin typeface="Now"/>
            </a:endParaRPr>
          </a:p>
          <a:p>
            <a:pPr algn="just"/>
            <a:endParaRPr lang="es-CO" sz="2000" b="1" dirty="0">
              <a:solidFill>
                <a:srgbClr val="000000"/>
              </a:solidFill>
              <a:latin typeface="Now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s-CO" sz="2000" b="1" dirty="0">
                <a:solidFill>
                  <a:srgbClr val="000000"/>
                </a:solidFill>
                <a:latin typeface="Now"/>
              </a:rPr>
              <a:t>Aliados, no proveedores</a:t>
            </a:r>
          </a:p>
          <a:p>
            <a:pPr algn="just"/>
            <a:r>
              <a:rPr lang="es-CO" sz="2000" dirty="0">
                <a:solidFill>
                  <a:srgbClr val="000000"/>
                </a:solidFill>
                <a:latin typeface="Now"/>
              </a:rPr>
              <a:t>Trabajamos de la mano como verdaderos aliados: priorizamos juntos,</a:t>
            </a:r>
          </a:p>
          <a:p>
            <a:pPr algn="just"/>
            <a:r>
              <a:rPr lang="es-CO" sz="2000" dirty="0">
                <a:solidFill>
                  <a:srgbClr val="000000"/>
                </a:solidFill>
                <a:latin typeface="Now"/>
              </a:rPr>
              <a:t>construimos propuestas defendibles desde lo operativo y aprobables desde lo comercial.</a:t>
            </a:r>
          </a:p>
        </p:txBody>
      </p:sp>
      <p:sp>
        <p:nvSpPr>
          <p:cNvPr id="15" name="Google Shape;92;p19">
            <a:extLst>
              <a:ext uri="{FF2B5EF4-FFF2-40B4-BE49-F238E27FC236}">
                <a16:creationId xmlns:a16="http://schemas.microsoft.com/office/drawing/2014/main" id="{96A273CA-1F1A-6339-7972-CDB0B928D0D3}"/>
              </a:ext>
            </a:extLst>
          </p:cNvPr>
          <p:cNvSpPr/>
          <p:nvPr/>
        </p:nvSpPr>
        <p:spPr>
          <a:xfrm>
            <a:off x="1289815" y="571500"/>
            <a:ext cx="13574758" cy="1135512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35000" tIns="70200" rIns="135000" bIns="70200" anchor="t" anchorCtr="0">
            <a:noAutofit/>
          </a:bodyPr>
          <a:lstStyle/>
          <a:p>
            <a:pPr>
              <a:lnSpc>
                <a:spcPct val="90000"/>
              </a:lnSpc>
              <a:buClr>
                <a:srgbClr val="000000"/>
              </a:buClr>
              <a:buSzPts val="2200"/>
            </a:pPr>
            <a:r>
              <a:rPr lang="en-US" sz="4400" b="1" dirty="0">
                <a:latin typeface="Montserrat Black"/>
              </a:rPr>
              <a:t>VALOR DIFERENCIAL</a:t>
            </a:r>
            <a:endParaRPr lang="es-CO" sz="4400" b="1" dirty="0"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cxnSp>
        <p:nvCxnSpPr>
          <p:cNvPr id="16" name="Google Shape;93;p19">
            <a:extLst>
              <a:ext uri="{FF2B5EF4-FFF2-40B4-BE49-F238E27FC236}">
                <a16:creationId xmlns:a16="http://schemas.microsoft.com/office/drawing/2014/main" id="{D3B2E733-821A-A749-FDAB-58E543A81FBD}"/>
              </a:ext>
            </a:extLst>
          </p:cNvPr>
          <p:cNvCxnSpPr/>
          <p:nvPr/>
        </p:nvCxnSpPr>
        <p:spPr>
          <a:xfrm>
            <a:off x="1006430" y="601056"/>
            <a:ext cx="1800" cy="538200"/>
          </a:xfrm>
          <a:prstGeom prst="straightConnector1">
            <a:avLst/>
          </a:prstGeom>
          <a:noFill/>
          <a:ln w="41400" cap="flat" cmpd="sng">
            <a:solidFill>
              <a:srgbClr val="0089FF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163918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AFE5638-EF4C-B9C5-56F2-6C7C5BF65634}"/>
              </a:ext>
            </a:extLst>
          </p:cNvPr>
          <p:cNvGrpSpPr/>
          <p:nvPr/>
        </p:nvGrpSpPr>
        <p:grpSpPr>
          <a:xfrm rot="-10800000">
            <a:off x="-681049" y="4033391"/>
            <a:ext cx="17293906" cy="1060542"/>
            <a:chOff x="0" y="0"/>
            <a:chExt cx="17447327" cy="12687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39DE412-3685-684E-1132-45E7EE1C7A11}"/>
                </a:ext>
              </a:extLst>
            </p:cNvPr>
            <p:cNvSpPr/>
            <p:nvPr/>
          </p:nvSpPr>
          <p:spPr>
            <a:xfrm>
              <a:off x="0" y="0"/>
              <a:ext cx="17447327" cy="1268730"/>
            </a:xfrm>
            <a:custGeom>
              <a:avLst/>
              <a:gdLst/>
              <a:ahLst/>
              <a:cxnLst/>
              <a:rect l="l" t="t" r="r" b="b"/>
              <a:pathLst>
                <a:path w="17447327" h="1268730">
                  <a:moveTo>
                    <a:pt x="735330" y="0"/>
                  </a:moveTo>
                  <a:lnTo>
                    <a:pt x="0" y="1268730"/>
                  </a:lnTo>
                  <a:lnTo>
                    <a:pt x="17447327" y="1268730"/>
                  </a:lnTo>
                  <a:lnTo>
                    <a:pt x="16711997" y="0"/>
                  </a:lnTo>
                  <a:close/>
                </a:path>
              </a:pathLst>
            </a:custGeom>
            <a:solidFill>
              <a:srgbClr val="86EAE9"/>
            </a:solid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92A18298-9B7B-1559-D430-D21E95F211CD}"/>
              </a:ext>
            </a:extLst>
          </p:cNvPr>
          <p:cNvGrpSpPr/>
          <p:nvPr/>
        </p:nvGrpSpPr>
        <p:grpSpPr>
          <a:xfrm rot="-10800000">
            <a:off x="-856298" y="7264738"/>
            <a:ext cx="17469156" cy="1060542"/>
            <a:chOff x="0" y="0"/>
            <a:chExt cx="17624131" cy="126873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183A213-B549-E5E6-4F72-282D6DECC59B}"/>
                </a:ext>
              </a:extLst>
            </p:cNvPr>
            <p:cNvSpPr/>
            <p:nvPr/>
          </p:nvSpPr>
          <p:spPr>
            <a:xfrm>
              <a:off x="0" y="0"/>
              <a:ext cx="17624130" cy="1268730"/>
            </a:xfrm>
            <a:custGeom>
              <a:avLst/>
              <a:gdLst/>
              <a:ahLst/>
              <a:cxnLst/>
              <a:rect l="l" t="t" r="r" b="b"/>
              <a:pathLst>
                <a:path w="17624130" h="1268730">
                  <a:moveTo>
                    <a:pt x="735330" y="0"/>
                  </a:moveTo>
                  <a:lnTo>
                    <a:pt x="0" y="1268730"/>
                  </a:lnTo>
                  <a:lnTo>
                    <a:pt x="17624130" y="1268730"/>
                  </a:lnTo>
                  <a:lnTo>
                    <a:pt x="16888802" y="0"/>
                  </a:lnTo>
                  <a:close/>
                </a:path>
              </a:pathLst>
            </a:custGeom>
            <a:solidFill>
              <a:srgbClr val="2C92D5"/>
            </a:solid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16546B1B-D756-BAD5-A3BE-3F8F92E25C04}"/>
              </a:ext>
            </a:extLst>
          </p:cNvPr>
          <p:cNvGrpSpPr/>
          <p:nvPr/>
        </p:nvGrpSpPr>
        <p:grpSpPr>
          <a:xfrm rot="-10800000">
            <a:off x="-681049" y="6189363"/>
            <a:ext cx="17293906" cy="1060542"/>
            <a:chOff x="0" y="0"/>
            <a:chExt cx="17447327" cy="126873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EF9760E-0895-1B56-843D-EA37F8F18624}"/>
                </a:ext>
              </a:extLst>
            </p:cNvPr>
            <p:cNvSpPr/>
            <p:nvPr/>
          </p:nvSpPr>
          <p:spPr>
            <a:xfrm>
              <a:off x="0" y="0"/>
              <a:ext cx="17447327" cy="1268730"/>
            </a:xfrm>
            <a:custGeom>
              <a:avLst/>
              <a:gdLst/>
              <a:ahLst/>
              <a:cxnLst/>
              <a:rect l="l" t="t" r="r" b="b"/>
              <a:pathLst>
                <a:path w="17447327" h="1268730">
                  <a:moveTo>
                    <a:pt x="735330" y="0"/>
                  </a:moveTo>
                  <a:lnTo>
                    <a:pt x="0" y="1268730"/>
                  </a:lnTo>
                  <a:lnTo>
                    <a:pt x="17447327" y="1268730"/>
                  </a:lnTo>
                  <a:lnTo>
                    <a:pt x="16711997" y="0"/>
                  </a:lnTo>
                  <a:close/>
                </a:path>
              </a:pathLst>
            </a:custGeom>
            <a:solidFill>
              <a:srgbClr val="37C9EF"/>
            </a:solid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0FE3F3C7-A6DB-C0DE-2661-17BF63F7DB14}"/>
              </a:ext>
            </a:extLst>
          </p:cNvPr>
          <p:cNvGrpSpPr/>
          <p:nvPr/>
        </p:nvGrpSpPr>
        <p:grpSpPr>
          <a:xfrm rot="-10800000">
            <a:off x="-681049" y="5113989"/>
            <a:ext cx="17293906" cy="1060542"/>
            <a:chOff x="0" y="0"/>
            <a:chExt cx="17447327" cy="126873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CC990FD-8DAA-1DB0-91F2-4646FB566775}"/>
                </a:ext>
              </a:extLst>
            </p:cNvPr>
            <p:cNvSpPr/>
            <p:nvPr/>
          </p:nvSpPr>
          <p:spPr>
            <a:xfrm>
              <a:off x="0" y="0"/>
              <a:ext cx="17447327" cy="1268730"/>
            </a:xfrm>
            <a:custGeom>
              <a:avLst/>
              <a:gdLst/>
              <a:ahLst/>
              <a:cxnLst/>
              <a:rect l="l" t="t" r="r" b="b"/>
              <a:pathLst>
                <a:path w="17447327" h="1268730">
                  <a:moveTo>
                    <a:pt x="735330" y="0"/>
                  </a:moveTo>
                  <a:lnTo>
                    <a:pt x="0" y="1268730"/>
                  </a:lnTo>
                  <a:lnTo>
                    <a:pt x="17447327" y="1268730"/>
                  </a:lnTo>
                  <a:lnTo>
                    <a:pt x="16711997" y="0"/>
                  </a:lnTo>
                  <a:close/>
                </a:path>
              </a:pathLst>
            </a:custGeom>
            <a:solidFill>
              <a:srgbClr val="7AC6D2"/>
            </a:solid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3382A8FB-414E-5A8F-1ABE-7DE321CE78F6}"/>
              </a:ext>
            </a:extLst>
          </p:cNvPr>
          <p:cNvGrpSpPr/>
          <p:nvPr/>
        </p:nvGrpSpPr>
        <p:grpSpPr>
          <a:xfrm rot="-10800000">
            <a:off x="-681049" y="8345336"/>
            <a:ext cx="17293906" cy="1060542"/>
            <a:chOff x="0" y="0"/>
            <a:chExt cx="17447327" cy="126873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308FCE62-9FF5-9124-E650-1BD87FC98FD2}"/>
                </a:ext>
              </a:extLst>
            </p:cNvPr>
            <p:cNvSpPr/>
            <p:nvPr/>
          </p:nvSpPr>
          <p:spPr>
            <a:xfrm>
              <a:off x="0" y="0"/>
              <a:ext cx="17447327" cy="1268730"/>
            </a:xfrm>
            <a:custGeom>
              <a:avLst/>
              <a:gdLst/>
              <a:ahLst/>
              <a:cxnLst/>
              <a:rect l="l" t="t" r="r" b="b"/>
              <a:pathLst>
                <a:path w="17447327" h="1268730">
                  <a:moveTo>
                    <a:pt x="735330" y="0"/>
                  </a:moveTo>
                  <a:lnTo>
                    <a:pt x="0" y="1268730"/>
                  </a:lnTo>
                  <a:lnTo>
                    <a:pt x="17447327" y="1268730"/>
                  </a:lnTo>
                  <a:lnTo>
                    <a:pt x="16711997" y="0"/>
                  </a:lnTo>
                  <a:close/>
                </a:path>
              </a:pathLst>
            </a:custGeom>
            <a:solidFill>
              <a:srgbClr val="13538A"/>
            </a:solidFill>
          </p:spPr>
          <p:txBody>
            <a:bodyPr/>
            <a:lstStyle/>
            <a:p>
              <a:endParaRPr lang="es-CO"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7AD0B978-1AA1-3E06-ECED-9A71E8B12545}"/>
              </a:ext>
            </a:extLst>
          </p:cNvPr>
          <p:cNvGrpSpPr/>
          <p:nvPr/>
        </p:nvGrpSpPr>
        <p:grpSpPr>
          <a:xfrm rot="-10800000">
            <a:off x="-681049" y="2958017"/>
            <a:ext cx="17293906" cy="1060542"/>
            <a:chOff x="0" y="0"/>
            <a:chExt cx="17447327" cy="126873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A16C88D2-A94C-8671-FB27-8199345386A1}"/>
                </a:ext>
              </a:extLst>
            </p:cNvPr>
            <p:cNvSpPr/>
            <p:nvPr/>
          </p:nvSpPr>
          <p:spPr>
            <a:xfrm>
              <a:off x="0" y="0"/>
              <a:ext cx="17447327" cy="1268730"/>
            </a:xfrm>
            <a:custGeom>
              <a:avLst/>
              <a:gdLst/>
              <a:ahLst/>
              <a:cxnLst/>
              <a:rect l="l" t="t" r="r" b="b"/>
              <a:pathLst>
                <a:path w="17447327" h="1268730">
                  <a:moveTo>
                    <a:pt x="735330" y="0"/>
                  </a:moveTo>
                  <a:lnTo>
                    <a:pt x="0" y="1268730"/>
                  </a:lnTo>
                  <a:lnTo>
                    <a:pt x="17447327" y="1268730"/>
                  </a:lnTo>
                  <a:lnTo>
                    <a:pt x="16711997" y="0"/>
                  </a:lnTo>
                  <a:close/>
                </a:path>
              </a:pathLst>
            </a:custGeom>
            <a:solidFill>
              <a:srgbClr val="3EDAD8"/>
            </a:solidFill>
          </p:spPr>
          <p:txBody>
            <a:bodyPr/>
            <a:lstStyle/>
            <a:p>
              <a:endParaRPr lang="es-CO" dirty="0"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99B235A-A24B-E29A-49B3-EC3F0F2FA3F3}"/>
              </a:ext>
            </a:extLst>
          </p:cNvPr>
          <p:cNvGrpSpPr/>
          <p:nvPr/>
        </p:nvGrpSpPr>
        <p:grpSpPr>
          <a:xfrm rot="-10800000">
            <a:off x="-681049" y="1882642"/>
            <a:ext cx="17293906" cy="1060542"/>
            <a:chOff x="0" y="0"/>
            <a:chExt cx="17447327" cy="1268730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AFDDBFB3-7291-5372-7D76-82696D22ED83}"/>
                </a:ext>
              </a:extLst>
            </p:cNvPr>
            <p:cNvSpPr/>
            <p:nvPr/>
          </p:nvSpPr>
          <p:spPr>
            <a:xfrm>
              <a:off x="0" y="0"/>
              <a:ext cx="17447327" cy="1268730"/>
            </a:xfrm>
            <a:custGeom>
              <a:avLst/>
              <a:gdLst/>
              <a:ahLst/>
              <a:cxnLst/>
              <a:rect l="l" t="t" r="r" b="b"/>
              <a:pathLst>
                <a:path w="17447327" h="1268730">
                  <a:moveTo>
                    <a:pt x="735330" y="0"/>
                  </a:moveTo>
                  <a:lnTo>
                    <a:pt x="0" y="1268730"/>
                  </a:lnTo>
                  <a:lnTo>
                    <a:pt x="17447327" y="1268730"/>
                  </a:lnTo>
                  <a:lnTo>
                    <a:pt x="16711997" y="0"/>
                  </a:lnTo>
                  <a:close/>
                </a:path>
              </a:pathLst>
            </a:custGeom>
            <a:solidFill>
              <a:srgbClr val="86EAD5"/>
            </a:solidFill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23" name="TextBox 23">
            <a:extLst>
              <a:ext uri="{FF2B5EF4-FFF2-40B4-BE49-F238E27FC236}">
                <a16:creationId xmlns:a16="http://schemas.microsoft.com/office/drawing/2014/main" id="{C8DFEF50-03A5-1E60-6410-D6F544657E21}"/>
              </a:ext>
            </a:extLst>
          </p:cNvPr>
          <p:cNvSpPr txBox="1"/>
          <p:nvPr/>
        </p:nvSpPr>
        <p:spPr>
          <a:xfrm>
            <a:off x="1132531" y="1935461"/>
            <a:ext cx="2438596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s-CO" sz="2000" spc="125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w"/>
                <a:ea typeface="Now"/>
                <a:cs typeface="Now"/>
                <a:sym typeface="Now"/>
              </a:rPr>
              <a:t>Kickoff 13 jun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E11FAB15-A501-4A48-8AF4-259CFA8BA89C}"/>
              </a:ext>
            </a:extLst>
          </p:cNvPr>
          <p:cNvSpPr txBox="1"/>
          <p:nvPr/>
        </p:nvSpPr>
        <p:spPr>
          <a:xfrm>
            <a:off x="3824780" y="2168320"/>
            <a:ext cx="11658972" cy="3277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60"/>
              </a:lnSpc>
            </a:pPr>
            <a:r>
              <a:rPr lang="es-CO" spc="95" noProof="0" dirty="0">
                <a:latin typeface="Now"/>
                <a:ea typeface="Now"/>
                <a:cs typeface="Now"/>
                <a:sym typeface="Now"/>
              </a:rPr>
              <a:t>Aprobación del programa, arranque de arquitectura.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39858650-246E-414E-1609-C1D6DD259ADC}"/>
              </a:ext>
            </a:extLst>
          </p:cNvPr>
          <p:cNvSpPr txBox="1"/>
          <p:nvPr/>
        </p:nvSpPr>
        <p:spPr>
          <a:xfrm>
            <a:off x="1132531" y="3044290"/>
            <a:ext cx="2438596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s-CO" sz="2000" spc="125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w"/>
                <a:ea typeface="Now"/>
                <a:cs typeface="Now"/>
                <a:sym typeface="Now"/>
              </a:rPr>
              <a:t>Avance web 17 jun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935896E5-40DD-6470-F2ED-B7685B518D5D}"/>
              </a:ext>
            </a:extLst>
          </p:cNvPr>
          <p:cNvSpPr txBox="1"/>
          <p:nvPr/>
        </p:nvSpPr>
        <p:spPr>
          <a:xfrm>
            <a:off x="3763631" y="3078248"/>
            <a:ext cx="11594560" cy="6588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60"/>
              </a:lnSpc>
            </a:pPr>
            <a:r>
              <a:rPr lang="es-CO" sz="1400" spc="95" noProof="0" dirty="0">
                <a:latin typeface="Now"/>
                <a:ea typeface="Now"/>
                <a:cs typeface="Now"/>
                <a:sym typeface="Now"/>
              </a:rPr>
              <a:t>Primera aproximación navegable: núcleo conversacional y evaluación LLM con la rúbrica de GHT, por web.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B226E433-1F8D-AB7C-4BC9-BECAF91ECA0F}"/>
              </a:ext>
            </a:extLst>
          </p:cNvPr>
          <p:cNvSpPr txBox="1"/>
          <p:nvPr/>
        </p:nvSpPr>
        <p:spPr>
          <a:xfrm>
            <a:off x="1132531" y="4119665"/>
            <a:ext cx="2438596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s-CO" sz="2000" spc="125" noProof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w"/>
                <a:ea typeface="Now"/>
                <a:cs typeface="Now"/>
                <a:sym typeface="Now"/>
              </a:rPr>
              <a:t>Memoria 18–19 jun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90443C2D-6DE1-6FD2-AA94-06ECAC9456F3}"/>
              </a:ext>
            </a:extLst>
          </p:cNvPr>
          <p:cNvSpPr txBox="1"/>
          <p:nvPr/>
        </p:nvSpPr>
        <p:spPr>
          <a:xfrm>
            <a:off x="3763631" y="4213644"/>
            <a:ext cx="11658971" cy="6703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s-CO" spc="95" noProof="0" dirty="0">
                <a:latin typeface="Now"/>
                <a:ea typeface="Now"/>
                <a:cs typeface="Now"/>
                <a:sym typeface="Now"/>
              </a:rPr>
              <a:t>Generación Markdown con autoría y trazabilidad, y consulta de resultados.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74B3E21A-013E-2B54-88DD-A3D2942591E7}"/>
              </a:ext>
            </a:extLst>
          </p:cNvPr>
          <p:cNvSpPr txBox="1"/>
          <p:nvPr/>
        </p:nvSpPr>
        <p:spPr>
          <a:xfrm>
            <a:off x="1132531" y="5206476"/>
            <a:ext cx="2438596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s-CO" sz="2000" spc="125" noProof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w"/>
                <a:ea typeface="Now"/>
                <a:cs typeface="Now"/>
                <a:sym typeface="Now"/>
              </a:rPr>
              <a:t>Entrega 22 jun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F560994C-1AFA-D4F0-1390-5D2B70512B07}"/>
              </a:ext>
            </a:extLst>
          </p:cNvPr>
          <p:cNvSpPr txBox="1"/>
          <p:nvPr/>
        </p:nvSpPr>
        <p:spPr>
          <a:xfrm>
            <a:off x="3763631" y="5473561"/>
            <a:ext cx="11658971" cy="3277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s-CO" spc="95" noProof="0" dirty="0">
                <a:latin typeface="Now"/>
                <a:ea typeface="Now"/>
                <a:cs typeface="Now"/>
                <a:sym typeface="Now"/>
              </a:rPr>
              <a:t>Prueba con usuarios reales, ajustes y primera versión del MVP. 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868A7316-43BE-0570-6AE7-9123A7E7744A}"/>
              </a:ext>
            </a:extLst>
          </p:cNvPr>
          <p:cNvSpPr txBox="1"/>
          <p:nvPr/>
        </p:nvSpPr>
        <p:spPr>
          <a:xfrm>
            <a:off x="1132531" y="6297682"/>
            <a:ext cx="2438596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s-CO" sz="2000" spc="125" noProof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w"/>
                <a:ea typeface="Now"/>
                <a:cs typeface="Now"/>
                <a:sym typeface="Now"/>
              </a:rPr>
              <a:t>Canal WhatsApp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4374EC1-D078-69DB-BF7D-B7876F5D2565}"/>
              </a:ext>
            </a:extLst>
          </p:cNvPr>
          <p:cNvSpPr txBox="1"/>
          <p:nvPr/>
        </p:nvSpPr>
        <p:spPr>
          <a:xfrm>
            <a:off x="3763632" y="6392706"/>
            <a:ext cx="11658970" cy="6703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s-CO" spc="95" noProof="0" dirty="0">
                <a:latin typeface="Now"/>
                <a:ea typeface="Now"/>
                <a:cs typeface="Now"/>
                <a:sym typeface="Now"/>
              </a:rPr>
              <a:t>GTA parametriza sobre la plataforma Meta de GHT al recibir la línea y la tarjeta; activación en 2 días hábiles, sin costo.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AB8BB86B-09B5-FEA0-50F5-B98786C29427}"/>
              </a:ext>
            </a:extLst>
          </p:cNvPr>
          <p:cNvSpPr txBox="1"/>
          <p:nvPr/>
        </p:nvSpPr>
        <p:spPr>
          <a:xfrm>
            <a:off x="1132531" y="7576300"/>
            <a:ext cx="2438596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s-CO" sz="2000" spc="125" noProof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w"/>
                <a:ea typeface="Now"/>
                <a:cs typeface="Now"/>
                <a:sym typeface="Now"/>
              </a:rPr>
              <a:t>Canal web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B2424D61-64C5-AFA5-2F98-791EF567C51C}"/>
              </a:ext>
            </a:extLst>
          </p:cNvPr>
          <p:cNvSpPr txBox="1"/>
          <p:nvPr/>
        </p:nvSpPr>
        <p:spPr>
          <a:xfrm>
            <a:off x="3763632" y="7633401"/>
            <a:ext cx="11658970" cy="323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s-CO" spc="95" noProof="0" dirty="0">
                <a:latin typeface="Now"/>
                <a:ea typeface="Now"/>
                <a:cs typeface="Now"/>
                <a:sym typeface="Now"/>
              </a:rPr>
              <a:t>Si la línea no está lista, la entrega del 22 sale por una página web simple con el flujo completo.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CC61E11A-56BD-F296-662B-A140739482E7}"/>
              </a:ext>
            </a:extLst>
          </p:cNvPr>
          <p:cNvSpPr txBox="1"/>
          <p:nvPr/>
        </p:nvSpPr>
        <p:spPr>
          <a:xfrm>
            <a:off x="1132531" y="8456965"/>
            <a:ext cx="2438596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s-CO" sz="2000" spc="125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w"/>
                <a:ea typeface="Now"/>
                <a:cs typeface="Now"/>
                <a:sym typeface="Now"/>
              </a:rPr>
              <a:t>Reporte diario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5523C4FA-D049-80F4-FD6E-50F6CB4B93F4}"/>
              </a:ext>
            </a:extLst>
          </p:cNvPr>
          <p:cNvSpPr txBox="1"/>
          <p:nvPr/>
        </p:nvSpPr>
        <p:spPr>
          <a:xfrm>
            <a:off x="3686984" y="8551989"/>
            <a:ext cx="11735617" cy="6703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s-CO" spc="95" noProof="0" dirty="0">
                <a:latin typeface="Now"/>
                <a:ea typeface="Now"/>
                <a:cs typeface="Now"/>
                <a:sym typeface="Now"/>
              </a:rPr>
              <a:t>GTA presenta un avance corto cada día del sprint para decisión inmediata.</a:t>
            </a:r>
          </a:p>
        </p:txBody>
      </p:sp>
      <p:cxnSp>
        <p:nvCxnSpPr>
          <p:cNvPr id="40" name="Google Shape;93;p19">
            <a:extLst>
              <a:ext uri="{FF2B5EF4-FFF2-40B4-BE49-F238E27FC236}">
                <a16:creationId xmlns:a16="http://schemas.microsoft.com/office/drawing/2014/main" id="{9BB67B7F-3C73-CB9D-2B29-EC585C022E57}"/>
              </a:ext>
            </a:extLst>
          </p:cNvPr>
          <p:cNvCxnSpPr/>
          <p:nvPr/>
        </p:nvCxnSpPr>
        <p:spPr>
          <a:xfrm>
            <a:off x="1006430" y="601056"/>
            <a:ext cx="1800" cy="538200"/>
          </a:xfrm>
          <a:prstGeom prst="straightConnector1">
            <a:avLst/>
          </a:prstGeom>
          <a:noFill/>
          <a:ln w="41400" cap="flat" cmpd="sng">
            <a:solidFill>
              <a:srgbClr val="0089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41" name="Google Shape;92;p19">
            <a:extLst>
              <a:ext uri="{FF2B5EF4-FFF2-40B4-BE49-F238E27FC236}">
                <a16:creationId xmlns:a16="http://schemas.microsoft.com/office/drawing/2014/main" id="{312A137D-855F-4E08-F383-87087DD2167A}"/>
              </a:ext>
            </a:extLst>
          </p:cNvPr>
          <p:cNvSpPr/>
          <p:nvPr/>
        </p:nvSpPr>
        <p:spPr>
          <a:xfrm>
            <a:off x="1289815" y="571500"/>
            <a:ext cx="11964630" cy="1135512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35000" tIns="70200" rIns="135000" bIns="70200" anchor="t" anchorCtr="0">
            <a:noAutofit/>
          </a:bodyPr>
          <a:lstStyle/>
          <a:p>
            <a:pPr>
              <a:lnSpc>
                <a:spcPct val="90000"/>
              </a:lnSpc>
              <a:buClr>
                <a:srgbClr val="000000"/>
              </a:buClr>
              <a:buSzPts val="2200"/>
            </a:pPr>
            <a:r>
              <a:rPr lang="es-CO" sz="4400" b="1">
                <a:latin typeface="Montserrat Black"/>
                <a:ea typeface="Montserrat Black"/>
                <a:cs typeface="Montserrat Black"/>
                <a:sym typeface="Montserrat Black"/>
              </a:rPr>
              <a:t>SPRINT MVP EL TEJIDO</a:t>
            </a:r>
          </a:p>
        </p:txBody>
      </p:sp>
    </p:spTree>
    <p:extLst>
      <p:ext uri="{BB962C8B-B14F-4D97-AF65-F5344CB8AC3E}">
        <p14:creationId xmlns:p14="http://schemas.microsoft.com/office/powerpoint/2010/main" val="325827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969BC-5929-60A9-FFA3-1C8D27A49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Free Flowers Bouquet Png, Download Free Flowers Bouquet Png png images ...">
            <a:extLst>
              <a:ext uri="{FF2B5EF4-FFF2-40B4-BE49-F238E27FC236}">
                <a16:creationId xmlns:a16="http://schemas.microsoft.com/office/drawing/2014/main" id="{C9494B07-242A-11B4-B9AD-47A525360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3233061" y="1368628"/>
            <a:ext cx="7616400" cy="8918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24">
            <a:extLst>
              <a:ext uri="{FF2B5EF4-FFF2-40B4-BE49-F238E27FC236}">
                <a16:creationId xmlns:a16="http://schemas.microsoft.com/office/drawing/2014/main" id="{5BF8BFD8-A9E9-CD95-9DCD-57DC033F4CB6}"/>
              </a:ext>
            </a:extLst>
          </p:cNvPr>
          <p:cNvSpPr txBox="1"/>
          <p:nvPr/>
        </p:nvSpPr>
        <p:spPr>
          <a:xfrm>
            <a:off x="3396344" y="1867396"/>
            <a:ext cx="13999642" cy="2154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s-CO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w"/>
                <a:ea typeface="Now"/>
                <a:cs typeface="Now"/>
                <a:sym typeface="Now"/>
              </a:rPr>
              <a:t>Ejecución de requerimientos</a:t>
            </a:r>
          </a:p>
          <a:p>
            <a:endParaRPr lang="es-CO" sz="20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ow"/>
              <a:ea typeface="Now"/>
              <a:cs typeface="Now"/>
              <a:sym typeface="Now"/>
            </a:endParaRPr>
          </a:p>
          <a:p>
            <a:r>
              <a:rPr lang="es-CO" sz="2000" dirty="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Los nuevos trabajos digitales de GHT —evolución de El Tejido, integraciones u otras iniciativas— se ejecutan mediante el mismo proceso de requerimientos aprobados.</a:t>
            </a:r>
          </a:p>
          <a:p>
            <a:endParaRPr lang="es-CO" sz="2000" dirty="0">
              <a:solidFill>
                <a:srgbClr val="000000"/>
              </a:solidFill>
              <a:latin typeface="Now"/>
              <a:ea typeface="Now"/>
              <a:cs typeface="Now"/>
              <a:sym typeface="Now"/>
            </a:endParaRPr>
          </a:p>
          <a:p>
            <a:r>
              <a:rPr lang="es-CO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w"/>
                <a:ea typeface="Now"/>
                <a:cs typeface="Now"/>
                <a:sym typeface="Now"/>
              </a:rPr>
              <a:t>Proceso de ejecución</a:t>
            </a:r>
          </a:p>
          <a:p>
            <a:endParaRPr lang="es-CO" sz="20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ow"/>
              <a:ea typeface="Now"/>
              <a:cs typeface="Now"/>
              <a:sym typeface="Now"/>
            </a:endParaRPr>
          </a:p>
        </p:txBody>
      </p:sp>
      <p:cxnSp>
        <p:nvCxnSpPr>
          <p:cNvPr id="9" name="Google Shape;93;p19">
            <a:extLst>
              <a:ext uri="{FF2B5EF4-FFF2-40B4-BE49-F238E27FC236}">
                <a16:creationId xmlns:a16="http://schemas.microsoft.com/office/drawing/2014/main" id="{40F56870-E9EF-93F2-A9BC-7DA40FF65271}"/>
              </a:ext>
            </a:extLst>
          </p:cNvPr>
          <p:cNvCxnSpPr/>
          <p:nvPr/>
        </p:nvCxnSpPr>
        <p:spPr>
          <a:xfrm>
            <a:off x="1006430" y="601056"/>
            <a:ext cx="1800" cy="538200"/>
          </a:xfrm>
          <a:prstGeom prst="straightConnector1">
            <a:avLst/>
          </a:prstGeom>
          <a:noFill/>
          <a:ln w="41400" cap="flat" cmpd="sng">
            <a:solidFill>
              <a:srgbClr val="0089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" name="TextBox 24">
            <a:extLst>
              <a:ext uri="{FF2B5EF4-FFF2-40B4-BE49-F238E27FC236}">
                <a16:creationId xmlns:a16="http://schemas.microsoft.com/office/drawing/2014/main" id="{90F70F5B-A6D2-347F-DA08-2E99D23A6C0E}"/>
              </a:ext>
            </a:extLst>
          </p:cNvPr>
          <p:cNvSpPr txBox="1"/>
          <p:nvPr/>
        </p:nvSpPr>
        <p:spPr>
          <a:xfrm>
            <a:off x="3396343" y="7665853"/>
            <a:ext cx="13999643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endParaRPr lang="es-CO" sz="20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ow"/>
              <a:ea typeface="Now"/>
              <a:cs typeface="Now"/>
              <a:sym typeface="Now"/>
            </a:endParaRPr>
          </a:p>
          <a:p>
            <a:r>
              <a:rPr lang="es-CO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w"/>
                <a:ea typeface="Now"/>
                <a:cs typeface="Now"/>
                <a:sym typeface="Now"/>
              </a:rPr>
              <a:t>Bolsa de horas para requerimientos futuros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s-CO" sz="2000" dirty="0">
              <a:solidFill>
                <a:srgbClr val="000000"/>
              </a:solidFill>
              <a:latin typeface="Now"/>
              <a:ea typeface="Now"/>
              <a:cs typeface="Now"/>
              <a:sym typeface="Now"/>
            </a:endParaRPr>
          </a:p>
          <a:p>
            <a:pPr algn="just"/>
            <a:r>
              <a:rPr lang="es-CO" sz="2000" dirty="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Para requerimientos adicionales se ofrece una bolsa de USD 10.000, equivalente a ≈80 horas del equipo a la tarifa de referencia. Nada se desarrolla ni factura sin aprobación previa y solo se descuenta lo entregado. Vigencia: 31 de diciembre de 2026.</a:t>
            </a: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2DA3A28C-3911-7532-2CE0-4A70DC89317E}"/>
              </a:ext>
            </a:extLst>
          </p:cNvPr>
          <p:cNvGrpSpPr/>
          <p:nvPr/>
        </p:nvGrpSpPr>
        <p:grpSpPr>
          <a:xfrm>
            <a:off x="5522048" y="4117172"/>
            <a:ext cx="10186386" cy="3292852"/>
            <a:chOff x="4174510" y="3656481"/>
            <a:chExt cx="10186386" cy="3292852"/>
          </a:xfrm>
        </p:grpSpPr>
        <p:grpSp>
          <p:nvGrpSpPr>
            <p:cNvPr id="2073" name="Grupo 2072">
              <a:extLst>
                <a:ext uri="{FF2B5EF4-FFF2-40B4-BE49-F238E27FC236}">
                  <a16:creationId xmlns:a16="http://schemas.microsoft.com/office/drawing/2014/main" id="{2CC1FD93-4801-5988-FA09-F8C17B3CA00A}"/>
                </a:ext>
              </a:extLst>
            </p:cNvPr>
            <p:cNvGrpSpPr/>
            <p:nvPr/>
          </p:nvGrpSpPr>
          <p:grpSpPr>
            <a:xfrm>
              <a:off x="4174510" y="3656481"/>
              <a:ext cx="10186386" cy="3292852"/>
              <a:chOff x="6153856" y="3527107"/>
              <a:chExt cx="10186386" cy="3292852"/>
            </a:xfrm>
          </p:grpSpPr>
          <p:sp>
            <p:nvSpPr>
              <p:cNvPr id="8261" name="Freeform 5">
                <a:extLst>
                  <a:ext uri="{FF2B5EF4-FFF2-40B4-BE49-F238E27FC236}">
                    <a16:creationId xmlns:a16="http://schemas.microsoft.com/office/drawing/2014/main" id="{566CC47C-9E6A-4BBC-99CA-7F6D83E1F058}"/>
                  </a:ext>
                </a:extLst>
              </p:cNvPr>
              <p:cNvSpPr/>
              <p:nvPr/>
            </p:nvSpPr>
            <p:spPr>
              <a:xfrm rot="-10800000">
                <a:off x="13431318" y="5560046"/>
                <a:ext cx="2060680" cy="598953"/>
              </a:xfrm>
              <a:custGeom>
                <a:avLst/>
                <a:gdLst/>
                <a:ahLst/>
                <a:cxnLst/>
                <a:rect l="l" t="t" r="r" b="b"/>
                <a:pathLst>
                  <a:path w="2914825" h="847217">
                    <a:moveTo>
                      <a:pt x="0" y="0"/>
                    </a:moveTo>
                    <a:lnTo>
                      <a:pt x="2914825" y="0"/>
                    </a:lnTo>
                    <a:lnTo>
                      <a:pt x="2914825" y="847217"/>
                    </a:lnTo>
                    <a:lnTo>
                      <a:pt x="0" y="84721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 b="-244047"/>
                </a:stretch>
              </a:blip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8262" name="Freeform 3">
                <a:extLst>
                  <a:ext uri="{FF2B5EF4-FFF2-40B4-BE49-F238E27FC236}">
                    <a16:creationId xmlns:a16="http://schemas.microsoft.com/office/drawing/2014/main" id="{A0EDCBFD-11B6-2B92-12A5-1010E5927DDC}"/>
                  </a:ext>
                </a:extLst>
              </p:cNvPr>
              <p:cNvSpPr/>
              <p:nvPr/>
            </p:nvSpPr>
            <p:spPr>
              <a:xfrm>
                <a:off x="7189719" y="4124042"/>
                <a:ext cx="2060680" cy="598953"/>
              </a:xfrm>
              <a:custGeom>
                <a:avLst/>
                <a:gdLst/>
                <a:ahLst/>
                <a:cxnLst/>
                <a:rect l="l" t="t" r="r" b="b"/>
                <a:pathLst>
                  <a:path w="2914825" h="847217">
                    <a:moveTo>
                      <a:pt x="0" y="0"/>
                    </a:moveTo>
                    <a:lnTo>
                      <a:pt x="2914825" y="0"/>
                    </a:lnTo>
                    <a:lnTo>
                      <a:pt x="2914825" y="847217"/>
                    </a:lnTo>
                    <a:lnTo>
                      <a:pt x="0" y="84721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 b="-244047"/>
                </a:stretch>
              </a:blip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8263" name="Freeform 4">
                <a:extLst>
                  <a:ext uri="{FF2B5EF4-FFF2-40B4-BE49-F238E27FC236}">
                    <a16:creationId xmlns:a16="http://schemas.microsoft.com/office/drawing/2014/main" id="{10EDB055-2772-7CCA-17B6-7F840F09936E}"/>
                  </a:ext>
                </a:extLst>
              </p:cNvPr>
              <p:cNvSpPr/>
              <p:nvPr/>
            </p:nvSpPr>
            <p:spPr>
              <a:xfrm rot="-10800000">
                <a:off x="9300962" y="5564007"/>
                <a:ext cx="2060680" cy="598953"/>
              </a:xfrm>
              <a:custGeom>
                <a:avLst/>
                <a:gdLst/>
                <a:ahLst/>
                <a:cxnLst/>
                <a:rect l="l" t="t" r="r" b="b"/>
                <a:pathLst>
                  <a:path w="2914825" h="847217">
                    <a:moveTo>
                      <a:pt x="0" y="0"/>
                    </a:moveTo>
                    <a:lnTo>
                      <a:pt x="2914825" y="0"/>
                    </a:lnTo>
                    <a:lnTo>
                      <a:pt x="2914825" y="847217"/>
                    </a:lnTo>
                    <a:lnTo>
                      <a:pt x="0" y="84721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 b="-244047"/>
                </a:stretch>
              </a:blipFill>
            </p:spPr>
            <p:txBody>
              <a:bodyPr/>
              <a:lstStyle/>
              <a:p>
                <a:endParaRPr lang="es-CO" dirty="0"/>
              </a:p>
            </p:txBody>
          </p:sp>
          <p:sp>
            <p:nvSpPr>
              <p:cNvPr id="8264" name="Freeform 6">
                <a:extLst>
                  <a:ext uri="{FF2B5EF4-FFF2-40B4-BE49-F238E27FC236}">
                    <a16:creationId xmlns:a16="http://schemas.microsoft.com/office/drawing/2014/main" id="{288BA1C3-5AB2-14B3-4C01-A571C0F84281}"/>
                  </a:ext>
                </a:extLst>
              </p:cNvPr>
              <p:cNvSpPr/>
              <p:nvPr/>
            </p:nvSpPr>
            <p:spPr>
              <a:xfrm>
                <a:off x="11370348" y="4124042"/>
                <a:ext cx="2060680" cy="598953"/>
              </a:xfrm>
              <a:custGeom>
                <a:avLst/>
                <a:gdLst/>
                <a:ahLst/>
                <a:cxnLst/>
                <a:rect l="l" t="t" r="r" b="b"/>
                <a:pathLst>
                  <a:path w="2914825" h="847217">
                    <a:moveTo>
                      <a:pt x="0" y="0"/>
                    </a:moveTo>
                    <a:lnTo>
                      <a:pt x="2914825" y="0"/>
                    </a:lnTo>
                    <a:lnTo>
                      <a:pt x="2914825" y="847217"/>
                    </a:lnTo>
                    <a:lnTo>
                      <a:pt x="0" y="84721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 b="-244047"/>
                </a:stretch>
              </a:blipFill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8265" name="Freeform 9">
                <a:extLst>
                  <a:ext uri="{FF2B5EF4-FFF2-40B4-BE49-F238E27FC236}">
                    <a16:creationId xmlns:a16="http://schemas.microsoft.com/office/drawing/2014/main" id="{18F7CD05-B47F-0687-50C7-82D07FF233FF}"/>
                  </a:ext>
                </a:extLst>
              </p:cNvPr>
              <p:cNvSpPr/>
              <p:nvPr/>
            </p:nvSpPr>
            <p:spPr>
              <a:xfrm>
                <a:off x="8046025" y="4987149"/>
                <a:ext cx="6936067" cy="454273"/>
              </a:xfrm>
              <a:custGeom>
                <a:avLst/>
                <a:gdLst/>
                <a:ahLst/>
                <a:cxnLst/>
                <a:rect l="l" t="t" r="r" b="b"/>
                <a:pathLst>
                  <a:path w="16064189" h="642568">
                    <a:moveTo>
                      <a:pt x="0" y="0"/>
                    </a:moveTo>
                    <a:lnTo>
                      <a:pt x="16064189" y="0"/>
                    </a:lnTo>
                    <a:lnTo>
                      <a:pt x="16064189" y="642568"/>
                    </a:lnTo>
                    <a:lnTo>
                      <a:pt x="0" y="64256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a:blipFill>
              <a:effectLst>
                <a:softEdge rad="0"/>
              </a:effectLst>
            </p:spPr>
            <p:txBody>
              <a:bodyPr/>
              <a:lstStyle/>
              <a:p>
                <a:endParaRPr lang="es-CO"/>
              </a:p>
            </p:txBody>
          </p:sp>
          <p:grpSp>
            <p:nvGrpSpPr>
              <p:cNvPr id="8266" name="Group 10">
                <a:extLst>
                  <a:ext uri="{FF2B5EF4-FFF2-40B4-BE49-F238E27FC236}">
                    <a16:creationId xmlns:a16="http://schemas.microsoft.com/office/drawing/2014/main" id="{38A79F31-12C1-D37E-91AF-570F1F857A21}"/>
                  </a:ext>
                </a:extLst>
              </p:cNvPr>
              <p:cNvGrpSpPr/>
              <p:nvPr/>
            </p:nvGrpSpPr>
            <p:grpSpPr>
              <a:xfrm>
                <a:off x="6837308" y="4607172"/>
                <a:ext cx="1333756" cy="1333756"/>
                <a:chOff x="0" y="0"/>
                <a:chExt cx="2515457" cy="2515457"/>
              </a:xfrm>
            </p:grpSpPr>
            <p:grpSp>
              <p:nvGrpSpPr>
                <p:cNvPr id="8267" name="Group 11">
                  <a:extLst>
                    <a:ext uri="{FF2B5EF4-FFF2-40B4-BE49-F238E27FC236}">
                      <a16:creationId xmlns:a16="http://schemas.microsoft.com/office/drawing/2014/main" id="{6F484066-A643-04F1-D591-DDBD6254887D}"/>
                    </a:ext>
                  </a:extLst>
                </p:cNvPr>
                <p:cNvGrpSpPr/>
                <p:nvPr/>
              </p:nvGrpSpPr>
              <p:grpSpPr>
                <a:xfrm>
                  <a:off x="0" y="0"/>
                  <a:ext cx="2515457" cy="2515457"/>
                  <a:chOff x="0" y="0"/>
                  <a:chExt cx="812800" cy="812800"/>
                </a:xfrm>
              </p:grpSpPr>
              <p:sp>
                <p:nvSpPr>
                  <p:cNvPr id="8271" name="Freeform 12">
                    <a:extLst>
                      <a:ext uri="{FF2B5EF4-FFF2-40B4-BE49-F238E27FC236}">
                        <a16:creationId xmlns:a16="http://schemas.microsoft.com/office/drawing/2014/main" id="{2B1C357D-2EFB-A535-77A5-8D63A18FB9AF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812800" cy="812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2800" h="812800">
                        <a:moveTo>
                          <a:pt x="406400" y="0"/>
                        </a:moveTo>
                        <a:cubicBezTo>
                          <a:pt x="181951" y="0"/>
                          <a:pt x="0" y="181951"/>
                          <a:pt x="0" y="406400"/>
                        </a:cubicBezTo>
                        <a:cubicBezTo>
                          <a:pt x="0" y="630849"/>
                          <a:pt x="181951" y="812800"/>
                          <a:pt x="406400" y="812800"/>
                        </a:cubicBezTo>
                        <a:cubicBezTo>
                          <a:pt x="630849" y="812800"/>
                          <a:pt x="812800" y="630849"/>
                          <a:pt x="812800" y="406400"/>
                        </a:cubicBezTo>
                        <a:cubicBezTo>
                          <a:pt x="812800" y="181951"/>
                          <a:pt x="630849" y="0"/>
                          <a:pt x="406400" y="0"/>
                        </a:cubicBezTo>
                        <a:close/>
                      </a:path>
                    </a:pathLst>
                  </a:custGeom>
                  <a:solidFill>
                    <a:srgbClr val="274653"/>
                  </a:solidFill>
                  <a:ln cap="sq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s-CO"/>
                  </a:p>
                </p:txBody>
              </p:sp>
              <p:sp>
                <p:nvSpPr>
                  <p:cNvPr id="8272" name="TextBox 13">
                    <a:extLst>
                      <a:ext uri="{FF2B5EF4-FFF2-40B4-BE49-F238E27FC236}">
                        <a16:creationId xmlns:a16="http://schemas.microsoft.com/office/drawing/2014/main" id="{F58963EB-328D-92CE-9BF9-3779FFD074B1}"/>
                      </a:ext>
                    </a:extLst>
                  </p:cNvPr>
                  <p:cNvSpPr txBox="1"/>
                  <p:nvPr/>
                </p:nvSpPr>
                <p:spPr>
                  <a:xfrm>
                    <a:off x="76200" y="28575"/>
                    <a:ext cx="660400" cy="708025"/>
                  </a:xfrm>
                  <a:prstGeom prst="rect">
                    <a:avLst/>
                  </a:prstGeom>
                </p:spPr>
                <p:txBody>
                  <a:bodyPr lIns="51456" tIns="51456" rIns="51456" bIns="51456" rtlCol="0" anchor="ctr"/>
                  <a:lstStyle/>
                  <a:p>
                    <a:pPr algn="ctr">
                      <a:lnSpc>
                        <a:spcPts val="2659"/>
                      </a:lnSpc>
                    </a:pPr>
                    <a:endParaRPr/>
                  </a:p>
                </p:txBody>
              </p:sp>
            </p:grpSp>
            <p:grpSp>
              <p:nvGrpSpPr>
                <p:cNvPr id="8268" name="Group 14">
                  <a:extLst>
                    <a:ext uri="{FF2B5EF4-FFF2-40B4-BE49-F238E27FC236}">
                      <a16:creationId xmlns:a16="http://schemas.microsoft.com/office/drawing/2014/main" id="{EAD131C7-B0EB-9291-4DA1-4377293B2284}"/>
                    </a:ext>
                  </a:extLst>
                </p:cNvPr>
                <p:cNvGrpSpPr/>
                <p:nvPr/>
              </p:nvGrpSpPr>
              <p:grpSpPr>
                <a:xfrm rot="-5400000">
                  <a:off x="317498" y="294908"/>
                  <a:ext cx="1880461" cy="1880461"/>
                  <a:chOff x="9764" y="0"/>
                  <a:chExt cx="812800" cy="812800"/>
                </a:xfrm>
              </p:grpSpPr>
              <p:sp>
                <p:nvSpPr>
                  <p:cNvPr id="8269" name="Freeform 15">
                    <a:extLst>
                      <a:ext uri="{FF2B5EF4-FFF2-40B4-BE49-F238E27FC236}">
                        <a16:creationId xmlns:a16="http://schemas.microsoft.com/office/drawing/2014/main" id="{824BD282-38A2-2355-4148-73AB4BC6898B}"/>
                      </a:ext>
                    </a:extLst>
                  </p:cNvPr>
                  <p:cNvSpPr/>
                  <p:nvPr/>
                </p:nvSpPr>
                <p:spPr>
                  <a:xfrm>
                    <a:off x="9764" y="0"/>
                    <a:ext cx="812800" cy="812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2800" h="812800">
                        <a:moveTo>
                          <a:pt x="406400" y="0"/>
                        </a:moveTo>
                        <a:cubicBezTo>
                          <a:pt x="181951" y="0"/>
                          <a:pt x="0" y="181951"/>
                          <a:pt x="0" y="406400"/>
                        </a:cubicBezTo>
                        <a:cubicBezTo>
                          <a:pt x="0" y="630849"/>
                          <a:pt x="181951" y="812800"/>
                          <a:pt x="406400" y="812800"/>
                        </a:cubicBezTo>
                        <a:cubicBezTo>
                          <a:pt x="630849" y="812800"/>
                          <a:pt x="812800" y="630849"/>
                          <a:pt x="812800" y="406400"/>
                        </a:cubicBezTo>
                        <a:cubicBezTo>
                          <a:pt x="812800" y="181951"/>
                          <a:pt x="630849" y="0"/>
                          <a:pt x="406400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cap="sq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s-CO"/>
                  </a:p>
                </p:txBody>
              </p:sp>
              <p:sp>
                <p:nvSpPr>
                  <p:cNvPr id="8270" name="TextBox 16">
                    <a:extLst>
                      <a:ext uri="{FF2B5EF4-FFF2-40B4-BE49-F238E27FC236}">
                        <a16:creationId xmlns:a16="http://schemas.microsoft.com/office/drawing/2014/main" id="{27C192C2-DFDD-62E9-402E-0D581BF00E2A}"/>
                      </a:ext>
                    </a:extLst>
                  </p:cNvPr>
                  <p:cNvSpPr txBox="1"/>
                  <p:nvPr/>
                </p:nvSpPr>
                <p:spPr>
                  <a:xfrm>
                    <a:off x="76200" y="47625"/>
                    <a:ext cx="660400" cy="688975"/>
                  </a:xfrm>
                  <a:prstGeom prst="rect">
                    <a:avLst/>
                  </a:prstGeom>
                </p:spPr>
                <p:txBody>
                  <a:bodyPr lIns="45781" tIns="45781" rIns="45781" bIns="45781" rtlCol="0" anchor="ctr"/>
                  <a:lstStyle/>
                  <a:p>
                    <a:pPr algn="ctr">
                      <a:lnSpc>
                        <a:spcPts val="1743"/>
                      </a:lnSpc>
                    </a:pPr>
                    <a:endParaRPr/>
                  </a:p>
                </p:txBody>
              </p:sp>
            </p:grpSp>
          </p:grpSp>
          <p:grpSp>
            <p:nvGrpSpPr>
              <p:cNvPr id="8273" name="Group 18">
                <a:extLst>
                  <a:ext uri="{FF2B5EF4-FFF2-40B4-BE49-F238E27FC236}">
                    <a16:creationId xmlns:a16="http://schemas.microsoft.com/office/drawing/2014/main" id="{EF737B61-9AF6-8F8E-811D-43EF60986553}"/>
                  </a:ext>
                </a:extLst>
              </p:cNvPr>
              <p:cNvGrpSpPr/>
              <p:nvPr/>
            </p:nvGrpSpPr>
            <p:grpSpPr>
              <a:xfrm>
                <a:off x="8752381" y="4512686"/>
                <a:ext cx="1333756" cy="1333756"/>
                <a:chOff x="0" y="0"/>
                <a:chExt cx="2515457" cy="2515457"/>
              </a:xfrm>
            </p:grpSpPr>
            <p:grpSp>
              <p:nvGrpSpPr>
                <p:cNvPr id="8274" name="Group 19">
                  <a:extLst>
                    <a:ext uri="{FF2B5EF4-FFF2-40B4-BE49-F238E27FC236}">
                      <a16:creationId xmlns:a16="http://schemas.microsoft.com/office/drawing/2014/main" id="{00CF1579-265C-C083-805C-593DD3B6227A}"/>
                    </a:ext>
                  </a:extLst>
                </p:cNvPr>
                <p:cNvGrpSpPr/>
                <p:nvPr/>
              </p:nvGrpSpPr>
              <p:grpSpPr>
                <a:xfrm>
                  <a:off x="0" y="0"/>
                  <a:ext cx="2515457" cy="2515457"/>
                  <a:chOff x="0" y="0"/>
                  <a:chExt cx="812800" cy="812800"/>
                </a:xfrm>
              </p:grpSpPr>
              <p:sp>
                <p:nvSpPr>
                  <p:cNvPr id="8278" name="Freeform 20">
                    <a:extLst>
                      <a:ext uri="{FF2B5EF4-FFF2-40B4-BE49-F238E27FC236}">
                        <a16:creationId xmlns:a16="http://schemas.microsoft.com/office/drawing/2014/main" id="{DCE8F0D4-DBE4-B3C9-9F92-E70EB36F5042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812800" cy="812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2800" h="812800">
                        <a:moveTo>
                          <a:pt x="406400" y="0"/>
                        </a:moveTo>
                        <a:cubicBezTo>
                          <a:pt x="181951" y="0"/>
                          <a:pt x="0" y="181951"/>
                          <a:pt x="0" y="406400"/>
                        </a:cubicBezTo>
                        <a:cubicBezTo>
                          <a:pt x="0" y="630849"/>
                          <a:pt x="181951" y="812800"/>
                          <a:pt x="406400" y="812800"/>
                        </a:cubicBezTo>
                        <a:cubicBezTo>
                          <a:pt x="630849" y="812800"/>
                          <a:pt x="812800" y="630849"/>
                          <a:pt x="812800" y="406400"/>
                        </a:cubicBezTo>
                        <a:cubicBezTo>
                          <a:pt x="812800" y="181951"/>
                          <a:pt x="630849" y="0"/>
                          <a:pt x="406400" y="0"/>
                        </a:cubicBezTo>
                        <a:close/>
                      </a:path>
                    </a:pathLst>
                  </a:custGeom>
                  <a:solidFill>
                    <a:srgbClr val="2C9D8F"/>
                  </a:solidFill>
                  <a:ln cap="sq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s-CO"/>
                  </a:p>
                </p:txBody>
              </p:sp>
              <p:sp>
                <p:nvSpPr>
                  <p:cNvPr id="8279" name="TextBox 21">
                    <a:extLst>
                      <a:ext uri="{FF2B5EF4-FFF2-40B4-BE49-F238E27FC236}">
                        <a16:creationId xmlns:a16="http://schemas.microsoft.com/office/drawing/2014/main" id="{146A605A-F1B8-F464-44BA-9E264E5A7334}"/>
                      </a:ext>
                    </a:extLst>
                  </p:cNvPr>
                  <p:cNvSpPr txBox="1"/>
                  <p:nvPr/>
                </p:nvSpPr>
                <p:spPr>
                  <a:xfrm>
                    <a:off x="76200" y="28575"/>
                    <a:ext cx="660400" cy="708025"/>
                  </a:xfrm>
                  <a:prstGeom prst="rect">
                    <a:avLst/>
                  </a:prstGeom>
                </p:spPr>
                <p:txBody>
                  <a:bodyPr lIns="51456" tIns="51456" rIns="51456" bIns="51456" rtlCol="0" anchor="ctr"/>
                  <a:lstStyle/>
                  <a:p>
                    <a:pPr algn="ctr">
                      <a:lnSpc>
                        <a:spcPts val="2659"/>
                      </a:lnSpc>
                    </a:pPr>
                    <a:endParaRPr/>
                  </a:p>
                </p:txBody>
              </p:sp>
            </p:grpSp>
            <p:grpSp>
              <p:nvGrpSpPr>
                <p:cNvPr id="8275" name="Group 22">
                  <a:extLst>
                    <a:ext uri="{FF2B5EF4-FFF2-40B4-BE49-F238E27FC236}">
                      <a16:creationId xmlns:a16="http://schemas.microsoft.com/office/drawing/2014/main" id="{2E63E551-B351-B2AA-9CCC-781D4AB3F6C7}"/>
                    </a:ext>
                  </a:extLst>
                </p:cNvPr>
                <p:cNvGrpSpPr/>
                <p:nvPr/>
              </p:nvGrpSpPr>
              <p:grpSpPr>
                <a:xfrm rot="-5400000">
                  <a:off x="319495" y="331129"/>
                  <a:ext cx="1880461" cy="1880461"/>
                  <a:chOff x="-5892" y="863"/>
                  <a:chExt cx="812800" cy="812800"/>
                </a:xfrm>
              </p:grpSpPr>
              <p:sp>
                <p:nvSpPr>
                  <p:cNvPr id="8276" name="Freeform 23">
                    <a:extLst>
                      <a:ext uri="{FF2B5EF4-FFF2-40B4-BE49-F238E27FC236}">
                        <a16:creationId xmlns:a16="http://schemas.microsoft.com/office/drawing/2014/main" id="{C0429B3C-B358-5BF7-7708-13F6A77EFE8F}"/>
                      </a:ext>
                    </a:extLst>
                  </p:cNvPr>
                  <p:cNvSpPr/>
                  <p:nvPr/>
                </p:nvSpPr>
                <p:spPr>
                  <a:xfrm>
                    <a:off x="-5892" y="863"/>
                    <a:ext cx="812800" cy="812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2800" h="812800">
                        <a:moveTo>
                          <a:pt x="406400" y="0"/>
                        </a:moveTo>
                        <a:cubicBezTo>
                          <a:pt x="181951" y="0"/>
                          <a:pt x="0" y="181951"/>
                          <a:pt x="0" y="406400"/>
                        </a:cubicBezTo>
                        <a:cubicBezTo>
                          <a:pt x="0" y="630849"/>
                          <a:pt x="181951" y="812800"/>
                          <a:pt x="406400" y="812800"/>
                        </a:cubicBezTo>
                        <a:cubicBezTo>
                          <a:pt x="630849" y="812800"/>
                          <a:pt x="812800" y="630849"/>
                          <a:pt x="812800" y="406400"/>
                        </a:cubicBezTo>
                        <a:cubicBezTo>
                          <a:pt x="812800" y="181951"/>
                          <a:pt x="630849" y="0"/>
                          <a:pt x="406400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cap="sq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s-CO"/>
                  </a:p>
                </p:txBody>
              </p:sp>
              <p:sp>
                <p:nvSpPr>
                  <p:cNvPr id="8277" name="TextBox 24">
                    <a:extLst>
                      <a:ext uri="{FF2B5EF4-FFF2-40B4-BE49-F238E27FC236}">
                        <a16:creationId xmlns:a16="http://schemas.microsoft.com/office/drawing/2014/main" id="{7D449CC0-E8E7-8D5C-03D8-59B6C2C837C9}"/>
                      </a:ext>
                    </a:extLst>
                  </p:cNvPr>
                  <p:cNvSpPr txBox="1"/>
                  <p:nvPr/>
                </p:nvSpPr>
                <p:spPr>
                  <a:xfrm>
                    <a:off x="76200" y="47625"/>
                    <a:ext cx="660400" cy="688975"/>
                  </a:xfrm>
                  <a:prstGeom prst="rect">
                    <a:avLst/>
                  </a:prstGeom>
                </p:spPr>
                <p:txBody>
                  <a:bodyPr lIns="45781" tIns="45781" rIns="45781" bIns="45781" rtlCol="0" anchor="ctr"/>
                  <a:lstStyle/>
                  <a:p>
                    <a:pPr algn="ctr">
                      <a:lnSpc>
                        <a:spcPts val="1743"/>
                      </a:lnSpc>
                    </a:pPr>
                    <a:endParaRPr/>
                  </a:p>
                </p:txBody>
              </p:sp>
            </p:grpSp>
          </p:grpSp>
          <p:grpSp>
            <p:nvGrpSpPr>
              <p:cNvPr id="8310" name="Grupo 8309">
                <a:extLst>
                  <a:ext uri="{FF2B5EF4-FFF2-40B4-BE49-F238E27FC236}">
                    <a16:creationId xmlns:a16="http://schemas.microsoft.com/office/drawing/2014/main" id="{0F114E6E-D491-91FD-EED7-1CC624155980}"/>
                  </a:ext>
                </a:extLst>
              </p:cNvPr>
              <p:cNvGrpSpPr/>
              <p:nvPr/>
            </p:nvGrpSpPr>
            <p:grpSpPr>
              <a:xfrm>
                <a:off x="10764695" y="4531813"/>
                <a:ext cx="1333756" cy="1333756"/>
                <a:chOff x="12150649" y="4166957"/>
                <a:chExt cx="1333756" cy="1333756"/>
              </a:xfrm>
            </p:grpSpPr>
            <p:grpSp>
              <p:nvGrpSpPr>
                <p:cNvPr id="8280" name="Group 26">
                  <a:extLst>
                    <a:ext uri="{FF2B5EF4-FFF2-40B4-BE49-F238E27FC236}">
                      <a16:creationId xmlns:a16="http://schemas.microsoft.com/office/drawing/2014/main" id="{DE339207-AE12-9E87-C240-90B0A791C12E}"/>
                    </a:ext>
                  </a:extLst>
                </p:cNvPr>
                <p:cNvGrpSpPr/>
                <p:nvPr/>
              </p:nvGrpSpPr>
              <p:grpSpPr>
                <a:xfrm>
                  <a:off x="12150649" y="4166957"/>
                  <a:ext cx="1333756" cy="1333756"/>
                  <a:chOff x="0" y="0"/>
                  <a:chExt cx="812800" cy="812800"/>
                </a:xfrm>
              </p:grpSpPr>
              <p:sp>
                <p:nvSpPr>
                  <p:cNvPr id="8281" name="Freeform 27">
                    <a:extLst>
                      <a:ext uri="{FF2B5EF4-FFF2-40B4-BE49-F238E27FC236}">
                        <a16:creationId xmlns:a16="http://schemas.microsoft.com/office/drawing/2014/main" id="{CEFDC7A5-35D7-E97F-6FD3-3EFC6E569449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812800" cy="812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2800" h="812800">
                        <a:moveTo>
                          <a:pt x="406400" y="0"/>
                        </a:moveTo>
                        <a:cubicBezTo>
                          <a:pt x="181951" y="0"/>
                          <a:pt x="0" y="181951"/>
                          <a:pt x="0" y="406400"/>
                        </a:cubicBezTo>
                        <a:cubicBezTo>
                          <a:pt x="0" y="630849"/>
                          <a:pt x="181951" y="812800"/>
                          <a:pt x="406400" y="812800"/>
                        </a:cubicBezTo>
                        <a:cubicBezTo>
                          <a:pt x="630849" y="812800"/>
                          <a:pt x="812800" y="630849"/>
                          <a:pt x="812800" y="406400"/>
                        </a:cubicBezTo>
                        <a:cubicBezTo>
                          <a:pt x="812800" y="181951"/>
                          <a:pt x="630849" y="0"/>
                          <a:pt x="406400" y="0"/>
                        </a:cubicBezTo>
                        <a:close/>
                      </a:path>
                    </a:pathLst>
                  </a:custGeom>
                  <a:solidFill>
                    <a:srgbClr val="E9C36A"/>
                  </a:solidFill>
                  <a:ln cap="sq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s-CO"/>
                  </a:p>
                </p:txBody>
              </p:sp>
              <p:sp>
                <p:nvSpPr>
                  <p:cNvPr id="8282" name="TextBox 28">
                    <a:extLst>
                      <a:ext uri="{FF2B5EF4-FFF2-40B4-BE49-F238E27FC236}">
                        <a16:creationId xmlns:a16="http://schemas.microsoft.com/office/drawing/2014/main" id="{EB2897A7-AF41-DA67-4A89-2CA1B4B59E0A}"/>
                      </a:ext>
                    </a:extLst>
                  </p:cNvPr>
                  <p:cNvSpPr txBox="1"/>
                  <p:nvPr/>
                </p:nvSpPr>
                <p:spPr>
                  <a:xfrm>
                    <a:off x="76200" y="28575"/>
                    <a:ext cx="660400" cy="708025"/>
                  </a:xfrm>
                  <a:prstGeom prst="rect">
                    <a:avLst/>
                  </a:prstGeom>
                </p:spPr>
                <p:txBody>
                  <a:bodyPr lIns="51456" tIns="51456" rIns="51456" bIns="51456" rtlCol="0" anchor="ctr"/>
                  <a:lstStyle/>
                  <a:p>
                    <a:pPr algn="ctr">
                      <a:lnSpc>
                        <a:spcPts val="2659"/>
                      </a:lnSpc>
                    </a:pPr>
                    <a:endParaRPr/>
                  </a:p>
                </p:txBody>
              </p:sp>
            </p:grpSp>
            <p:grpSp>
              <p:nvGrpSpPr>
                <p:cNvPr id="8283" name="Group 29">
                  <a:extLst>
                    <a:ext uri="{FF2B5EF4-FFF2-40B4-BE49-F238E27FC236}">
                      <a16:creationId xmlns:a16="http://schemas.microsoft.com/office/drawing/2014/main" id="{BBBBE0B6-B1C4-35BB-4902-09CAF8B3D217}"/>
                    </a:ext>
                  </a:extLst>
                </p:cNvPr>
                <p:cNvGrpSpPr/>
                <p:nvPr/>
              </p:nvGrpSpPr>
              <p:grpSpPr>
                <a:xfrm rot="-5400000">
                  <a:off x="12318994" y="4335842"/>
                  <a:ext cx="997066" cy="997066"/>
                  <a:chOff x="0" y="0"/>
                  <a:chExt cx="812800" cy="812800"/>
                </a:xfrm>
              </p:grpSpPr>
              <p:sp>
                <p:nvSpPr>
                  <p:cNvPr id="8284" name="Freeform 30">
                    <a:extLst>
                      <a:ext uri="{FF2B5EF4-FFF2-40B4-BE49-F238E27FC236}">
                        <a16:creationId xmlns:a16="http://schemas.microsoft.com/office/drawing/2014/main" id="{D07D72DF-09FB-7C5A-3016-07D12558B300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812800" cy="812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2800" h="812800">
                        <a:moveTo>
                          <a:pt x="406400" y="0"/>
                        </a:moveTo>
                        <a:cubicBezTo>
                          <a:pt x="181951" y="0"/>
                          <a:pt x="0" y="181951"/>
                          <a:pt x="0" y="406400"/>
                        </a:cubicBezTo>
                        <a:cubicBezTo>
                          <a:pt x="0" y="630849"/>
                          <a:pt x="181951" y="812800"/>
                          <a:pt x="406400" y="812800"/>
                        </a:cubicBezTo>
                        <a:cubicBezTo>
                          <a:pt x="630849" y="812800"/>
                          <a:pt x="812800" y="630849"/>
                          <a:pt x="812800" y="406400"/>
                        </a:cubicBezTo>
                        <a:cubicBezTo>
                          <a:pt x="812800" y="181951"/>
                          <a:pt x="630849" y="0"/>
                          <a:pt x="406400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cap="sq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s-CO"/>
                  </a:p>
                </p:txBody>
              </p:sp>
              <p:sp>
                <p:nvSpPr>
                  <p:cNvPr id="8285" name="TextBox 31">
                    <a:extLst>
                      <a:ext uri="{FF2B5EF4-FFF2-40B4-BE49-F238E27FC236}">
                        <a16:creationId xmlns:a16="http://schemas.microsoft.com/office/drawing/2014/main" id="{6DA02734-B639-B45B-EFB9-2B43A65A079B}"/>
                      </a:ext>
                    </a:extLst>
                  </p:cNvPr>
                  <p:cNvSpPr txBox="1"/>
                  <p:nvPr/>
                </p:nvSpPr>
                <p:spPr>
                  <a:xfrm>
                    <a:off x="76200" y="47625"/>
                    <a:ext cx="660400" cy="688975"/>
                  </a:xfrm>
                  <a:prstGeom prst="rect">
                    <a:avLst/>
                  </a:prstGeom>
                </p:spPr>
                <p:txBody>
                  <a:bodyPr lIns="45781" tIns="45781" rIns="45781" bIns="45781" rtlCol="0" anchor="ctr"/>
                  <a:lstStyle/>
                  <a:p>
                    <a:pPr algn="ctr">
                      <a:lnSpc>
                        <a:spcPts val="1743"/>
                      </a:lnSpc>
                    </a:pPr>
                    <a:endParaRPr/>
                  </a:p>
                </p:txBody>
              </p:sp>
            </p:grpSp>
          </p:grpSp>
          <p:grpSp>
            <p:nvGrpSpPr>
              <p:cNvPr id="8286" name="Group 33">
                <a:extLst>
                  <a:ext uri="{FF2B5EF4-FFF2-40B4-BE49-F238E27FC236}">
                    <a16:creationId xmlns:a16="http://schemas.microsoft.com/office/drawing/2014/main" id="{97BF1866-34E9-C6CB-E843-840468A53845}"/>
                  </a:ext>
                </a:extLst>
              </p:cNvPr>
              <p:cNvGrpSpPr/>
              <p:nvPr/>
            </p:nvGrpSpPr>
            <p:grpSpPr>
              <a:xfrm>
                <a:off x="12770892" y="4544584"/>
                <a:ext cx="1333756" cy="1333756"/>
                <a:chOff x="0" y="0"/>
                <a:chExt cx="812800" cy="812800"/>
              </a:xfrm>
            </p:grpSpPr>
            <p:sp>
              <p:nvSpPr>
                <p:cNvPr id="8287" name="Freeform 34">
                  <a:extLst>
                    <a:ext uri="{FF2B5EF4-FFF2-40B4-BE49-F238E27FC236}">
                      <a16:creationId xmlns:a16="http://schemas.microsoft.com/office/drawing/2014/main" id="{8CDD07DC-1A4F-9855-0C64-1987C9D9E986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ED8959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s-CO"/>
                </a:p>
              </p:txBody>
            </p:sp>
            <p:sp>
              <p:nvSpPr>
                <p:cNvPr id="8288" name="TextBox 35">
                  <a:extLst>
                    <a:ext uri="{FF2B5EF4-FFF2-40B4-BE49-F238E27FC236}">
                      <a16:creationId xmlns:a16="http://schemas.microsoft.com/office/drawing/2014/main" id="{8FB84C29-CFBA-6658-DED7-927E06A4D8F0}"/>
                    </a:ext>
                  </a:extLst>
                </p:cNvPr>
                <p:cNvSpPr txBox="1"/>
                <p:nvPr/>
              </p:nvSpPr>
              <p:spPr>
                <a:xfrm>
                  <a:off x="76200" y="28575"/>
                  <a:ext cx="660400" cy="708025"/>
                </a:xfrm>
                <a:prstGeom prst="rect">
                  <a:avLst/>
                </a:prstGeom>
              </p:spPr>
              <p:txBody>
                <a:bodyPr lIns="51456" tIns="51456" rIns="51456" bIns="51456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/>
                </a:p>
              </p:txBody>
            </p:sp>
          </p:grpSp>
          <p:grpSp>
            <p:nvGrpSpPr>
              <p:cNvPr id="8289" name="Group 36">
                <a:extLst>
                  <a:ext uri="{FF2B5EF4-FFF2-40B4-BE49-F238E27FC236}">
                    <a16:creationId xmlns:a16="http://schemas.microsoft.com/office/drawing/2014/main" id="{DB8D7F35-617B-1024-E4B8-74BCC1983960}"/>
                  </a:ext>
                </a:extLst>
              </p:cNvPr>
              <p:cNvGrpSpPr/>
              <p:nvPr/>
            </p:nvGrpSpPr>
            <p:grpSpPr>
              <a:xfrm rot="-5400000">
                <a:off x="12939236" y="4707202"/>
                <a:ext cx="997066" cy="997066"/>
                <a:chOff x="1" y="0"/>
                <a:chExt cx="812800" cy="812800"/>
              </a:xfrm>
            </p:grpSpPr>
            <p:sp>
              <p:nvSpPr>
                <p:cNvPr id="8290" name="Freeform 37">
                  <a:extLst>
                    <a:ext uri="{FF2B5EF4-FFF2-40B4-BE49-F238E27FC236}">
                      <a16:creationId xmlns:a16="http://schemas.microsoft.com/office/drawing/2014/main" id="{59D9FC50-951F-04C6-DC17-6FC0BB422043}"/>
                    </a:ext>
                  </a:extLst>
                </p:cNvPr>
                <p:cNvSpPr/>
                <p:nvPr/>
              </p:nvSpPr>
              <p:spPr>
                <a:xfrm>
                  <a:off x="1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cap="sq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s-CO"/>
                </a:p>
              </p:txBody>
            </p:sp>
            <p:sp>
              <p:nvSpPr>
                <p:cNvPr id="8291" name="TextBox 38">
                  <a:extLst>
                    <a:ext uri="{FF2B5EF4-FFF2-40B4-BE49-F238E27FC236}">
                      <a16:creationId xmlns:a16="http://schemas.microsoft.com/office/drawing/2014/main" id="{1767E3CD-CF5B-8C81-6312-257925EC5DE4}"/>
                    </a:ext>
                  </a:extLst>
                </p:cNvPr>
                <p:cNvSpPr txBox="1"/>
                <p:nvPr/>
              </p:nvSpPr>
              <p:spPr>
                <a:xfrm>
                  <a:off x="76200" y="47625"/>
                  <a:ext cx="660400" cy="688975"/>
                </a:xfrm>
                <a:prstGeom prst="rect">
                  <a:avLst/>
                </a:prstGeom>
              </p:spPr>
              <p:txBody>
                <a:bodyPr lIns="45781" tIns="45781" rIns="45781" bIns="45781" rtlCol="0" anchor="ctr"/>
                <a:lstStyle/>
                <a:p>
                  <a:pPr algn="ctr">
                    <a:lnSpc>
                      <a:spcPts val="1743"/>
                    </a:lnSpc>
                  </a:pPr>
                  <a:endParaRPr/>
                </a:p>
              </p:txBody>
            </p:sp>
          </p:grpSp>
          <p:grpSp>
            <p:nvGrpSpPr>
              <p:cNvPr id="8292" name="Group 53">
                <a:extLst>
                  <a:ext uri="{FF2B5EF4-FFF2-40B4-BE49-F238E27FC236}">
                    <a16:creationId xmlns:a16="http://schemas.microsoft.com/office/drawing/2014/main" id="{B2C881D3-C98B-2119-DF1A-8FD71EB07330}"/>
                  </a:ext>
                </a:extLst>
              </p:cNvPr>
              <p:cNvGrpSpPr/>
              <p:nvPr/>
            </p:nvGrpSpPr>
            <p:grpSpPr>
              <a:xfrm>
                <a:off x="8214536" y="4418103"/>
                <a:ext cx="268797" cy="283222"/>
                <a:chOff x="0" y="0"/>
                <a:chExt cx="812800" cy="812800"/>
              </a:xfrm>
            </p:grpSpPr>
            <p:sp>
              <p:nvSpPr>
                <p:cNvPr id="8293" name="Freeform 54">
                  <a:extLst>
                    <a:ext uri="{FF2B5EF4-FFF2-40B4-BE49-F238E27FC236}">
                      <a16:creationId xmlns:a16="http://schemas.microsoft.com/office/drawing/2014/main" id="{38555919-99CB-0711-F351-847A7E5A81C4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812800" y="406400"/>
                      </a:moveTo>
                      <a:lnTo>
                        <a:pt x="406400" y="0"/>
                      </a:lnTo>
                      <a:lnTo>
                        <a:pt x="406400" y="203200"/>
                      </a:lnTo>
                      <a:lnTo>
                        <a:pt x="0" y="203200"/>
                      </a:lnTo>
                      <a:lnTo>
                        <a:pt x="0" y="609600"/>
                      </a:lnTo>
                      <a:lnTo>
                        <a:pt x="406400" y="609600"/>
                      </a:lnTo>
                      <a:lnTo>
                        <a:pt x="406400" y="812800"/>
                      </a:lnTo>
                      <a:lnTo>
                        <a:pt x="812800" y="406400"/>
                      </a:lnTo>
                      <a:close/>
                    </a:path>
                  </a:pathLst>
                </a:custGeom>
                <a:solidFill>
                  <a:srgbClr val="8E93A9"/>
                </a:solidFill>
              </p:spPr>
              <p:txBody>
                <a:bodyPr/>
                <a:lstStyle/>
                <a:p>
                  <a:endParaRPr lang="es-CO"/>
                </a:p>
              </p:txBody>
            </p:sp>
            <p:sp>
              <p:nvSpPr>
                <p:cNvPr id="8294" name="TextBox 55">
                  <a:extLst>
                    <a:ext uri="{FF2B5EF4-FFF2-40B4-BE49-F238E27FC236}">
                      <a16:creationId xmlns:a16="http://schemas.microsoft.com/office/drawing/2014/main" id="{6ED57D66-C5A3-8159-103A-C40BCAA61DD6}"/>
                    </a:ext>
                  </a:extLst>
                </p:cNvPr>
                <p:cNvSpPr txBox="1"/>
                <p:nvPr/>
              </p:nvSpPr>
              <p:spPr>
                <a:xfrm>
                  <a:off x="0" y="155575"/>
                  <a:ext cx="711200" cy="454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/>
                </a:p>
              </p:txBody>
            </p:sp>
          </p:grpSp>
          <p:grpSp>
            <p:nvGrpSpPr>
              <p:cNvPr id="8311" name="Grupo 8310">
                <a:extLst>
                  <a:ext uri="{FF2B5EF4-FFF2-40B4-BE49-F238E27FC236}">
                    <a16:creationId xmlns:a16="http://schemas.microsoft.com/office/drawing/2014/main" id="{7D9704A0-A285-C9C8-4973-C4BF5FC6F102}"/>
                  </a:ext>
                </a:extLst>
              </p:cNvPr>
              <p:cNvGrpSpPr/>
              <p:nvPr/>
            </p:nvGrpSpPr>
            <p:grpSpPr>
              <a:xfrm>
                <a:off x="14692898" y="4451788"/>
                <a:ext cx="1333756" cy="1333756"/>
                <a:chOff x="14024683" y="3850332"/>
                <a:chExt cx="1333756" cy="1333756"/>
              </a:xfrm>
            </p:grpSpPr>
            <p:grpSp>
              <p:nvGrpSpPr>
                <p:cNvPr id="8301" name="Group 40">
                  <a:extLst>
                    <a:ext uri="{FF2B5EF4-FFF2-40B4-BE49-F238E27FC236}">
                      <a16:creationId xmlns:a16="http://schemas.microsoft.com/office/drawing/2014/main" id="{4E987D24-A0F2-C23D-BEAD-CB9462A9D16F}"/>
                    </a:ext>
                  </a:extLst>
                </p:cNvPr>
                <p:cNvGrpSpPr/>
                <p:nvPr/>
              </p:nvGrpSpPr>
              <p:grpSpPr>
                <a:xfrm>
                  <a:off x="14024683" y="3850332"/>
                  <a:ext cx="1333756" cy="1333756"/>
                  <a:chOff x="0" y="0"/>
                  <a:chExt cx="812800" cy="812800"/>
                </a:xfrm>
              </p:grpSpPr>
              <p:sp>
                <p:nvSpPr>
                  <p:cNvPr id="8302" name="Freeform 41">
                    <a:extLst>
                      <a:ext uri="{FF2B5EF4-FFF2-40B4-BE49-F238E27FC236}">
                        <a16:creationId xmlns:a16="http://schemas.microsoft.com/office/drawing/2014/main" id="{0C1E5BC2-A0BF-87FA-2CFD-4D91F2DEFD30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812800" cy="812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2800" h="812800">
                        <a:moveTo>
                          <a:pt x="406400" y="0"/>
                        </a:moveTo>
                        <a:cubicBezTo>
                          <a:pt x="181951" y="0"/>
                          <a:pt x="0" y="181951"/>
                          <a:pt x="0" y="406400"/>
                        </a:cubicBezTo>
                        <a:cubicBezTo>
                          <a:pt x="0" y="630849"/>
                          <a:pt x="181951" y="812800"/>
                          <a:pt x="406400" y="812800"/>
                        </a:cubicBezTo>
                        <a:cubicBezTo>
                          <a:pt x="630849" y="812800"/>
                          <a:pt x="812800" y="630849"/>
                          <a:pt x="812800" y="406400"/>
                        </a:cubicBezTo>
                        <a:cubicBezTo>
                          <a:pt x="812800" y="181951"/>
                          <a:pt x="630849" y="0"/>
                          <a:pt x="406400" y="0"/>
                        </a:cubicBezTo>
                        <a:close/>
                      </a:path>
                    </a:pathLst>
                  </a:custGeom>
                  <a:solidFill>
                    <a:srgbClr val="FF661D"/>
                  </a:solidFill>
                  <a:ln cap="sq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s-CO"/>
                  </a:p>
                </p:txBody>
              </p:sp>
              <p:sp>
                <p:nvSpPr>
                  <p:cNvPr id="8303" name="TextBox 42">
                    <a:extLst>
                      <a:ext uri="{FF2B5EF4-FFF2-40B4-BE49-F238E27FC236}">
                        <a16:creationId xmlns:a16="http://schemas.microsoft.com/office/drawing/2014/main" id="{1211DDFD-47C9-FCC2-0D77-D7C85C6CFC60}"/>
                      </a:ext>
                    </a:extLst>
                  </p:cNvPr>
                  <p:cNvSpPr txBox="1"/>
                  <p:nvPr/>
                </p:nvSpPr>
                <p:spPr>
                  <a:xfrm>
                    <a:off x="76200" y="28575"/>
                    <a:ext cx="660400" cy="708025"/>
                  </a:xfrm>
                  <a:prstGeom prst="rect">
                    <a:avLst/>
                  </a:prstGeom>
                </p:spPr>
                <p:txBody>
                  <a:bodyPr lIns="51456" tIns="51456" rIns="51456" bIns="51456" rtlCol="0" anchor="ctr"/>
                  <a:lstStyle/>
                  <a:p>
                    <a:pPr algn="ctr">
                      <a:lnSpc>
                        <a:spcPts val="2659"/>
                      </a:lnSpc>
                    </a:pPr>
                    <a:endParaRPr/>
                  </a:p>
                </p:txBody>
              </p:sp>
            </p:grpSp>
            <p:grpSp>
              <p:nvGrpSpPr>
                <p:cNvPr id="8304" name="Group 43">
                  <a:extLst>
                    <a:ext uri="{FF2B5EF4-FFF2-40B4-BE49-F238E27FC236}">
                      <a16:creationId xmlns:a16="http://schemas.microsoft.com/office/drawing/2014/main" id="{2B2A9D69-77E6-DD7B-3F09-54790E169435}"/>
                    </a:ext>
                  </a:extLst>
                </p:cNvPr>
                <p:cNvGrpSpPr/>
                <p:nvPr/>
              </p:nvGrpSpPr>
              <p:grpSpPr>
                <a:xfrm rot="-5400000">
                  <a:off x="14193028" y="4017359"/>
                  <a:ext cx="997066" cy="997066"/>
                  <a:chOff x="-14943" y="0"/>
                  <a:chExt cx="812800" cy="812800"/>
                </a:xfrm>
              </p:grpSpPr>
              <p:sp>
                <p:nvSpPr>
                  <p:cNvPr id="8305" name="Freeform 44">
                    <a:extLst>
                      <a:ext uri="{FF2B5EF4-FFF2-40B4-BE49-F238E27FC236}">
                        <a16:creationId xmlns:a16="http://schemas.microsoft.com/office/drawing/2014/main" id="{0C691513-591F-B1EA-A0AC-738D640E16E4}"/>
                      </a:ext>
                    </a:extLst>
                  </p:cNvPr>
                  <p:cNvSpPr/>
                  <p:nvPr/>
                </p:nvSpPr>
                <p:spPr>
                  <a:xfrm>
                    <a:off x="-14943" y="0"/>
                    <a:ext cx="812800" cy="812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2800" h="812800">
                        <a:moveTo>
                          <a:pt x="406400" y="0"/>
                        </a:moveTo>
                        <a:cubicBezTo>
                          <a:pt x="181951" y="0"/>
                          <a:pt x="0" y="181951"/>
                          <a:pt x="0" y="406400"/>
                        </a:cubicBezTo>
                        <a:cubicBezTo>
                          <a:pt x="0" y="630849"/>
                          <a:pt x="181951" y="812800"/>
                          <a:pt x="406400" y="812800"/>
                        </a:cubicBezTo>
                        <a:cubicBezTo>
                          <a:pt x="630849" y="812800"/>
                          <a:pt x="812800" y="630849"/>
                          <a:pt x="812800" y="406400"/>
                        </a:cubicBezTo>
                        <a:cubicBezTo>
                          <a:pt x="812800" y="181951"/>
                          <a:pt x="630849" y="0"/>
                          <a:pt x="406400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cap="sq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s-CO" dirty="0"/>
                  </a:p>
                </p:txBody>
              </p:sp>
              <p:sp>
                <p:nvSpPr>
                  <p:cNvPr id="8306" name="TextBox 45">
                    <a:extLst>
                      <a:ext uri="{FF2B5EF4-FFF2-40B4-BE49-F238E27FC236}">
                        <a16:creationId xmlns:a16="http://schemas.microsoft.com/office/drawing/2014/main" id="{3EC43129-B7FF-B1D5-A385-3409E6E12DE8}"/>
                      </a:ext>
                    </a:extLst>
                  </p:cNvPr>
                  <p:cNvSpPr txBox="1"/>
                  <p:nvPr/>
                </p:nvSpPr>
                <p:spPr>
                  <a:xfrm>
                    <a:off x="76200" y="47625"/>
                    <a:ext cx="660400" cy="688975"/>
                  </a:xfrm>
                  <a:prstGeom prst="rect">
                    <a:avLst/>
                  </a:prstGeom>
                </p:spPr>
                <p:txBody>
                  <a:bodyPr lIns="45781" tIns="45781" rIns="45781" bIns="45781" rtlCol="0" anchor="ctr"/>
                  <a:lstStyle/>
                  <a:p>
                    <a:pPr algn="ctr">
                      <a:lnSpc>
                        <a:spcPts val="1743"/>
                      </a:lnSpc>
                    </a:pPr>
                    <a:endParaRPr/>
                  </a:p>
                </p:txBody>
              </p:sp>
            </p:grpSp>
          </p:grpSp>
          <p:sp>
            <p:nvSpPr>
              <p:cNvPr id="8312" name="TextBox 84">
                <a:extLst>
                  <a:ext uri="{FF2B5EF4-FFF2-40B4-BE49-F238E27FC236}">
                    <a16:creationId xmlns:a16="http://schemas.microsoft.com/office/drawing/2014/main" id="{80F1B2E9-39DA-2373-A7D4-C6308BF379DA}"/>
                  </a:ext>
                </a:extLst>
              </p:cNvPr>
              <p:cNvSpPr txBox="1"/>
              <p:nvPr/>
            </p:nvSpPr>
            <p:spPr>
              <a:xfrm>
                <a:off x="6153856" y="3527601"/>
                <a:ext cx="2060680" cy="369332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/>
                <a:r>
                  <a:rPr lang="es-CO" sz="1200" b="1" dirty="0">
                    <a:solidFill>
                      <a:srgbClr val="000000"/>
                    </a:solidFill>
                    <a:latin typeface="Now" panose="020B0604020202020204" charset="0"/>
                    <a:ea typeface="Roboto Bold"/>
                    <a:cs typeface="Roboto Bold"/>
                    <a:sym typeface="Arial"/>
                  </a:rPr>
                  <a:t>Identificación</a:t>
                </a:r>
                <a:r>
                  <a:rPr lang="es-CO" sz="1200" b="1" dirty="0">
                    <a:solidFill>
                      <a:srgbClr val="000000"/>
                    </a:solidFill>
                    <a:latin typeface="Now" panose="020B0604020202020204" charset="0"/>
                    <a:cs typeface="Arial"/>
                    <a:sym typeface="Arial"/>
                  </a:rPr>
                  <a:t> del requerimiento</a:t>
                </a:r>
                <a:endParaRPr lang="en-US" sz="1200" b="1" dirty="0">
                  <a:solidFill>
                    <a:srgbClr val="000000">
                      <a:alpha val="74902"/>
                    </a:srgbClr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8313" name="TextBox 88">
                <a:extLst>
                  <a:ext uri="{FF2B5EF4-FFF2-40B4-BE49-F238E27FC236}">
                    <a16:creationId xmlns:a16="http://schemas.microsoft.com/office/drawing/2014/main" id="{BDEA45A9-DE42-2BB0-6D10-0156C9174533}"/>
                  </a:ext>
                </a:extLst>
              </p:cNvPr>
              <p:cNvSpPr txBox="1"/>
              <p:nvPr/>
            </p:nvSpPr>
            <p:spPr>
              <a:xfrm>
                <a:off x="9992110" y="3527107"/>
                <a:ext cx="2653981" cy="369332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/>
                <a:r>
                  <a:rPr lang="es-CO" sz="1200" b="1" dirty="0">
                    <a:solidFill>
                      <a:srgbClr val="000000"/>
                    </a:solidFill>
                    <a:latin typeface="Now" panose="020B0604020202020204" charset="0"/>
                    <a:ea typeface="Roboto Bold"/>
                    <a:cs typeface="Roboto Bold"/>
                    <a:sym typeface="Roboto"/>
                  </a:rPr>
                  <a:t>Aprobación por el encargado designado por GHT</a:t>
                </a:r>
                <a:endParaRPr lang="en-US" sz="1800" dirty="0">
                  <a:solidFill>
                    <a:srgbClr val="000000">
                      <a:alpha val="74902"/>
                    </a:srgbClr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8314" name="TextBox 92">
                <a:extLst>
                  <a:ext uri="{FF2B5EF4-FFF2-40B4-BE49-F238E27FC236}">
                    <a16:creationId xmlns:a16="http://schemas.microsoft.com/office/drawing/2014/main" id="{A129C2DD-BDFB-BB99-39F8-5F2E46A457A8}"/>
                  </a:ext>
                </a:extLst>
              </p:cNvPr>
              <p:cNvSpPr txBox="1"/>
              <p:nvPr/>
            </p:nvSpPr>
            <p:spPr>
              <a:xfrm>
                <a:off x="8623623" y="3800920"/>
                <a:ext cx="1229045" cy="184666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000000"/>
                    </a:solidFill>
                    <a:latin typeface="Now" panose="020B0604020202020204" charset="0"/>
                    <a:ea typeface="Roboto"/>
                    <a:cs typeface="Roboto"/>
                    <a:sym typeface="Roboto"/>
                  </a:rPr>
                  <a:t>02</a:t>
                </a:r>
              </a:p>
            </p:txBody>
          </p:sp>
          <p:sp>
            <p:nvSpPr>
              <p:cNvPr id="8315" name="TextBox 93">
                <a:extLst>
                  <a:ext uri="{FF2B5EF4-FFF2-40B4-BE49-F238E27FC236}">
                    <a16:creationId xmlns:a16="http://schemas.microsoft.com/office/drawing/2014/main" id="{5F867668-7C52-8F59-05A4-B8F32716A1C2}"/>
                  </a:ext>
                </a:extLst>
              </p:cNvPr>
              <p:cNvSpPr txBox="1"/>
              <p:nvPr/>
            </p:nvSpPr>
            <p:spPr>
              <a:xfrm>
                <a:off x="12871382" y="3788239"/>
                <a:ext cx="1229045" cy="184666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000000"/>
                    </a:solidFill>
                    <a:latin typeface="Now" panose="020B0604020202020204" charset="0"/>
                    <a:ea typeface="Roboto"/>
                    <a:cs typeface="Roboto"/>
                    <a:sym typeface="Roboto"/>
                  </a:rPr>
                  <a:t>04</a:t>
                </a:r>
              </a:p>
            </p:txBody>
          </p:sp>
          <p:sp>
            <p:nvSpPr>
              <p:cNvPr id="8316" name="TextBox 83">
                <a:extLst>
                  <a:ext uri="{FF2B5EF4-FFF2-40B4-BE49-F238E27FC236}">
                    <a16:creationId xmlns:a16="http://schemas.microsoft.com/office/drawing/2014/main" id="{37FB119B-3BCE-B2DF-AE81-030DD0CA783E}"/>
                  </a:ext>
                </a:extLst>
              </p:cNvPr>
              <p:cNvSpPr txBox="1"/>
              <p:nvPr/>
            </p:nvSpPr>
            <p:spPr>
              <a:xfrm>
                <a:off x="14379310" y="3616254"/>
                <a:ext cx="1960932" cy="184666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/>
                <a:r>
                  <a:rPr lang="en-US" sz="1200" b="1" dirty="0" err="1">
                    <a:solidFill>
                      <a:srgbClr val="000000"/>
                    </a:solidFill>
                    <a:latin typeface="Now" panose="020B0604020202020204" charset="0"/>
                    <a:ea typeface="Roboto Bold"/>
                    <a:cs typeface="Roboto Bold"/>
                    <a:sym typeface="Roboto Bold"/>
                  </a:rPr>
                  <a:t>Facturación</a:t>
                </a:r>
                <a:r>
                  <a:rPr lang="en-US" sz="1200" b="1" dirty="0">
                    <a:solidFill>
                      <a:srgbClr val="000000"/>
                    </a:solidFill>
                    <a:latin typeface="Now" panose="020B0604020202020204" charset="0"/>
                    <a:ea typeface="Roboto Bold"/>
                    <a:cs typeface="Roboto Bold"/>
                    <a:sym typeface="Roboto Bold"/>
                  </a:rPr>
                  <a:t> y </a:t>
                </a:r>
                <a:r>
                  <a:rPr lang="en-US" sz="1200" b="1" dirty="0" err="1">
                    <a:solidFill>
                      <a:srgbClr val="000000"/>
                    </a:solidFill>
                    <a:latin typeface="Now" panose="020B0604020202020204" charset="0"/>
                    <a:ea typeface="Roboto Bold"/>
                    <a:cs typeface="Roboto Bold"/>
                    <a:sym typeface="Roboto Bold"/>
                  </a:rPr>
                  <a:t>pago</a:t>
                </a:r>
                <a:endParaRPr lang="en-US" sz="1200" b="1" dirty="0">
                  <a:solidFill>
                    <a:srgbClr val="000000"/>
                  </a:solidFill>
                  <a:latin typeface="Now" panose="020B0604020202020204" charset="0"/>
                  <a:ea typeface="Roboto Bold"/>
                  <a:cs typeface="Roboto Bold"/>
                  <a:sym typeface="Roboto Bold"/>
                </a:endParaRPr>
              </a:p>
            </p:txBody>
          </p:sp>
          <p:sp>
            <p:nvSpPr>
              <p:cNvPr id="8317" name="TextBox 79">
                <a:extLst>
                  <a:ext uri="{FF2B5EF4-FFF2-40B4-BE49-F238E27FC236}">
                    <a16:creationId xmlns:a16="http://schemas.microsoft.com/office/drawing/2014/main" id="{77B2E4A2-276E-1BFD-507A-C5E125BCBA27}"/>
                  </a:ext>
                </a:extLst>
              </p:cNvPr>
              <p:cNvSpPr txBox="1"/>
              <p:nvPr/>
            </p:nvSpPr>
            <p:spPr>
              <a:xfrm>
                <a:off x="8493722" y="6265961"/>
                <a:ext cx="2060680" cy="553998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/>
                <a:r>
                  <a:rPr lang="en-US" sz="1200" b="1" dirty="0" err="1">
                    <a:solidFill>
                      <a:srgbClr val="000000"/>
                    </a:solidFill>
                    <a:latin typeface="Now" panose="020B0604020202020204" charset="0"/>
                    <a:ea typeface="Roboto Bold"/>
                    <a:cs typeface="Roboto Bold"/>
                    <a:sym typeface="Roboto Bold"/>
                  </a:rPr>
                  <a:t>Documento</a:t>
                </a:r>
                <a:r>
                  <a:rPr lang="en-US" sz="1200" b="1" dirty="0">
                    <a:solidFill>
                      <a:srgbClr val="000000"/>
                    </a:solidFill>
                    <a:latin typeface="Now" panose="020B0604020202020204" charset="0"/>
                    <a:ea typeface="Roboto Bold"/>
                    <a:cs typeface="Roboto Bold"/>
                    <a:sym typeface="Roboto Bold"/>
                  </a:rPr>
                  <a:t> de </a:t>
                </a:r>
                <a:r>
                  <a:rPr lang="en-US" sz="1200" b="1" dirty="0" err="1">
                    <a:solidFill>
                      <a:srgbClr val="000000"/>
                    </a:solidFill>
                    <a:latin typeface="Now" panose="020B0604020202020204" charset="0"/>
                    <a:ea typeface="Roboto Bold"/>
                    <a:cs typeface="Roboto Bold"/>
                    <a:sym typeface="Roboto Bold"/>
                  </a:rPr>
                  <a:t>requerimiento</a:t>
                </a:r>
                <a:r>
                  <a:rPr lang="en-US" sz="1200" b="1" dirty="0">
                    <a:solidFill>
                      <a:srgbClr val="000000"/>
                    </a:solidFill>
                    <a:latin typeface="Now" panose="020B0604020202020204" charset="0"/>
                    <a:ea typeface="Roboto Bold"/>
                    <a:cs typeface="Roboto Bold"/>
                    <a:sym typeface="Roboto Bold"/>
                  </a:rPr>
                  <a:t> </a:t>
                </a:r>
                <a:r>
                  <a:rPr lang="en-US" sz="1200" b="1" dirty="0" err="1">
                    <a:solidFill>
                      <a:srgbClr val="000000"/>
                    </a:solidFill>
                    <a:latin typeface="Now" panose="020B0604020202020204" charset="0"/>
                    <a:ea typeface="Roboto Bold"/>
                    <a:cs typeface="Roboto Bold"/>
                    <a:sym typeface="Roboto Bold"/>
                  </a:rPr>
                  <a:t>preparado</a:t>
                </a:r>
                <a:r>
                  <a:rPr lang="en-US" sz="1200" b="1" dirty="0">
                    <a:solidFill>
                      <a:srgbClr val="000000"/>
                    </a:solidFill>
                    <a:latin typeface="Now" panose="020B0604020202020204" charset="0"/>
                    <a:ea typeface="Roboto Bold"/>
                    <a:cs typeface="Roboto Bold"/>
                    <a:sym typeface="Roboto Bold"/>
                  </a:rPr>
                  <a:t> </a:t>
                </a:r>
                <a:r>
                  <a:rPr lang="en-US" sz="1200" b="1" dirty="0" err="1">
                    <a:solidFill>
                      <a:srgbClr val="000000"/>
                    </a:solidFill>
                    <a:latin typeface="Now" panose="020B0604020202020204" charset="0"/>
                    <a:ea typeface="Roboto Bold"/>
                    <a:cs typeface="Roboto Bold"/>
                    <a:sym typeface="Roboto Bold"/>
                  </a:rPr>
                  <a:t>por</a:t>
                </a:r>
                <a:r>
                  <a:rPr lang="en-US" sz="1200" b="1" dirty="0">
                    <a:solidFill>
                      <a:srgbClr val="000000"/>
                    </a:solidFill>
                    <a:latin typeface="Now" panose="020B0604020202020204" charset="0"/>
                    <a:ea typeface="Roboto Bold"/>
                    <a:cs typeface="Roboto Bold"/>
                    <a:sym typeface="Roboto Bold"/>
                  </a:rPr>
                  <a:t> GTA</a:t>
                </a:r>
              </a:p>
            </p:txBody>
          </p:sp>
          <p:sp>
            <p:nvSpPr>
              <p:cNvPr id="8318" name="TextBox 80">
                <a:extLst>
                  <a:ext uri="{FF2B5EF4-FFF2-40B4-BE49-F238E27FC236}">
                    <a16:creationId xmlns:a16="http://schemas.microsoft.com/office/drawing/2014/main" id="{EBBF5B16-E480-D01F-1B2F-DCE111E2C45D}"/>
                  </a:ext>
                </a:extLst>
              </p:cNvPr>
              <p:cNvSpPr txBox="1"/>
              <p:nvPr/>
            </p:nvSpPr>
            <p:spPr>
              <a:xfrm>
                <a:off x="12580940" y="6336461"/>
                <a:ext cx="1713659" cy="184666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000000"/>
                    </a:solidFill>
                    <a:latin typeface="Now" panose="020B0604020202020204" charset="0"/>
                    <a:ea typeface="Roboto Bold"/>
                    <a:cs typeface="Roboto Bold"/>
                    <a:sym typeface="Roboto Bold"/>
                  </a:rPr>
                  <a:t>Desarrollo y </a:t>
                </a:r>
                <a:r>
                  <a:rPr lang="en-US" sz="1200" b="1" dirty="0" err="1">
                    <a:solidFill>
                      <a:srgbClr val="000000"/>
                    </a:solidFill>
                    <a:latin typeface="Now" panose="020B0604020202020204" charset="0"/>
                    <a:ea typeface="Roboto Bold"/>
                    <a:cs typeface="Roboto Bold"/>
                    <a:sym typeface="Roboto Bold"/>
                  </a:rPr>
                  <a:t>entrega</a:t>
                </a:r>
                <a:endParaRPr lang="en-US" sz="1200" b="1" dirty="0">
                  <a:solidFill>
                    <a:srgbClr val="000000"/>
                  </a:solidFill>
                  <a:latin typeface="Now" panose="020B0604020202020204" charset="0"/>
                  <a:ea typeface="Roboto Bold"/>
                  <a:cs typeface="Roboto Bold"/>
                  <a:sym typeface="Roboto Bold"/>
                </a:endParaRPr>
              </a:p>
            </p:txBody>
          </p:sp>
          <p:sp>
            <p:nvSpPr>
              <p:cNvPr id="8319" name="TextBox 90">
                <a:extLst>
                  <a:ext uri="{FF2B5EF4-FFF2-40B4-BE49-F238E27FC236}">
                    <a16:creationId xmlns:a16="http://schemas.microsoft.com/office/drawing/2014/main" id="{84C625B8-2E8A-3759-F020-31DCB989E666}"/>
                  </a:ext>
                </a:extLst>
              </p:cNvPr>
              <p:cNvSpPr txBox="1"/>
              <p:nvPr/>
            </p:nvSpPr>
            <p:spPr>
              <a:xfrm>
                <a:off x="6760910" y="6265961"/>
                <a:ext cx="1229045" cy="184666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000000"/>
                    </a:solidFill>
                    <a:latin typeface="Now" panose="020B0604020202020204" charset="0"/>
                    <a:ea typeface="Roboto"/>
                    <a:cs typeface="Roboto"/>
                    <a:sym typeface="Roboto"/>
                  </a:rPr>
                  <a:t>01</a:t>
                </a:r>
              </a:p>
            </p:txBody>
          </p:sp>
          <p:sp>
            <p:nvSpPr>
              <p:cNvPr id="2048" name="TextBox 91">
                <a:extLst>
                  <a:ext uri="{FF2B5EF4-FFF2-40B4-BE49-F238E27FC236}">
                    <a16:creationId xmlns:a16="http://schemas.microsoft.com/office/drawing/2014/main" id="{3203157C-92A4-9AA5-61F2-31B0DB80AA50}"/>
                  </a:ext>
                </a:extLst>
              </p:cNvPr>
              <p:cNvSpPr txBox="1"/>
              <p:nvPr/>
            </p:nvSpPr>
            <p:spPr>
              <a:xfrm>
                <a:off x="10816492" y="6265961"/>
                <a:ext cx="1229045" cy="184666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000000"/>
                    </a:solidFill>
                    <a:latin typeface="Now" panose="020B0604020202020204" charset="0"/>
                    <a:ea typeface="Roboto"/>
                    <a:cs typeface="Roboto"/>
                    <a:sym typeface="Roboto"/>
                  </a:rPr>
                  <a:t>03</a:t>
                </a:r>
              </a:p>
            </p:txBody>
          </p:sp>
          <p:sp>
            <p:nvSpPr>
              <p:cNvPr id="2049" name="TextBox 95">
                <a:extLst>
                  <a:ext uri="{FF2B5EF4-FFF2-40B4-BE49-F238E27FC236}">
                    <a16:creationId xmlns:a16="http://schemas.microsoft.com/office/drawing/2014/main" id="{A6B4FD20-2011-80A8-28A2-384181C22A83}"/>
                  </a:ext>
                </a:extLst>
              </p:cNvPr>
              <p:cNvSpPr txBox="1"/>
              <p:nvPr/>
            </p:nvSpPr>
            <p:spPr>
              <a:xfrm>
                <a:off x="14877475" y="6251746"/>
                <a:ext cx="1229045" cy="184666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000000"/>
                    </a:solidFill>
                    <a:latin typeface="Now" panose="020B0604020202020204" charset="0"/>
                    <a:ea typeface="Roboto Bold"/>
                    <a:cs typeface="Roboto Bold"/>
                    <a:sym typeface="Roboto"/>
                  </a:rPr>
                  <a:t>05</a:t>
                </a:r>
              </a:p>
            </p:txBody>
          </p:sp>
          <p:pic>
            <p:nvPicPr>
              <p:cNvPr id="2052" name="Imagen 2051">
                <a:extLst>
                  <a:ext uri="{FF2B5EF4-FFF2-40B4-BE49-F238E27FC236}">
                    <a16:creationId xmlns:a16="http://schemas.microsoft.com/office/drawing/2014/main" id="{78B2C2B0-8A97-F860-9794-DDE25D0235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7302098" y="4987149"/>
                <a:ext cx="493549" cy="493549"/>
              </a:xfrm>
              <a:prstGeom prst="rect">
                <a:avLst/>
              </a:prstGeom>
            </p:spPr>
          </p:pic>
          <p:grpSp>
            <p:nvGrpSpPr>
              <p:cNvPr id="2053" name="Group 53">
                <a:extLst>
                  <a:ext uri="{FF2B5EF4-FFF2-40B4-BE49-F238E27FC236}">
                    <a16:creationId xmlns:a16="http://schemas.microsoft.com/office/drawing/2014/main" id="{A729D330-AA96-A09D-FAB9-67C44E3B220D}"/>
                  </a:ext>
                </a:extLst>
              </p:cNvPr>
              <p:cNvGrpSpPr/>
              <p:nvPr/>
            </p:nvGrpSpPr>
            <p:grpSpPr>
              <a:xfrm>
                <a:off x="10153560" y="5748880"/>
                <a:ext cx="268797" cy="283222"/>
                <a:chOff x="0" y="0"/>
                <a:chExt cx="812800" cy="812800"/>
              </a:xfrm>
            </p:grpSpPr>
            <p:sp>
              <p:nvSpPr>
                <p:cNvPr id="2054" name="Freeform 54">
                  <a:extLst>
                    <a:ext uri="{FF2B5EF4-FFF2-40B4-BE49-F238E27FC236}">
                      <a16:creationId xmlns:a16="http://schemas.microsoft.com/office/drawing/2014/main" id="{E15B1105-2E14-370A-83C1-8EF97B0FBFCD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812800" y="406400"/>
                      </a:moveTo>
                      <a:lnTo>
                        <a:pt x="406400" y="0"/>
                      </a:lnTo>
                      <a:lnTo>
                        <a:pt x="406400" y="203200"/>
                      </a:lnTo>
                      <a:lnTo>
                        <a:pt x="0" y="203200"/>
                      </a:lnTo>
                      <a:lnTo>
                        <a:pt x="0" y="609600"/>
                      </a:lnTo>
                      <a:lnTo>
                        <a:pt x="406400" y="609600"/>
                      </a:lnTo>
                      <a:lnTo>
                        <a:pt x="406400" y="812800"/>
                      </a:lnTo>
                      <a:lnTo>
                        <a:pt x="812800" y="406400"/>
                      </a:lnTo>
                      <a:close/>
                    </a:path>
                  </a:pathLst>
                </a:custGeom>
                <a:solidFill>
                  <a:srgbClr val="8E93A9"/>
                </a:solidFill>
              </p:spPr>
              <p:txBody>
                <a:bodyPr/>
                <a:lstStyle/>
                <a:p>
                  <a:endParaRPr lang="es-CO"/>
                </a:p>
              </p:txBody>
            </p:sp>
            <p:sp>
              <p:nvSpPr>
                <p:cNvPr id="2055" name="TextBox 55">
                  <a:extLst>
                    <a:ext uri="{FF2B5EF4-FFF2-40B4-BE49-F238E27FC236}">
                      <a16:creationId xmlns:a16="http://schemas.microsoft.com/office/drawing/2014/main" id="{F5C5C4FE-99C5-64F7-0A5C-78C409749BBB}"/>
                    </a:ext>
                  </a:extLst>
                </p:cNvPr>
                <p:cNvSpPr txBox="1"/>
                <p:nvPr/>
              </p:nvSpPr>
              <p:spPr>
                <a:xfrm>
                  <a:off x="0" y="155575"/>
                  <a:ext cx="711200" cy="454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/>
                </a:p>
              </p:txBody>
            </p:sp>
          </p:grpSp>
          <p:grpSp>
            <p:nvGrpSpPr>
              <p:cNvPr id="2056" name="Group 53">
                <a:extLst>
                  <a:ext uri="{FF2B5EF4-FFF2-40B4-BE49-F238E27FC236}">
                    <a16:creationId xmlns:a16="http://schemas.microsoft.com/office/drawing/2014/main" id="{AD974396-025F-1314-1898-8D79EB6132DB}"/>
                  </a:ext>
                </a:extLst>
              </p:cNvPr>
              <p:cNvGrpSpPr/>
              <p:nvPr/>
            </p:nvGrpSpPr>
            <p:grpSpPr>
              <a:xfrm>
                <a:off x="12256257" y="4474859"/>
                <a:ext cx="268797" cy="283222"/>
                <a:chOff x="0" y="0"/>
                <a:chExt cx="812800" cy="812800"/>
              </a:xfrm>
            </p:grpSpPr>
            <p:sp>
              <p:nvSpPr>
                <p:cNvPr id="2057" name="Freeform 54">
                  <a:extLst>
                    <a:ext uri="{FF2B5EF4-FFF2-40B4-BE49-F238E27FC236}">
                      <a16:creationId xmlns:a16="http://schemas.microsoft.com/office/drawing/2014/main" id="{C3AAF86A-B342-04E1-5FF6-40CEB387E266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812800" y="406400"/>
                      </a:moveTo>
                      <a:lnTo>
                        <a:pt x="406400" y="0"/>
                      </a:lnTo>
                      <a:lnTo>
                        <a:pt x="406400" y="203200"/>
                      </a:lnTo>
                      <a:lnTo>
                        <a:pt x="0" y="203200"/>
                      </a:lnTo>
                      <a:lnTo>
                        <a:pt x="0" y="609600"/>
                      </a:lnTo>
                      <a:lnTo>
                        <a:pt x="406400" y="609600"/>
                      </a:lnTo>
                      <a:lnTo>
                        <a:pt x="406400" y="812800"/>
                      </a:lnTo>
                      <a:lnTo>
                        <a:pt x="812800" y="406400"/>
                      </a:lnTo>
                      <a:close/>
                    </a:path>
                  </a:pathLst>
                </a:custGeom>
                <a:solidFill>
                  <a:srgbClr val="8E93A9"/>
                </a:solidFill>
              </p:spPr>
              <p:txBody>
                <a:bodyPr/>
                <a:lstStyle/>
                <a:p>
                  <a:endParaRPr lang="es-CO"/>
                </a:p>
              </p:txBody>
            </p:sp>
            <p:sp>
              <p:nvSpPr>
                <p:cNvPr id="2058" name="TextBox 55">
                  <a:extLst>
                    <a:ext uri="{FF2B5EF4-FFF2-40B4-BE49-F238E27FC236}">
                      <a16:creationId xmlns:a16="http://schemas.microsoft.com/office/drawing/2014/main" id="{78F9CDBD-8B07-4168-E26A-59828C53D03E}"/>
                    </a:ext>
                  </a:extLst>
                </p:cNvPr>
                <p:cNvSpPr txBox="1"/>
                <p:nvPr/>
              </p:nvSpPr>
              <p:spPr>
                <a:xfrm>
                  <a:off x="0" y="155575"/>
                  <a:ext cx="711200" cy="454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/>
                </a:p>
              </p:txBody>
            </p:sp>
          </p:grpSp>
          <p:grpSp>
            <p:nvGrpSpPr>
              <p:cNvPr id="2059" name="Group 53">
                <a:extLst>
                  <a:ext uri="{FF2B5EF4-FFF2-40B4-BE49-F238E27FC236}">
                    <a16:creationId xmlns:a16="http://schemas.microsoft.com/office/drawing/2014/main" id="{652DC1FE-06D3-1037-D842-FEFA645C1DEC}"/>
                  </a:ext>
                </a:extLst>
              </p:cNvPr>
              <p:cNvGrpSpPr/>
              <p:nvPr/>
            </p:nvGrpSpPr>
            <p:grpSpPr>
              <a:xfrm>
                <a:off x="14355026" y="5727384"/>
                <a:ext cx="268797" cy="283222"/>
                <a:chOff x="0" y="0"/>
                <a:chExt cx="812800" cy="812800"/>
              </a:xfrm>
            </p:grpSpPr>
            <p:sp>
              <p:nvSpPr>
                <p:cNvPr id="2060" name="Freeform 54">
                  <a:extLst>
                    <a:ext uri="{FF2B5EF4-FFF2-40B4-BE49-F238E27FC236}">
                      <a16:creationId xmlns:a16="http://schemas.microsoft.com/office/drawing/2014/main" id="{DCED1464-54E5-7176-0337-BF5F95E04AE7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812800" y="406400"/>
                      </a:moveTo>
                      <a:lnTo>
                        <a:pt x="406400" y="0"/>
                      </a:lnTo>
                      <a:lnTo>
                        <a:pt x="406400" y="203200"/>
                      </a:lnTo>
                      <a:lnTo>
                        <a:pt x="0" y="203200"/>
                      </a:lnTo>
                      <a:lnTo>
                        <a:pt x="0" y="609600"/>
                      </a:lnTo>
                      <a:lnTo>
                        <a:pt x="406400" y="609600"/>
                      </a:lnTo>
                      <a:lnTo>
                        <a:pt x="406400" y="812800"/>
                      </a:lnTo>
                      <a:lnTo>
                        <a:pt x="812800" y="406400"/>
                      </a:lnTo>
                      <a:close/>
                    </a:path>
                  </a:pathLst>
                </a:custGeom>
                <a:solidFill>
                  <a:srgbClr val="8E93A9"/>
                </a:solidFill>
              </p:spPr>
              <p:txBody>
                <a:bodyPr/>
                <a:lstStyle/>
                <a:p>
                  <a:endParaRPr lang="es-CO"/>
                </a:p>
              </p:txBody>
            </p:sp>
            <p:sp>
              <p:nvSpPr>
                <p:cNvPr id="2061" name="TextBox 55">
                  <a:extLst>
                    <a:ext uri="{FF2B5EF4-FFF2-40B4-BE49-F238E27FC236}">
                      <a16:creationId xmlns:a16="http://schemas.microsoft.com/office/drawing/2014/main" id="{1A7CB64F-F6B5-72D6-D9BB-D39956A0B11A}"/>
                    </a:ext>
                  </a:extLst>
                </p:cNvPr>
                <p:cNvSpPr txBox="1"/>
                <p:nvPr/>
              </p:nvSpPr>
              <p:spPr>
                <a:xfrm>
                  <a:off x="0" y="155575"/>
                  <a:ext cx="711200" cy="454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/>
                </a:p>
              </p:txBody>
            </p:sp>
          </p:grpSp>
          <p:pic>
            <p:nvPicPr>
              <p:cNvPr id="2063" name="Imagen 2062">
                <a:extLst>
                  <a:ext uri="{FF2B5EF4-FFF2-40B4-BE49-F238E27FC236}">
                    <a16:creationId xmlns:a16="http://schemas.microsoft.com/office/drawing/2014/main" id="{049E4BA5-7708-D563-C458-54B3EBE6E9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40300" y="4935135"/>
                <a:ext cx="497692" cy="497692"/>
              </a:xfrm>
              <a:prstGeom prst="rect">
                <a:avLst/>
              </a:prstGeom>
            </p:spPr>
          </p:pic>
          <p:pic>
            <p:nvPicPr>
              <p:cNvPr id="2065" name="Imagen 2064">
                <a:extLst>
                  <a:ext uri="{FF2B5EF4-FFF2-40B4-BE49-F238E27FC236}">
                    <a16:creationId xmlns:a16="http://schemas.microsoft.com/office/drawing/2014/main" id="{1D343B16-3677-D64B-78B1-5C0EA31C6F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1180721" y="4941853"/>
                <a:ext cx="488981" cy="488981"/>
              </a:xfrm>
              <a:prstGeom prst="rect">
                <a:avLst/>
              </a:prstGeom>
            </p:spPr>
          </p:pic>
          <p:pic>
            <p:nvPicPr>
              <p:cNvPr id="2071" name="Imagen 2070">
                <a:extLst>
                  <a:ext uri="{FF2B5EF4-FFF2-40B4-BE49-F238E27FC236}">
                    <a16:creationId xmlns:a16="http://schemas.microsoft.com/office/drawing/2014/main" id="{7B3DC984-9DB6-2A35-BE24-121B1BAE43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5138957" y="4880072"/>
                <a:ext cx="469011" cy="469011"/>
              </a:xfrm>
              <a:prstGeom prst="rect">
                <a:avLst/>
              </a:prstGeom>
            </p:spPr>
          </p:pic>
        </p:grpSp>
        <p:pic>
          <p:nvPicPr>
            <p:cNvPr id="2075" name="Imagen 2074">
              <a:extLst>
                <a:ext uri="{FF2B5EF4-FFF2-40B4-BE49-F238E27FC236}">
                  <a16:creationId xmlns:a16="http://schemas.microsoft.com/office/drawing/2014/main" id="{0658B68E-2D7B-CF63-02F6-E2A9DCCC4E4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170512" y="5056528"/>
              <a:ext cx="514268" cy="514268"/>
            </a:xfrm>
            <a:prstGeom prst="rect">
              <a:avLst/>
            </a:prstGeom>
          </p:spPr>
        </p:pic>
      </p:grpSp>
      <p:sp>
        <p:nvSpPr>
          <p:cNvPr id="3" name="Google Shape;92;p19">
            <a:extLst>
              <a:ext uri="{FF2B5EF4-FFF2-40B4-BE49-F238E27FC236}">
                <a16:creationId xmlns:a16="http://schemas.microsoft.com/office/drawing/2014/main" id="{619DD1F1-814C-475E-1CEC-D1A101B9EEFF}"/>
              </a:ext>
            </a:extLst>
          </p:cNvPr>
          <p:cNvSpPr/>
          <p:nvPr/>
        </p:nvSpPr>
        <p:spPr>
          <a:xfrm>
            <a:off x="1289815" y="571500"/>
            <a:ext cx="11964630" cy="1135512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35000" tIns="70200" rIns="135000" bIns="70200" anchor="t" anchorCtr="0">
            <a:noAutofit/>
          </a:bodyPr>
          <a:lstStyle/>
          <a:p>
            <a:pPr>
              <a:lnSpc>
                <a:spcPct val="90000"/>
              </a:lnSpc>
              <a:buClr>
                <a:srgbClr val="000000"/>
              </a:buClr>
              <a:buSzPts val="2200"/>
            </a:pPr>
            <a:r>
              <a:rPr lang="es-CO" sz="4400" b="1" dirty="0">
                <a:latin typeface="Montserrat Black"/>
                <a:sym typeface="Montserrat Black"/>
              </a:rPr>
              <a:t>BOLSA DE REQUERIMIENTOS</a:t>
            </a:r>
          </a:p>
        </p:txBody>
      </p:sp>
    </p:spTree>
    <p:extLst>
      <p:ext uri="{BB962C8B-B14F-4D97-AF65-F5344CB8AC3E}">
        <p14:creationId xmlns:p14="http://schemas.microsoft.com/office/powerpoint/2010/main" val="1927008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2;p19">
            <a:extLst>
              <a:ext uri="{FF2B5EF4-FFF2-40B4-BE49-F238E27FC236}">
                <a16:creationId xmlns:a16="http://schemas.microsoft.com/office/drawing/2014/main" id="{F36FFC24-C427-19E7-6B13-3A9481393E2E}"/>
              </a:ext>
            </a:extLst>
          </p:cNvPr>
          <p:cNvSpPr/>
          <p:nvPr/>
        </p:nvSpPr>
        <p:spPr>
          <a:xfrm>
            <a:off x="1289815" y="571500"/>
            <a:ext cx="11964630" cy="1135512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35000" tIns="70200" rIns="135000" bIns="70200" anchor="t" anchorCtr="0">
            <a:noAutofit/>
          </a:bodyPr>
          <a:lstStyle/>
          <a:p>
            <a:pPr>
              <a:lnSpc>
                <a:spcPct val="90000"/>
              </a:lnSpc>
              <a:buClr>
                <a:srgbClr val="000000"/>
              </a:buClr>
              <a:buSzPts val="2200"/>
            </a:pPr>
            <a:r>
              <a:rPr lang="es-CO" sz="4400" b="1" dirty="0">
                <a:latin typeface="Montserrat Black"/>
                <a:sym typeface="Montserrat Black"/>
              </a:rPr>
              <a:t>INVERSIÓN Y CONDICIONES​</a:t>
            </a:r>
          </a:p>
        </p:txBody>
      </p:sp>
      <p:pic>
        <p:nvPicPr>
          <p:cNvPr id="3" name="Picture 2" descr="Free Flowers Bouquet Png, Download Free Flowers Bouquet Png png images ...">
            <a:extLst>
              <a:ext uri="{FF2B5EF4-FFF2-40B4-BE49-F238E27FC236}">
                <a16:creationId xmlns:a16="http://schemas.microsoft.com/office/drawing/2014/main" id="{E4B6A481-6776-FEA2-526D-2E74125455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3233061" y="1368628"/>
            <a:ext cx="7616400" cy="8918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24">
            <a:extLst>
              <a:ext uri="{FF2B5EF4-FFF2-40B4-BE49-F238E27FC236}">
                <a16:creationId xmlns:a16="http://schemas.microsoft.com/office/drawing/2014/main" id="{B8048DD6-CD96-F36C-DF04-1387FA9D1A8F}"/>
              </a:ext>
            </a:extLst>
          </p:cNvPr>
          <p:cNvSpPr txBox="1"/>
          <p:nvPr/>
        </p:nvSpPr>
        <p:spPr>
          <a:xfrm>
            <a:off x="3998996" y="2814202"/>
            <a:ext cx="13555936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s-CO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w"/>
                <a:ea typeface="Now"/>
                <a:cs typeface="Now"/>
                <a:sym typeface="Now"/>
              </a:rPr>
              <a:t>Inversión total del MVP: USD 10.000 - </a:t>
            </a:r>
            <a:r>
              <a:rPr lang="es-CO" sz="2000" dirty="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Precio fijo por el MVP del sistema.</a:t>
            </a:r>
          </a:p>
          <a:p>
            <a:endParaRPr lang="es-CO" sz="2000" dirty="0">
              <a:solidFill>
                <a:srgbClr val="000000"/>
              </a:solidFill>
              <a:latin typeface="Now"/>
              <a:ea typeface="Now"/>
              <a:cs typeface="Now"/>
              <a:sym typeface="Now"/>
            </a:endParaRPr>
          </a:p>
          <a:p>
            <a:endParaRPr lang="es-CO" sz="2000" dirty="0">
              <a:solidFill>
                <a:srgbClr val="000000"/>
              </a:solidFill>
              <a:latin typeface="Now"/>
              <a:ea typeface="Now"/>
              <a:cs typeface="Now"/>
              <a:sym typeface="Now"/>
            </a:endParaRPr>
          </a:p>
        </p:txBody>
      </p:sp>
      <p:sp>
        <p:nvSpPr>
          <p:cNvPr id="16" name="TextBox 24">
            <a:extLst>
              <a:ext uri="{FF2B5EF4-FFF2-40B4-BE49-F238E27FC236}">
                <a16:creationId xmlns:a16="http://schemas.microsoft.com/office/drawing/2014/main" id="{C2DAA09A-CFCB-534C-8B57-C78CF9F95ED3}"/>
              </a:ext>
            </a:extLst>
          </p:cNvPr>
          <p:cNvSpPr txBox="1"/>
          <p:nvPr/>
        </p:nvSpPr>
        <p:spPr>
          <a:xfrm>
            <a:off x="3998996" y="4299437"/>
            <a:ext cx="13131717" cy="4308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s-CO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w"/>
                <a:ea typeface="Now"/>
                <a:cs typeface="Now"/>
                <a:sym typeface="Now"/>
              </a:rPr>
              <a:t>Condiciones</a:t>
            </a:r>
          </a:p>
          <a:p>
            <a:pPr algn="just"/>
            <a:endParaRPr lang="es-CO" sz="2000" dirty="0">
              <a:solidFill>
                <a:srgbClr val="000000"/>
              </a:solidFill>
              <a:latin typeface="Now"/>
              <a:ea typeface="Now"/>
              <a:cs typeface="Now"/>
              <a:sym typeface="Now"/>
            </a:endParaRPr>
          </a:p>
          <a:p>
            <a:r>
              <a:rPr lang="es-CO" sz="2000" dirty="0">
                <a:latin typeface="Now" panose="020B0604020202020204" charset="0"/>
              </a:rPr>
              <a:t>Durante el MVP la solución opera en infraestructura de GTA; los consumos (Azure, WhatsApp API, LLM) se facturan a GHT con los soportes correspondientes.</a:t>
            </a:r>
          </a:p>
          <a:p>
            <a:endParaRPr lang="es-CO" sz="2000" dirty="0">
              <a:latin typeface="Now" panose="020B0604020202020204" charset="0"/>
            </a:endParaRPr>
          </a:p>
          <a:p>
            <a:r>
              <a:rPr lang="es-CO" sz="2000" dirty="0">
                <a:latin typeface="Now" panose="020B0604020202020204" charset="0"/>
              </a:rPr>
              <a:t>Para producción, la solución se despliega en infraestructura de GHT, que asume su operación y costo directo.</a:t>
            </a:r>
          </a:p>
          <a:p>
            <a:br>
              <a:rPr lang="es-CO" sz="2000" dirty="0">
                <a:latin typeface="Now" panose="020B0604020202020204" charset="0"/>
              </a:rPr>
            </a:br>
            <a:r>
              <a:rPr lang="es-CO" sz="2000" dirty="0">
                <a:latin typeface="Now" panose="020B0604020202020204" charset="0"/>
              </a:rPr>
              <a:t>Cualquier requerimiento adicional al alcance del MVP se cotiza y aprueba por separado antes de iniciar.</a:t>
            </a:r>
          </a:p>
          <a:p>
            <a:br>
              <a:rPr lang="es-CO" sz="2000" dirty="0">
                <a:latin typeface="Now" panose="020B0604020202020204" charset="0"/>
              </a:rPr>
            </a:br>
            <a:r>
              <a:rPr lang="es-CO" sz="2000" dirty="0">
                <a:latin typeface="Now" panose="020B0604020202020204" charset="0"/>
              </a:rPr>
              <a:t>Las cifras en USD no incluyen impuestos aplicables.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s-CO" sz="2000" dirty="0">
              <a:solidFill>
                <a:srgbClr val="000000"/>
              </a:solidFill>
              <a:latin typeface="Now"/>
              <a:ea typeface="Now"/>
              <a:cs typeface="Now"/>
              <a:sym typeface="Now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s-CO" sz="2000" dirty="0">
              <a:solidFill>
                <a:srgbClr val="000000"/>
              </a:solidFill>
              <a:latin typeface="Now"/>
              <a:ea typeface="Now"/>
              <a:cs typeface="Now"/>
              <a:sym typeface="Now"/>
            </a:endParaRPr>
          </a:p>
        </p:txBody>
      </p:sp>
      <p:cxnSp>
        <p:nvCxnSpPr>
          <p:cNvPr id="18" name="Google Shape;93;p19">
            <a:extLst>
              <a:ext uri="{FF2B5EF4-FFF2-40B4-BE49-F238E27FC236}">
                <a16:creationId xmlns:a16="http://schemas.microsoft.com/office/drawing/2014/main" id="{90D69432-ADFB-BC7E-0F67-FDA10A76D344}"/>
              </a:ext>
            </a:extLst>
          </p:cNvPr>
          <p:cNvCxnSpPr/>
          <p:nvPr/>
        </p:nvCxnSpPr>
        <p:spPr>
          <a:xfrm>
            <a:off x="1006430" y="601056"/>
            <a:ext cx="1800" cy="538200"/>
          </a:xfrm>
          <a:prstGeom prst="straightConnector1">
            <a:avLst/>
          </a:prstGeom>
          <a:noFill/>
          <a:ln w="41400" cap="flat" cmpd="sng">
            <a:solidFill>
              <a:srgbClr val="0089FF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4033552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E9B4F-390E-0434-BDB6-C007C70F3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0" name="Picture 4" descr="Alstromerijos💐GELESNAMO.LT – NEMOKAMAS GĖLIŲ PRISTATYMAS Vilniuje 🚚">
            <a:extLst>
              <a:ext uri="{FF2B5EF4-FFF2-40B4-BE49-F238E27FC236}">
                <a16:creationId xmlns:a16="http://schemas.microsoft.com/office/drawing/2014/main" id="{5CFF808B-7A08-ADF4-F1A5-852DFDD1C3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603230" y="0"/>
            <a:ext cx="7715250" cy="1028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83;p18">
            <a:extLst>
              <a:ext uri="{FF2B5EF4-FFF2-40B4-BE49-F238E27FC236}">
                <a16:creationId xmlns:a16="http://schemas.microsoft.com/office/drawing/2014/main" id="{D223AB03-5852-7821-6B31-AB31565E0DA9}"/>
              </a:ext>
            </a:extLst>
          </p:cNvPr>
          <p:cNvSpPr/>
          <p:nvPr/>
        </p:nvSpPr>
        <p:spPr>
          <a:xfrm>
            <a:off x="10119650" y="-1"/>
            <a:ext cx="4038600" cy="10435813"/>
          </a:xfrm>
          <a:prstGeom prst="rect">
            <a:avLst/>
          </a:prstGeom>
          <a:gradFill>
            <a:gsLst>
              <a:gs pos="0">
                <a:schemeClr val="lt1"/>
              </a:gs>
              <a:gs pos="20000">
                <a:schemeClr val="lt1"/>
              </a:gs>
              <a:gs pos="43000">
                <a:srgbClr val="F6F6F6">
                  <a:alpha val="78039"/>
                </a:srgbClr>
              </a:gs>
              <a:gs pos="66000">
                <a:srgbClr val="F6F6F6">
                  <a:alpha val="45490"/>
                </a:srgbClr>
              </a:gs>
              <a:gs pos="84000">
                <a:srgbClr val="F6F6F6">
                  <a:alpha val="21568"/>
                </a:srgbClr>
              </a:gs>
              <a:gs pos="100000">
                <a:srgbClr val="F3F3F3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55C7C353-FAC9-A827-A4F8-610BD0FECCB3}"/>
              </a:ext>
            </a:extLst>
          </p:cNvPr>
          <p:cNvGrpSpPr/>
          <p:nvPr/>
        </p:nvGrpSpPr>
        <p:grpSpPr>
          <a:xfrm>
            <a:off x="12025973" y="9530599"/>
            <a:ext cx="6202761" cy="793582"/>
            <a:chOff x="12025973" y="9530599"/>
            <a:chExt cx="6202761" cy="793582"/>
          </a:xfrm>
        </p:grpSpPr>
        <p:sp>
          <p:nvSpPr>
            <p:cNvPr id="11" name="Google Shape;96;p19">
              <a:extLst>
                <a:ext uri="{FF2B5EF4-FFF2-40B4-BE49-F238E27FC236}">
                  <a16:creationId xmlns:a16="http://schemas.microsoft.com/office/drawing/2014/main" id="{CC1334AB-452B-D716-D134-F4906A384B3B}"/>
                </a:ext>
              </a:extLst>
            </p:cNvPr>
            <p:cNvSpPr txBox="1"/>
            <p:nvPr/>
          </p:nvSpPr>
          <p:spPr>
            <a:xfrm>
              <a:off x="12025973" y="9919780"/>
              <a:ext cx="4953000" cy="4044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300" tIns="92300" rIns="92300" bIns="923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900" b="0" i="0" u="none" strike="noStrike" cap="none">
                  <a:solidFill>
                    <a:schemeClr val="bg1">
                      <a:lumMod val="50000"/>
                    </a:schemeClr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Propiedad </a:t>
              </a:r>
              <a:r>
                <a:rPr lang="es-CO" sz="900">
                  <a:solidFill>
                    <a:schemeClr val="bg1">
                      <a:lumMod val="50000"/>
                    </a:schemeClr>
                  </a:solidFill>
                  <a:latin typeface="Montserrat"/>
                  <a:ea typeface="Montserrat"/>
                  <a:cs typeface="Montserrat"/>
                  <a:sym typeface="Montserrat"/>
                </a:rPr>
                <a:t>Global </a:t>
              </a:r>
              <a:r>
                <a:rPr lang="es-CO" sz="900" err="1">
                  <a:solidFill>
                    <a:schemeClr val="bg1">
                      <a:lumMod val="50000"/>
                    </a:schemeClr>
                  </a:solidFill>
                  <a:latin typeface="Montserrat"/>
                  <a:ea typeface="Montserrat"/>
                  <a:cs typeface="Montserrat"/>
                  <a:sym typeface="Montserrat"/>
                </a:rPr>
                <a:t>Technology</a:t>
              </a:r>
              <a:r>
                <a:rPr lang="es-CO" sz="900">
                  <a:solidFill>
                    <a:schemeClr val="bg1">
                      <a:lumMod val="50000"/>
                    </a:schemeClr>
                  </a:solidFill>
                  <a:latin typeface="Montserrat"/>
                  <a:ea typeface="Montserrat"/>
                  <a:cs typeface="Montserrat"/>
                  <a:sym typeface="Montserrat"/>
                </a:rPr>
                <a:t> Ally I</a:t>
              </a:r>
              <a:r>
                <a:rPr lang="en" sz="900" b="0" i="0" u="none" strike="noStrike" cap="none">
                  <a:solidFill>
                    <a:schemeClr val="bg1">
                      <a:lumMod val="50000"/>
                    </a:schemeClr>
                  </a:solidFill>
                  <a:latin typeface="Montserrat"/>
                  <a:ea typeface="Montserrat"/>
                  <a:cs typeface="Montserrat"/>
                  <a:sym typeface="Montserrat"/>
                </a:rPr>
                <a:t> Información Confidencial</a:t>
              </a:r>
              <a:endParaRPr sz="900" b="0" i="0" u="none" strike="noStrike" cap="none">
                <a:solidFill>
                  <a:schemeClr val="bg1">
                    <a:lumMod val="50000"/>
                  </a:schemeClr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cxnSp>
          <p:nvCxnSpPr>
            <p:cNvPr id="12" name="Google Shape;93;p19">
              <a:extLst>
                <a:ext uri="{FF2B5EF4-FFF2-40B4-BE49-F238E27FC236}">
                  <a16:creationId xmlns:a16="http://schemas.microsoft.com/office/drawing/2014/main" id="{06A71023-C88B-CA8B-5BF5-08F77BED7AB7}"/>
                </a:ext>
              </a:extLst>
            </p:cNvPr>
            <p:cNvCxnSpPr>
              <a:cxnSpLocks/>
            </p:cNvCxnSpPr>
            <p:nvPr/>
          </p:nvCxnSpPr>
          <p:spPr>
            <a:xfrm>
              <a:off x="17449800" y="9530599"/>
              <a:ext cx="0" cy="626534"/>
            </a:xfrm>
            <a:prstGeom prst="straightConnector1">
              <a:avLst/>
            </a:prstGeom>
            <a:noFill/>
            <a:ln w="9525" cap="flat" cmpd="sng">
              <a:solidFill>
                <a:schemeClr val="bg1">
                  <a:lumMod val="65000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pic>
          <p:nvPicPr>
            <p:cNvPr id="13" name="Picture 6" descr="June 28th, 2024. – Falcon Farms">
              <a:extLst>
                <a:ext uri="{FF2B5EF4-FFF2-40B4-BE49-F238E27FC236}">
                  <a16:creationId xmlns:a16="http://schemas.microsoft.com/office/drawing/2014/main" id="{6A8D67AA-BEDB-A53C-6E1E-4B72CB0F93F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/>
          </p:blipFill>
          <p:spPr bwMode="auto">
            <a:xfrm>
              <a:off x="16687800" y="9565751"/>
              <a:ext cx="1214923" cy="5562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Imagen 13" descr="Icono&#10;&#10;El contenido generado por IA puede ser incorrecto.">
              <a:extLst>
                <a:ext uri="{FF2B5EF4-FFF2-40B4-BE49-F238E27FC236}">
                  <a16:creationId xmlns:a16="http://schemas.microsoft.com/office/drawing/2014/main" id="{E1C0381C-21BD-1FCF-F73A-6C89C55FDBA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7602200" y="9530599"/>
              <a:ext cx="626534" cy="626534"/>
            </a:xfrm>
            <a:prstGeom prst="rect">
              <a:avLst/>
            </a:prstGeom>
          </p:spPr>
        </p:pic>
      </p:grpSp>
      <p:sp>
        <p:nvSpPr>
          <p:cNvPr id="15" name="Google Shape;92;p19">
            <a:extLst>
              <a:ext uri="{FF2B5EF4-FFF2-40B4-BE49-F238E27FC236}">
                <a16:creationId xmlns:a16="http://schemas.microsoft.com/office/drawing/2014/main" id="{5D2CCCBF-ED23-DF57-CE7D-DA118B3F0771}"/>
              </a:ext>
            </a:extLst>
          </p:cNvPr>
          <p:cNvSpPr/>
          <p:nvPr/>
        </p:nvSpPr>
        <p:spPr>
          <a:xfrm>
            <a:off x="1289814" y="571500"/>
            <a:ext cx="16998185" cy="1135512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35000" tIns="70200" rIns="135000" bIns="70200" anchor="t" anchorCtr="0">
            <a:noAutofit/>
          </a:bodyPr>
          <a:lstStyle/>
          <a:p>
            <a:pPr>
              <a:lnSpc>
                <a:spcPct val="90000"/>
              </a:lnSpc>
              <a:buClr>
                <a:srgbClr val="000000"/>
              </a:buClr>
              <a:buSzPts val="2200"/>
            </a:pPr>
            <a:r>
              <a:rPr lang="es-CO" sz="4400" b="1" dirty="0">
                <a:latin typeface="Montserrat Black"/>
                <a:ea typeface="Montserrat Black"/>
                <a:cs typeface="Montserrat Black"/>
                <a:sym typeface="Montserrat Black"/>
              </a:rPr>
              <a:t>COMPROMISOS Y</a:t>
            </a:r>
          </a:p>
          <a:p>
            <a:pPr>
              <a:lnSpc>
                <a:spcPct val="90000"/>
              </a:lnSpc>
              <a:buClr>
                <a:srgbClr val="000000"/>
              </a:buClr>
              <a:buSzPts val="2200"/>
            </a:pPr>
            <a:r>
              <a:rPr lang="es-CO" sz="4400" b="1" dirty="0">
                <a:latin typeface="Montserrat Black"/>
                <a:ea typeface="Montserrat Black"/>
                <a:cs typeface="Montserrat Black"/>
                <a:sym typeface="Montserrat Black"/>
              </a:rPr>
              <a:t>PRÓXIMOS PASOS</a:t>
            </a:r>
            <a:endParaRPr lang="es-CO" sz="4400" b="1" dirty="0">
              <a:latin typeface="Montserrat Black"/>
              <a:ea typeface="Montserrat Black"/>
              <a:cs typeface="Montserrat Black"/>
            </a:endParaRPr>
          </a:p>
        </p:txBody>
      </p:sp>
      <p:cxnSp>
        <p:nvCxnSpPr>
          <p:cNvPr id="16" name="Google Shape;93;p19">
            <a:extLst>
              <a:ext uri="{FF2B5EF4-FFF2-40B4-BE49-F238E27FC236}">
                <a16:creationId xmlns:a16="http://schemas.microsoft.com/office/drawing/2014/main" id="{C6F544D1-887D-FBA3-2841-FB3E448D072F}"/>
              </a:ext>
            </a:extLst>
          </p:cNvPr>
          <p:cNvCxnSpPr/>
          <p:nvPr/>
        </p:nvCxnSpPr>
        <p:spPr>
          <a:xfrm>
            <a:off x="1006430" y="601056"/>
            <a:ext cx="1800" cy="538200"/>
          </a:xfrm>
          <a:prstGeom prst="straightConnector1">
            <a:avLst/>
          </a:prstGeom>
          <a:noFill/>
          <a:ln w="41400" cap="flat" cmpd="sng">
            <a:solidFill>
              <a:srgbClr val="0089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7" name="TextBox 24">
            <a:extLst>
              <a:ext uri="{FF2B5EF4-FFF2-40B4-BE49-F238E27FC236}">
                <a16:creationId xmlns:a16="http://schemas.microsoft.com/office/drawing/2014/main" id="{2C8375F9-036C-58A1-7D6B-13CC8568FE1C}"/>
              </a:ext>
            </a:extLst>
          </p:cNvPr>
          <p:cNvSpPr txBox="1"/>
          <p:nvPr/>
        </p:nvSpPr>
        <p:spPr>
          <a:xfrm>
            <a:off x="1174872" y="2206322"/>
            <a:ext cx="10207002" cy="18774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s-CO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w"/>
                <a:ea typeface="Now"/>
                <a:cs typeface="Now"/>
                <a:sym typeface="Now"/>
              </a:rPr>
              <a:t>Próximos pasos:</a:t>
            </a:r>
          </a:p>
          <a:p>
            <a:endParaRPr lang="es-CO" sz="2000" dirty="0">
              <a:solidFill>
                <a:srgbClr val="000000"/>
              </a:solidFill>
              <a:latin typeface="Now"/>
              <a:ea typeface="Now"/>
              <a:cs typeface="Now"/>
              <a:sym typeface="Now"/>
            </a:endParaRPr>
          </a:p>
          <a:p>
            <a:r>
              <a:rPr lang="es-CO" sz="2050" dirty="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1. Aprobación del programa — kickoff el viernes 13 de junio.</a:t>
            </a:r>
          </a:p>
          <a:p>
            <a:pPr marL="457200" indent="-457200">
              <a:buAutoNum type="arabicPeriod"/>
            </a:pPr>
            <a:endParaRPr lang="es-CO" sz="2050" dirty="0">
              <a:solidFill>
                <a:srgbClr val="000000"/>
              </a:solidFill>
              <a:latin typeface="Now"/>
              <a:ea typeface="Now"/>
              <a:cs typeface="Now"/>
              <a:sym typeface="Now"/>
            </a:endParaRPr>
          </a:p>
          <a:p>
            <a:r>
              <a:rPr lang="es-CO" sz="2050" dirty="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2. Primera aproximación el 17 de junio, entrega del MVP el 22 y priorización del primer requerimiento de la bolsa.</a:t>
            </a:r>
          </a:p>
        </p:txBody>
      </p:sp>
      <p:sp>
        <p:nvSpPr>
          <p:cNvPr id="2" name="TextBox 24">
            <a:extLst>
              <a:ext uri="{FF2B5EF4-FFF2-40B4-BE49-F238E27FC236}">
                <a16:creationId xmlns:a16="http://schemas.microsoft.com/office/drawing/2014/main" id="{0A63CC8F-672D-DB4B-E47C-5ACD34D05945}"/>
              </a:ext>
            </a:extLst>
          </p:cNvPr>
          <p:cNvSpPr txBox="1"/>
          <p:nvPr/>
        </p:nvSpPr>
        <p:spPr>
          <a:xfrm>
            <a:off x="1174872" y="4089433"/>
            <a:ext cx="10207002" cy="3693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s-CO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w"/>
                <a:ea typeface="Now"/>
                <a:cs typeface="Now"/>
                <a:sym typeface="Now"/>
              </a:rPr>
              <a:t>Compromisos de las partes</a:t>
            </a:r>
          </a:p>
          <a:p>
            <a:pPr algn="just"/>
            <a:endParaRPr lang="es-CO" sz="2000" dirty="0">
              <a:solidFill>
                <a:srgbClr val="000000"/>
              </a:solidFill>
              <a:latin typeface="Now"/>
              <a:ea typeface="Now"/>
              <a:cs typeface="Now"/>
              <a:sym typeface="Now"/>
            </a:endParaRPr>
          </a:p>
          <a:p>
            <a:pPr algn="just"/>
            <a:r>
              <a:rPr lang="es-CO" sz="2000" b="1" dirty="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GTA</a:t>
            </a:r>
            <a:r>
              <a:rPr lang="es-CO" sz="2000" dirty="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CO" sz="2000" dirty="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Equipo senior con más de 12 años de experiencia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CO" sz="2000" dirty="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Parametrización de WhatsApp sobre la plataforma Meta de GHT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CO" sz="2000" dirty="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Canal web garantizado y reporte diario del sprint</a:t>
            </a:r>
          </a:p>
          <a:p>
            <a:pPr algn="just"/>
            <a:endParaRPr lang="es-CO" sz="2000" dirty="0">
              <a:solidFill>
                <a:srgbClr val="000000"/>
              </a:solidFill>
              <a:latin typeface="Now"/>
              <a:ea typeface="Now"/>
              <a:cs typeface="Now"/>
              <a:sym typeface="Now"/>
            </a:endParaRPr>
          </a:p>
          <a:p>
            <a:pPr algn="just"/>
            <a:r>
              <a:rPr lang="es-CO" sz="2000" b="1" dirty="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GHT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CO" sz="2000" dirty="0">
                <a:solidFill>
                  <a:srgbClr val="000000"/>
                </a:solidFill>
                <a:latin typeface="Now"/>
                <a:sym typeface="Now"/>
              </a:rPr>
              <a:t>Línea celular y tarjeta de crédito en la plataforma Meta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CO" sz="2000" dirty="0">
                <a:solidFill>
                  <a:srgbClr val="000000"/>
                </a:solidFill>
                <a:latin typeface="Now"/>
                <a:sym typeface="Now"/>
              </a:rPr>
              <a:t>Lista de ~5 usuarios de prueba y aprobación de prompts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CO" sz="2000" dirty="0">
                <a:solidFill>
                  <a:srgbClr val="000000"/>
                </a:solidFill>
                <a:latin typeface="Now"/>
                <a:sym typeface="Now"/>
              </a:rPr>
              <a:t>Validación oportuna de entregables (rúbrica y credenciales: ya entregadas)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CO" sz="2000" dirty="0">
                <a:solidFill>
                  <a:srgbClr val="000000"/>
                </a:solidFill>
                <a:latin typeface="Now"/>
                <a:sym typeface="Now"/>
              </a:rPr>
              <a:t>Pagos según condiciones acordadas</a:t>
            </a:r>
          </a:p>
        </p:txBody>
      </p:sp>
      <p:sp>
        <p:nvSpPr>
          <p:cNvPr id="3" name="TextBox 24">
            <a:extLst>
              <a:ext uri="{FF2B5EF4-FFF2-40B4-BE49-F238E27FC236}">
                <a16:creationId xmlns:a16="http://schemas.microsoft.com/office/drawing/2014/main" id="{66AFEBB7-45BA-8614-BE10-AC45F3833497}"/>
              </a:ext>
            </a:extLst>
          </p:cNvPr>
          <p:cNvSpPr txBox="1"/>
          <p:nvPr/>
        </p:nvSpPr>
        <p:spPr>
          <a:xfrm>
            <a:off x="1152749" y="8103897"/>
            <a:ext cx="10207002" cy="1538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s-CO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w"/>
                <a:ea typeface="Now"/>
                <a:cs typeface="Now"/>
                <a:sym typeface="Now"/>
              </a:rPr>
              <a:t>Operación y soporte</a:t>
            </a:r>
          </a:p>
          <a:p>
            <a:pPr algn="just"/>
            <a:endParaRPr lang="es-CO" sz="2000" dirty="0">
              <a:solidFill>
                <a:srgbClr val="000000"/>
              </a:solidFill>
              <a:latin typeface="Now"/>
              <a:ea typeface="Now"/>
              <a:cs typeface="Now"/>
              <a:sym typeface="Now"/>
            </a:endParaRPr>
          </a:p>
          <a:p>
            <a:pPr algn="just"/>
            <a:r>
              <a:rPr lang="es-CO" sz="2000" dirty="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Tras la estabilización del MVP, las funcionalidades pasan a modo soporte bajo la bolsa de requerimientos (bolsa de requerimientos pendiente de aprobación).</a:t>
            </a:r>
          </a:p>
          <a:p>
            <a:pPr algn="just"/>
            <a:r>
              <a:rPr lang="es-CO" sz="2000" dirty="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La infraestructura productiva es responsabilidad de GHT.</a:t>
            </a:r>
          </a:p>
        </p:txBody>
      </p:sp>
    </p:spTree>
    <p:extLst>
      <p:ext uri="{BB962C8B-B14F-4D97-AF65-F5344CB8AC3E}">
        <p14:creationId xmlns:p14="http://schemas.microsoft.com/office/powerpoint/2010/main" val="3896910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2" name="Picture 4" descr="Premium Photo | Close up of an African American man and a woman shaking ...">
            <a:extLst>
              <a:ext uri="{FF2B5EF4-FFF2-40B4-BE49-F238E27FC236}">
                <a16:creationId xmlns:a16="http://schemas.microsoft.com/office/drawing/2014/main" id="{94FFCDB9-035D-A232-76F0-C1C1D93B3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" y="10"/>
            <a:ext cx="18287980" cy="10286990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2" name="AutoShape 2" descr="See related image detail. Premium AI Image | Two Businesspeople shaking hands with document ...">
            <a:extLst>
              <a:ext uri="{FF2B5EF4-FFF2-40B4-BE49-F238E27FC236}">
                <a16:creationId xmlns:a16="http://schemas.microsoft.com/office/drawing/2014/main" id="{BFCD4CAE-75FA-9340-AA6C-27CA8E1B24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3" name="Google Shape;73;p17">
            <a:extLst>
              <a:ext uri="{FF2B5EF4-FFF2-40B4-BE49-F238E27FC236}">
                <a16:creationId xmlns:a16="http://schemas.microsoft.com/office/drawing/2014/main" id="{2F4179C6-03AE-D6EA-5F33-39D07AC64ACD}"/>
              </a:ext>
            </a:extLst>
          </p:cNvPr>
          <p:cNvSpPr txBox="1"/>
          <p:nvPr/>
        </p:nvSpPr>
        <p:spPr>
          <a:xfrm>
            <a:off x="-226142" y="6286500"/>
            <a:ext cx="6716432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algn="ctr">
              <a:lnSpc>
                <a:spcPct val="115000"/>
              </a:lnSpc>
              <a:buClr>
                <a:srgbClr val="000000"/>
              </a:buClr>
              <a:buSzPts val="4800"/>
            </a:pPr>
            <a:r>
              <a:rPr lang="en-US" sz="7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lack"/>
                <a:sym typeface="Montserrat"/>
              </a:rPr>
              <a:t>¡GRACIAS!</a:t>
            </a:r>
            <a:endParaRPr lang="en" sz="7000" b="1">
              <a:solidFill>
                <a:srgbClr val="0099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"/>
              <a:sym typeface="Roboto Medium"/>
            </a:endParaRPr>
          </a:p>
        </p:txBody>
      </p:sp>
      <p:pic>
        <p:nvPicPr>
          <p:cNvPr id="4" name="Google Shape;306;p28">
            <a:extLst>
              <a:ext uri="{FF2B5EF4-FFF2-40B4-BE49-F238E27FC236}">
                <a16:creationId xmlns:a16="http://schemas.microsoft.com/office/drawing/2014/main" id="{2AE5E994-4549-BFE5-4E5D-7A27B1717E1E}"/>
              </a:ext>
            </a:extLst>
          </p:cNvPr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8908" t="-9250" r="-18510" b="-9655"/>
          <a:stretch/>
        </p:blipFill>
        <p:spPr>
          <a:xfrm>
            <a:off x="2293874" y="5212855"/>
            <a:ext cx="1676400" cy="13832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85847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E895E467CABBD4080D551F4DF4939E4" ma:contentTypeVersion="7" ma:contentTypeDescription="Create a new document." ma:contentTypeScope="" ma:versionID="6b391233ac675e8317f9ac232948f606">
  <xsd:schema xmlns:xsd="http://www.w3.org/2001/XMLSchema" xmlns:xs="http://www.w3.org/2001/XMLSchema" xmlns:p="http://schemas.microsoft.com/office/2006/metadata/properties" xmlns:ns2="493eea54-dbdf-4e6d-983c-664c78f9b897" targetNamespace="http://schemas.microsoft.com/office/2006/metadata/properties" ma:root="true" ma:fieldsID="e5d29b1307829a75fc33b82dff775a4d" ns2:_="">
    <xsd:import namespace="493eea54-dbdf-4e6d-983c-664c78f9b89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3eea54-dbdf-4e6d-983c-664c78f9b89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FA2FBEF-642C-42C7-8FA1-8037B269C2D0}">
  <ds:schemaRefs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terms/"/>
    <ds:schemaRef ds:uri="http://schemas.microsoft.com/office/infopath/2007/PartnerControls"/>
    <ds:schemaRef ds:uri="493eea54-dbdf-4e6d-983c-664c78f9b897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36FDB5F-F2D6-477A-8277-766C479B01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3eea54-dbdf-4e6d-983c-664c78f9b89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8B999E5-1FCF-4906-A664-57D2CE30D78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3218</TotalTime>
  <Words>1087</Words>
  <Application>Microsoft Office PowerPoint</Application>
  <PresentationFormat>Custom</PresentationFormat>
  <Paragraphs>136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Calibri</vt:lpstr>
      <vt:lpstr>Roboto</vt:lpstr>
      <vt:lpstr>Wingdings</vt:lpstr>
      <vt:lpstr>Montserrat Black</vt:lpstr>
      <vt:lpstr>Now</vt:lpstr>
      <vt:lpstr>Aptos</vt:lpstr>
      <vt:lpstr>Arial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Planificación Corporativa Elegante Fotográfica Blanco</dc:title>
  <dc:creator>Adriana Donado</dc:creator>
  <cp:lastModifiedBy>Jason  Perez Carvajal</cp:lastModifiedBy>
  <cp:revision>9</cp:revision>
  <dcterms:created xsi:type="dcterms:W3CDTF">2006-08-16T00:00:00Z</dcterms:created>
  <dcterms:modified xsi:type="dcterms:W3CDTF">2026-06-16T23:01:21Z</dcterms:modified>
  <dc:identifier>DAGkqPYE-T0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0x010100FE895E467CABBD4080D551F4DF4939E4</vt:lpwstr>
  </property>
</Properties>
</file>